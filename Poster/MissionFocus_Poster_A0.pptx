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060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1882" y="13913173"/>
            <a:ext cx="28427" cy="2842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313382" y="15559948"/>
            <a:ext cx="21892" cy="218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8685956" y="41576533"/>
            <a:ext cx="29783" cy="297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27258" y="37614686"/>
            <a:ext cx="17383" cy="173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84502" y="17986063"/>
            <a:ext cx="31806" cy="3180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964227" y="8742686"/>
            <a:ext cx="21275" cy="212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226929" y="38458291"/>
            <a:ext cx="16190" cy="1619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894664" y="12561952"/>
            <a:ext cx="24098" cy="240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33325" y="8637428"/>
            <a:ext cx="26670" cy="26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557860" y="3335047"/>
            <a:ext cx="14974" cy="14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433318" y="4903140"/>
            <a:ext cx="32206" cy="3220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85609" y="41197467"/>
            <a:ext cx="19871" cy="198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542280" y="37381118"/>
            <a:ext cx="24653" cy="246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624345" y="7754960"/>
            <a:ext cx="23944" cy="2394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65310" y="4105393"/>
            <a:ext cx="22928" cy="229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9754270" y="38396859"/>
            <a:ext cx="29181" cy="2918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15263" y="6024942"/>
            <a:ext cx="26634" cy="266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960417" y="9275164"/>
            <a:ext cx="12733" cy="12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008" y="8572951"/>
            <a:ext cx="25599" cy="255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22931" y="41287255"/>
            <a:ext cx="15589" cy="155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5960" y="41087768"/>
            <a:ext cx="29310" cy="2931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361734" y="3537956"/>
            <a:ext cx="20411" cy="2041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644315" y="14596077"/>
            <a:ext cx="22391" cy="223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5126" y="1228316"/>
            <a:ext cx="13662" cy="1366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7914166" y="18851681"/>
            <a:ext cx="20280" cy="2028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4828875" y="22167820"/>
            <a:ext cx="24342" cy="2434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69077" y="11710251"/>
            <a:ext cx="23681" cy="2368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150597" y="27441047"/>
            <a:ext cx="26449" cy="264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62359" y="16428111"/>
            <a:ext cx="14365" cy="143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234080" y="24942614"/>
            <a:ext cx="31488" cy="31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918481" y="4694968"/>
            <a:ext cx="28900" cy="289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016347" y="9420476"/>
            <a:ext cx="22683" cy="2268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1416516" y="20028245"/>
            <a:ext cx="22561" cy="225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532186" y="28038640"/>
            <a:ext cx="30769" cy="3076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73693" y="36609038"/>
            <a:ext cx="17865" cy="178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748825" y="40186480"/>
            <a:ext cx="18812" cy="188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507133" y="32749444"/>
            <a:ext cx="29998" cy="2999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45459" y="34974899"/>
            <a:ext cx="19240" cy="192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0084806" y="17682098"/>
            <a:ext cx="19734" cy="1973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49978" y="12306580"/>
            <a:ext cx="12623" cy="126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9382412" y="27959112"/>
            <a:ext cx="12720" cy="1272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663205" y="27888714"/>
            <a:ext cx="22565" cy="2256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308844" y="4873931"/>
            <a:ext cx="19565" cy="1956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70428" y="37982807"/>
            <a:ext cx="14216" cy="14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297545" y="24643948"/>
            <a:ext cx="21835" cy="2183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3228966" y="13300999"/>
            <a:ext cx="19008" cy="1900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28638079" y="24821788"/>
            <a:ext cx="13209" cy="132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153197" y="36595379"/>
            <a:ext cx="22485" cy="224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0718714" y="27137719"/>
            <a:ext cx="22655" cy="226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7812" y="24802952"/>
            <a:ext cx="23993" cy="239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776338" y="4830410"/>
            <a:ext cx="31898" cy="3189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27929" y="23183080"/>
            <a:ext cx="13995" cy="1399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24080129" y="5237769"/>
            <a:ext cx="24045" cy="240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5420343" y="28171996"/>
            <a:ext cx="26875" cy="268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4513711" y="8834893"/>
            <a:ext cx="29107" cy="2910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26887152" y="10445649"/>
            <a:ext cx="17309" cy="1730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5701990" y="26848152"/>
            <a:ext cx="18154" cy="1815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6875962" y="42419656"/>
            <a:ext cx="24267" cy="2426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3448023" y="3391995"/>
            <a:ext cx="25551" cy="2555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815365" y="33132776"/>
            <a:ext cx="30249" cy="3024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5291286" y="8018740"/>
            <a:ext cx="13733" cy="137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9459009" y="38563519"/>
            <a:ext cx="18432" cy="1843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8123077" y="20964836"/>
            <a:ext cx="14251" cy="142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4511638" y="93506"/>
            <a:ext cx="23693" cy="2369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6680513" y="27745922"/>
            <a:ext cx="25716" cy="257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989570" y="13989478"/>
            <a:ext cx="26965" cy="269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6832425" y="1794073"/>
            <a:ext cx="29969" cy="29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368921" y="2252048"/>
            <a:ext cx="24883" cy="2488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452287" y="18762751"/>
            <a:ext cx="13167" cy="131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6170027" y="4230945"/>
            <a:ext cx="29282" cy="292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3211885" y="20539936"/>
            <a:ext cx="30246" cy="3024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235429" y="32833803"/>
            <a:ext cx="22488" cy="2248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2177" y="5558818"/>
            <a:ext cx="30389" cy="3038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9299620" y="32167106"/>
            <a:ext cx="23304" cy="23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25346007" y="7515024"/>
            <a:ext cx="28752" cy="287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7732997" y="16683541"/>
            <a:ext cx="14091" cy="140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3300972" y="10422411"/>
            <a:ext cx="27830" cy="2783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6575636" y="13894710"/>
            <a:ext cx="17815" cy="1781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211138" y="13540514"/>
            <a:ext cx="26145" cy="2614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7033665" y="26429869"/>
            <a:ext cx="31705" cy="3170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114604" y="6960480"/>
            <a:ext cx="28202" cy="2820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1465534" y="14716393"/>
            <a:ext cx="25571" cy="255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7987456" y="33765913"/>
            <a:ext cx="26237" cy="2623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429695" y="21578382"/>
            <a:ext cx="23503" cy="235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6351" y="20660134"/>
            <a:ext cx="14890" cy="148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27157561" y="20643319"/>
            <a:ext cx="31843" cy="318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6229025" y="10504663"/>
            <a:ext cx="23155" cy="2315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237016" y="5574661"/>
            <a:ext cx="31899" cy="318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0668702" y="15222297"/>
            <a:ext cx="17394" cy="1739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506220" y="10047410"/>
            <a:ext cx="29003" cy="290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8223633" y="4831679"/>
            <a:ext cx="22432" cy="224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349733" y="31474204"/>
            <a:ext cx="15768" cy="157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041114" y="2588636"/>
            <a:ext cx="17268" cy="1726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20712662" y="23034097"/>
            <a:ext cx="20686" cy="2068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8765927" y="4945753"/>
            <a:ext cx="17129" cy="1712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26699013" y="20720704"/>
            <a:ext cx="24743" cy="2474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1524902" y="17347122"/>
            <a:ext cx="20920" cy="20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9469586" y="35012352"/>
            <a:ext cx="18682" cy="1868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9574876" y="29910726"/>
            <a:ext cx="23100" cy="231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1231595" y="28734624"/>
            <a:ext cx="26810" cy="2681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3709425" y="25398456"/>
            <a:ext cx="13671" cy="1367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7565591" y="26491189"/>
            <a:ext cx="24140" cy="2414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23284907" y="33909512"/>
            <a:ext cx="18205" cy="182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1290508" y="26546349"/>
            <a:ext cx="19669" cy="1966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538141" y="3507770"/>
            <a:ext cx="21923" cy="219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6731964" y="40858950"/>
            <a:ext cx="17925" cy="1792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023160" y="19728640"/>
            <a:ext cx="29460" cy="294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260017" y="31046396"/>
            <a:ext cx="26506" cy="2650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743866" y="27169148"/>
            <a:ext cx="16613" cy="1661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5793408" y="41052821"/>
            <a:ext cx="23278" cy="232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4418384" y="4192335"/>
            <a:ext cx="24976" cy="2497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8034972" y="11124516"/>
            <a:ext cx="15180" cy="1518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7062846" y="1783078"/>
            <a:ext cx="30824" cy="3082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510929" y="25132936"/>
            <a:ext cx="27512" cy="2751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04848" y="28662771"/>
            <a:ext cx="25484" cy="254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2159398" y="29598314"/>
            <a:ext cx="27623" cy="2762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959437" y="39517535"/>
            <a:ext cx="27143" cy="2714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9739150" y="4017154"/>
            <a:ext cx="20551" cy="2055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998609" y="33368809"/>
            <a:ext cx="17203" cy="172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24088845" y="17109041"/>
            <a:ext cx="24415" cy="2441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198486" y="21478379"/>
            <a:ext cx="13220" cy="132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7049330" y="37318941"/>
            <a:ext cx="22656" cy="226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3960151" y="9560490"/>
            <a:ext cx="22261" cy="222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27031403" y="8319502"/>
            <a:ext cx="32158" cy="3215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20019598" y="4827053"/>
            <a:ext cx="22597" cy="2259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3838941" y="42372265"/>
            <a:ext cx="28129" cy="2812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7954382" y="26487346"/>
            <a:ext cx="23121" cy="2312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4815309" y="11618016"/>
            <a:ext cx="14631" cy="1463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30082201" y="37693710"/>
            <a:ext cx="12819" cy="128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906803" y="19509492"/>
            <a:ext cx="20089" cy="2008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1075550" y="33785413"/>
            <a:ext cx="26153" cy="261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8359296" y="42153139"/>
            <a:ext cx="27249" cy="272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3397163" y="40856148"/>
            <a:ext cx="26953" cy="2695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3087894" y="5814493"/>
            <a:ext cx="21705" cy="217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9210957" y="39487967"/>
            <a:ext cx="16025" cy="1602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4946922" y="16644712"/>
            <a:ext cx="14711" cy="1471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184861" y="32836796"/>
            <a:ext cx="31922" cy="319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44550" y="34532744"/>
            <a:ext cx="28693" cy="2869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8062837" y="20209077"/>
            <a:ext cx="26482" cy="2648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20143006" y="4722334"/>
            <a:ext cx="17933" cy="1793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35848" y="12247763"/>
            <a:ext cx="19805" cy="198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998013" y="2737329"/>
            <a:ext cx="18940" cy="189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4825954" y="27870509"/>
            <a:ext cx="13172" cy="1317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25740809" y="42465433"/>
            <a:ext cx="18375" cy="1837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26697" y="9591212"/>
            <a:ext cx="17163" cy="1716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7329950" y="8375409"/>
            <a:ext cx="24023" cy="2402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9565208" y="30963033"/>
            <a:ext cx="22216" cy="222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3725115" y="21181036"/>
            <a:ext cx="12872" cy="1287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4182725" y="6076591"/>
            <a:ext cx="13759" cy="13759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7057204" y="17051470"/>
            <a:ext cx="20814" cy="20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5978965" y="34065288"/>
            <a:ext cx="30339" cy="3033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20550191" y="28240222"/>
            <a:ext cx="30459" cy="3045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29656216" y="28685004"/>
            <a:ext cx="19371" cy="1937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870909" y="27020913"/>
            <a:ext cx="25144" cy="2514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318012" y="2692393"/>
            <a:ext cx="13356" cy="1335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068342" y="21415337"/>
            <a:ext cx="32252" cy="32252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22437775" y="25917421"/>
            <a:ext cx="23416" cy="23416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6733518" y="15692947"/>
            <a:ext cx="27649" cy="2764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4994554" y="41134122"/>
            <a:ext cx="22548" cy="225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7493844" y="35428279"/>
            <a:ext cx="25477" cy="2547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6731533" y="39834052"/>
            <a:ext cx="17300" cy="17300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6241580" y="41126402"/>
            <a:ext cx="31005" cy="3100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24319657" y="8561976"/>
            <a:ext cx="12803" cy="128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7666389" y="4081734"/>
            <a:ext cx="12678" cy="1267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6405865" y="28812436"/>
            <a:ext cx="32056" cy="3205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712419" y="2261651"/>
            <a:ext cx="16297" cy="1629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2869133" y="8717889"/>
            <a:ext cx="13337" cy="133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7906747" y="26325165"/>
            <a:ext cx="23730" cy="2373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0724970" y="3336572"/>
            <a:ext cx="12901" cy="129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334275" y="28587140"/>
            <a:ext cx="15861" cy="1586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5687676" y="41535803"/>
            <a:ext cx="29552" cy="2955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1577016" y="730350"/>
            <a:ext cx="31555" cy="315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5430880" y="24504051"/>
            <a:ext cx="26223" cy="2622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5534453" y="6670610"/>
            <a:ext cx="26161" cy="2616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7994501" y="10518577"/>
            <a:ext cx="19291" cy="1929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0395780" y="12174245"/>
            <a:ext cx="19499" cy="194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1010828" y="9389910"/>
            <a:ext cx="12674" cy="1267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657244" y="2761437"/>
            <a:ext cx="22984" cy="22984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554830" y="1181629"/>
            <a:ext cx="20234" cy="2023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4066401" y="28590930"/>
            <a:ext cx="20865" cy="2086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25675300" y="13949691"/>
            <a:ext cx="21991" cy="21991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29934379" y="26499645"/>
            <a:ext cx="28255" cy="2825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78662" y="18471123"/>
            <a:ext cx="16374" cy="163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9823108" y="8306275"/>
            <a:ext cx="31748" cy="3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6911802" y="11605439"/>
            <a:ext cx="17696" cy="1769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028131" y="41629384"/>
            <a:ext cx="24292" cy="242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288339" y="26476523"/>
            <a:ext cx="23975" cy="2397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5154630" y="42250453"/>
            <a:ext cx="19958" cy="1995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7793819" y="21188031"/>
            <a:ext cx="26716" cy="26716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6782150" y="26428788"/>
            <a:ext cx="30537" cy="30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7797135" y="18583468"/>
            <a:ext cx="21248" cy="2124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26000936" y="9474479"/>
            <a:ext cx="23592" cy="23592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5804081" y="30099823"/>
            <a:ext cx="29728" cy="2972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3012459" y="38439927"/>
            <a:ext cx="20254" cy="2025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5413797" y="6329959"/>
            <a:ext cx="13009" cy="1300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4447902" y="36182608"/>
            <a:ext cx="12943" cy="1294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1731219" y="39927955"/>
            <a:ext cx="20090" cy="2009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5326389" y="9490650"/>
            <a:ext cx="23987" cy="2398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5407268" y="32035158"/>
            <a:ext cx="26537" cy="26537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8110952" y="23707269"/>
            <a:ext cx="29158" cy="29158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196956" y="4856603"/>
            <a:ext cx="26141" cy="261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7888949" y="40982967"/>
            <a:ext cx="14373" cy="14373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936917" y="4697817"/>
            <a:ext cx="15728" cy="1572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919412" y="38235567"/>
            <a:ext cx="20001" cy="20001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2477865" y="8684490"/>
            <a:ext cx="15814" cy="1581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5172336" y="2564889"/>
            <a:ext cx="30974" cy="30974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015655" y="35393574"/>
            <a:ext cx="19527" cy="19527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437858" y="19974467"/>
            <a:ext cx="18703" cy="1870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2158387" y="29753884"/>
            <a:ext cx="24475" cy="2447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4935671" y="29709244"/>
            <a:ext cx="25670" cy="2567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8432970" y="16737011"/>
            <a:ext cx="31349" cy="3134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6405482" y="25290893"/>
            <a:ext cx="28545" cy="28545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0347040" y="2663702"/>
            <a:ext cx="32285" cy="32285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3205039" y="36291214"/>
            <a:ext cx="17453" cy="17453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1217162" y="2362819"/>
            <a:ext cx="29283" cy="29283"/>
          </a:xfrm>
          <a:prstGeom prst="ellipse">
            <a:avLst/>
          </a:prstGeom>
          <a:solidFill>
            <a:srgbClr val="BE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9434043" y="868546"/>
            <a:ext cx="19439" cy="1943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3301173" y="20614619"/>
            <a:ext cx="30300" cy="30300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2071318" y="18451553"/>
            <a:ext cx="32238" cy="32238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0926441" y="39377309"/>
            <a:ext cx="21748" cy="2174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7723982" y="24356171"/>
            <a:ext cx="30399" cy="30399"/>
          </a:xfrm>
          <a:prstGeom prst="ellipse">
            <a:avLst/>
          </a:prstGeom>
          <a:solidFill>
            <a:srgbClr val="9F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ounded Rectangle 222"/>
          <p:cNvSpPr/>
          <p:nvPr/>
        </p:nvSpPr>
        <p:spPr>
          <a:xfrm>
            <a:off x="792000" y="576000"/>
            <a:ext cx="3456000" cy="1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4" name="Picture 223" descr="braude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000" y="756000"/>
            <a:ext cx="3257963" cy="1080000"/>
          </a:xfrm>
          <a:prstGeom prst="rect">
            <a:avLst/>
          </a:prstGeom>
        </p:spPr>
      </p:pic>
      <p:sp>
        <p:nvSpPr>
          <p:cNvPr id="225" name="Rounded Rectangle 224"/>
          <p:cNvSpPr/>
          <p:nvPr/>
        </p:nvSpPr>
        <p:spPr>
          <a:xfrm>
            <a:off x="19728000" y="648000"/>
            <a:ext cx="5832000" cy="558000"/>
          </a:xfrm>
          <a:prstGeom prst="roundRect">
            <a:avLst>
              <a:gd name="adj" fmla="val 500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19728000" y="770400"/>
            <a:ext cx="583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9FDCFF"/>
                </a:solidFill>
                <a:latin typeface="Orbitron"/>
              </a:rPr>
              <a:t>CAPSTONE PROJECT — PHASE B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25776000" y="648000"/>
            <a:ext cx="3708000" cy="558000"/>
          </a:xfrm>
          <a:prstGeom prst="roundRect">
            <a:avLst>
              <a:gd name="adj" fmla="val 5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25776000" y="770400"/>
            <a:ext cx="370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00" b="1" i="0" lang="en-US">
                <a:solidFill>
                  <a:srgbClr val="06121F"/>
                </a:solidFill>
                <a:latin typeface="Orbitron"/>
              </a:rPr>
              <a:t>TEAM 26-1-D-17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2000" y="2304000"/>
            <a:ext cx="2160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800" b="1" i="0" lang="en-US">
                <a:solidFill>
                  <a:srgbClr val="FFFFFF"/>
                </a:solidFill>
                <a:latin typeface="Orbitron"/>
              </a:rPr>
              <a:t>MISSION </a:t>
            </a:r>
            <a:r>
              <a:rPr sz="12800" b="1" i="0" lang="en-US">
                <a:solidFill>
                  <a:srgbClr val="4FD8FF"/>
                </a:solidFill>
                <a:latin typeface="Orbitron"/>
              </a:rPr>
              <a:t>FOCUS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792000" y="4320000"/>
            <a:ext cx="216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700" b="1" i="0" lang="en-US">
                <a:solidFill>
                  <a:srgbClr val="9FDCFF"/>
                </a:solidFill>
                <a:latin typeface="Open Sans"/>
              </a:rPr>
              <a:t>A SPACE-STATION COGNITIVE ASSESSMENT GAME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2000" y="5256000"/>
            <a:ext cx="216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3300" b="1" i="0" lang="en-US">
                <a:solidFill>
                  <a:srgbClr val="E8F0FF"/>
                </a:solidFill>
                <a:latin typeface="Open Sans"/>
              </a:rPr>
              <a:t>Lidor Ben Hamo </a:t>
            </a:r>
            <a:r>
              <a:rPr sz="3300" b="1" i="0" lang="en-US">
                <a:solidFill>
                  <a:srgbClr val="FF9B42"/>
                </a:solidFill>
                <a:latin typeface="Open Sans"/>
              </a:rPr>
              <a:t>&amp; </a:t>
            </a:r>
            <a:r>
              <a:rPr sz="3300" b="1" i="0" lang="en-US">
                <a:solidFill>
                  <a:srgbClr val="E8F0FF"/>
                </a:solidFill>
                <a:latin typeface="Open Sans"/>
              </a:rPr>
              <a:t>Yahli Rapaport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92000" y="5940000"/>
            <a:ext cx="25200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DFE9FB"/>
                </a:solidFill>
                <a:latin typeface="Open Sans"/>
              </a:rPr>
              <a:t>Advisor: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Dr. Moshe Sulamy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  ·   Department of Software Engineering &amp; Information Systems</a:t>
            </a:r>
          </a:p>
        </p:txBody>
      </p:sp>
      <p:sp>
        <p:nvSpPr>
          <p:cNvPr id="233" name="Oval 232"/>
          <p:cNvSpPr/>
          <p:nvPr/>
        </p:nvSpPr>
        <p:spPr>
          <a:xfrm>
            <a:off x="23328000" y="1008000"/>
            <a:ext cx="4968000" cy="4968000"/>
          </a:xfrm>
          <a:prstGeom prst="ellipse">
            <a:avLst/>
          </a:prstGeom>
          <a:solidFill>
            <a:srgbClr val="0B1E3E"/>
          </a:solidFill>
          <a:ln w="2540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4" name="Picture 233" descr="char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12000" y="1440000"/>
            <a:ext cx="2710294" cy="5328000"/>
          </a:xfrm>
          <a:prstGeom prst="rect">
            <a:avLst/>
          </a:prstGeom>
        </p:spPr>
      </p:pic>
      <p:sp>
        <p:nvSpPr>
          <p:cNvPr id="235" name="Rounded Rectangle 234"/>
          <p:cNvSpPr/>
          <p:nvPr/>
        </p:nvSpPr>
        <p:spPr>
          <a:xfrm>
            <a:off x="792000" y="7200000"/>
            <a:ext cx="9000000" cy="59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1188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01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BACKGROUND &amp; NEED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188000" y="8208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DFE9FB"/>
                </a:solidFill>
                <a:latin typeface="Open Sans"/>
              </a:rPr>
              <a:t>Executive-function assessment still relies on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questionnaires (BRIEF-A)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and traditional lab-style tests: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188000" y="9288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35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350" b="1" i="0" lang="en-US">
                <a:solidFill>
                  <a:srgbClr val="FFFFFF"/>
                </a:solidFill>
                <a:latin typeface="Open Sans"/>
              </a:rPr>
              <a:t>Stressful &amp; repetitive</a:t>
            </a:r>
            <a:r>
              <a:rPr sz="2350" b="0" i="0" lang="en-US">
                <a:solidFill>
                  <a:srgbClr val="DFE9FB"/>
                </a:solidFill>
                <a:latin typeface="Open Sans"/>
              </a:rPr>
              <a:t> — scores may reflect motivation, not true ability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35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350" b="1" i="0" lang="en-US">
                <a:solidFill>
                  <a:srgbClr val="FFFFFF"/>
                </a:solidFill>
                <a:latin typeface="Open Sans"/>
              </a:rPr>
              <a:t>Low engagement</a:t>
            </a:r>
            <a:r>
              <a:rPr sz="2350" b="0" i="0" lang="en-US">
                <a:solidFill>
                  <a:srgbClr val="DFE9FB"/>
                </a:solidFill>
                <a:latin typeface="Open Sans"/>
              </a:rPr>
              <a:t>, especially for young users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35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350" b="1" i="0" lang="en-US">
                <a:solidFill>
                  <a:srgbClr val="FFFFFF"/>
                </a:solidFill>
                <a:latin typeface="Open Sans"/>
              </a:rPr>
              <a:t>Subjective ratings</a:t>
            </a:r>
            <a:r>
              <a:rPr sz="2350" b="0" i="0" lang="en-US">
                <a:solidFill>
                  <a:srgbClr val="DFE9FB"/>
                </a:solidFill>
                <a:latin typeface="Open Sans"/>
              </a:rPr>
              <a:t> — no objective behavioral data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188000" y="11628000"/>
            <a:ext cx="8208000" cy="1080000"/>
          </a:xfrm>
          <a:prstGeom prst="roundRect">
            <a:avLst>
              <a:gd name="adj" fmla="val 12000"/>
            </a:avLst>
          </a:prstGeom>
          <a:solidFill>
            <a:srgbClr val="33241A"/>
          </a:solidFill>
          <a:ln w="19050">
            <a:solidFill>
              <a:srgbClr val="FF9B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1404000" y="11772000"/>
            <a:ext cx="7776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pen Sans"/>
              </a:rPr>
              <a:t>The need: </a:t>
            </a:r>
            <a:r>
              <a:rPr sz="2200" b="1" i="0" lang="en-US">
                <a:solidFill>
                  <a:srgbClr val="FFD9B3"/>
                </a:solidFill>
                <a:latin typeface="Open Sans"/>
              </a:rPr>
              <a:t>measurement that is objective, repeatable — and actually fun to take.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792000" y="13572000"/>
            <a:ext cx="9000000" cy="9216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1188000" y="13968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02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THE SOLUTION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188000" y="14544000"/>
            <a:ext cx="820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400" b="1" i="0" lang="en-US">
                <a:solidFill>
                  <a:srgbClr val="FFFFFF"/>
                </a:solidFill>
                <a:latin typeface="Open Sans"/>
              </a:rPr>
              <a:t>Mission Focus turns assessment into a 10-minute spaceship mission.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188000" y="15480000"/>
            <a:ext cx="8208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00" b="0" i="0" lang="en-US">
                <a:solidFill>
                  <a:srgbClr val="E8F0FF"/>
                </a:solidFill>
                <a:latin typeface="Open Sans"/>
              </a:rPr>
              <a:t>Instead of asking the participant to describe behavior after the fact, the game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observes behavior while it happens</a:t>
            </a:r>
            <a:r>
              <a:rPr sz="2100" b="0" i="0" lang="en-US">
                <a:solidFill>
                  <a:srgbClr val="E8F0FF"/>
                </a:solidFill>
                <a:latin typeface="Open Sans"/>
              </a:rPr>
              <a:t>.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188000" y="16488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1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More engaging</a:t>
            </a:r>
            <a:r>
              <a:rPr sz="2100" b="0" i="0" lang="en-US">
                <a:solidFill>
                  <a:srgbClr val="E8F0FF"/>
                </a:solidFill>
                <a:latin typeface="Open Sans"/>
              </a:rPr>
              <a:t> — the player completes a mission, not a dry test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1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Objective measurement</a:t>
            </a:r>
            <a:r>
              <a:rPr sz="2100" b="0" i="0" lang="en-US">
                <a:solidFill>
                  <a:srgbClr val="E8F0FF"/>
                </a:solidFill>
                <a:latin typeface="Open Sans"/>
              </a:rPr>
              <a:t> — reactions, errors, choices and timing are logged automatically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1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More realistic behavior</a:t>
            </a:r>
            <a:r>
              <a:rPr sz="2100" b="0" i="0" lang="en-US">
                <a:solidFill>
                  <a:srgbClr val="E8F0FF"/>
                </a:solidFill>
                <a:latin typeface="Open Sans"/>
              </a:rPr>
              <a:t> — the player handles tasks, distractions and priorities inside one dynamic environment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2100" b="1" i="0" lang="en-US">
                <a:solidFill>
                  <a:srgbClr val="4FD8FF"/>
                </a:solidFill>
                <a:latin typeface="Open Sans"/>
              </a:rPr>
              <a:t>◆  </a:t>
            </a:r>
            <a:r>
              <a:rPr sz="2100" b="1" i="0" lang="en-US">
                <a:solidFill>
                  <a:srgbClr val="FFFFFF"/>
                </a:solidFill>
                <a:latin typeface="Open Sans"/>
              </a:rPr>
              <a:t>Assessor-ready output</a:t>
            </a:r>
            <a:r>
              <a:rPr sz="2100" b="0" i="0" lang="en-US">
                <a:solidFill>
                  <a:srgbClr val="E8F0FF"/>
                </a:solidFill>
                <a:latin typeface="Open Sans"/>
              </a:rPr>
              <a:t> — the session becomes an executive-function profile + CSV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1188000" y="21204000"/>
            <a:ext cx="8208000" cy="1152000"/>
          </a:xfrm>
          <a:prstGeom prst="roundRect">
            <a:avLst>
              <a:gd name="adj" fmla="val 10000"/>
            </a:avLst>
          </a:prstGeom>
          <a:solidFill>
            <a:srgbClr val="102A44"/>
          </a:solidFill>
          <a:ln w="1905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404000" y="21348000"/>
            <a:ext cx="7776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50" b="1" i="0" lang="en-US">
                <a:solidFill>
                  <a:srgbClr val="4FD8FF"/>
                </a:solidFill>
                <a:latin typeface="Open Sans"/>
              </a:rPr>
              <a:t>Why it works: </a:t>
            </a:r>
            <a:r>
              <a:rPr sz="2050" b="1" i="0" lang="en-US">
                <a:solidFill>
                  <a:srgbClr val="E8F0FF"/>
                </a:solidFill>
                <a:latin typeface="Open Sans"/>
              </a:rPr>
              <a:t>the player feels inside a mission, while the system quietly turns behavior into measurable data.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792000" y="23220000"/>
            <a:ext cx="9000000" cy="50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1188000" y="2361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03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CORE CAPABILITIES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1188000" y="24264000"/>
            <a:ext cx="8208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35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350" b="1" i="0" lang="en-US">
                <a:solidFill>
                  <a:srgbClr val="FFFFFF"/>
                </a:solidFill>
                <a:latin typeface="Open Sans"/>
              </a:rPr>
              <a:t>Playable 10-minute mission</a:t>
            </a:r>
            <a:r>
              <a:rPr sz="2350" b="0" i="0" lang="en-US">
                <a:solidFill>
                  <a:srgbClr val="DFE9FB"/>
                </a:solidFill>
                <a:latin typeface="Open Sans"/>
              </a:rPr>
              <a:t> — game-based, not a quiz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35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350" b="1" i="0" lang="en-US">
                <a:solidFill>
                  <a:srgbClr val="FFFFFF"/>
                </a:solidFill>
                <a:latin typeface="Open Sans"/>
              </a:rPr>
              <a:t>Measures key executive functions</a:t>
            </a:r>
            <a:r>
              <a:rPr sz="2350" b="0" i="0" lang="en-US">
                <a:solidFill>
                  <a:srgbClr val="DFE9FB"/>
                </a:solidFill>
                <a:latin typeface="Open Sans"/>
              </a:rPr>
              <a:t> — attention, memory, inhibition &amp; planning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35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350" b="1" i="0" lang="en-US">
                <a:solidFill>
                  <a:srgbClr val="FFFFFF"/>
                </a:solidFill>
                <a:latin typeface="Open Sans"/>
              </a:rPr>
              <a:t>Logs behavior automatically</a:t>
            </a:r>
            <a:r>
              <a:rPr sz="2350" b="0" i="0" lang="en-US">
                <a:solidFill>
                  <a:srgbClr val="DFE9FB"/>
                </a:solidFill>
                <a:latin typeface="Open Sans"/>
              </a:rPr>
              <a:t> — reactions, errors, choices and timing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35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350" b="1" i="0" lang="en-US">
                <a:solidFill>
                  <a:srgbClr val="FFFFFF"/>
                </a:solidFill>
                <a:latin typeface="Open Sans"/>
              </a:rPr>
              <a:t>Generates assessor outputs</a:t>
            </a:r>
            <a:r>
              <a:rPr sz="2350" b="0" i="0" lang="en-US">
                <a:solidFill>
                  <a:srgbClr val="DFE9FB"/>
                </a:solidFill>
                <a:latin typeface="Open Sans"/>
              </a:rPr>
              <a:t> — HTML report + CSV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350" b="1" i="0" lang="en-US">
                <a:solidFill>
                  <a:srgbClr val="5EE6A8"/>
                </a:solidFill>
                <a:latin typeface="Open Sans"/>
              </a:rPr>
              <a:t>✓  </a:t>
            </a:r>
            <a:r>
              <a:rPr sz="2350" b="1" i="0" lang="en-US">
                <a:solidFill>
                  <a:srgbClr val="FFFFFF"/>
                </a:solidFill>
                <a:latin typeface="Open Sans"/>
              </a:rPr>
              <a:t>Keeps data local</a:t>
            </a:r>
            <a:r>
              <a:rPr sz="2350" b="0" i="0" lang="en-US">
                <a:solidFill>
                  <a:srgbClr val="DFE9FB"/>
                </a:solidFill>
                <a:latin typeface="Open Sans"/>
              </a:rPr>
              <a:t> — privacy by design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792000" y="28692000"/>
            <a:ext cx="9000000" cy="774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1188000" y="29088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04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HOW IT WORKS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1458000" y="30384000"/>
            <a:ext cx="36000" cy="6912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188000" y="29772000"/>
            <a:ext cx="576000" cy="576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1188000" y="29865600"/>
            <a:ext cx="57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4FD8FF"/>
                </a:solidFill>
                <a:latin typeface="Orbitron"/>
              </a:rPr>
              <a:t>1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2016000" y="29736000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pen Sans"/>
              </a:rPr>
              <a:t>Participant Onboarding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2016000" y="30114000"/>
            <a:ext cx="7380000" cy="90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DFE9FB"/>
                </a:solidFill>
                <a:latin typeface="Open Sans"/>
              </a:rPr>
              <a:t>Basic details are entered before the mission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1458000" y="31615200"/>
            <a:ext cx="36000" cy="6912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188000" y="31003200"/>
            <a:ext cx="576000" cy="576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1188000" y="31096800"/>
            <a:ext cx="57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4FD8FF"/>
                </a:solidFill>
                <a:latin typeface="Orbitron"/>
              </a:rPr>
              <a:t>2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016000" y="30967200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pen Sans"/>
              </a:rPr>
              <a:t>Interactive Tutorial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016000" y="31345200"/>
            <a:ext cx="7380000" cy="90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DFE9FB"/>
                </a:solidFill>
                <a:latin typeface="Open Sans"/>
              </a:rPr>
              <a:t>The player learns movement and station controls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1458000" y="32846400"/>
            <a:ext cx="36000" cy="6912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188000" y="32234400"/>
            <a:ext cx="576000" cy="576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1188000" y="32328000"/>
            <a:ext cx="57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4FD8FF"/>
                </a:solidFill>
                <a:latin typeface="Orbitron"/>
              </a:rPr>
              <a:t>3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2016000" y="32198400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pen Sans"/>
              </a:rPr>
              <a:t>10-Minute Mission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2016000" y="32576400"/>
            <a:ext cx="7380000" cy="90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DFE9FB"/>
                </a:solidFill>
                <a:latin typeface="Open Sans"/>
              </a:rPr>
              <a:t>Tasks appear across </a:t>
            </a:r>
            <a:r>
              <a:rPr sz="2000" b="1" i="0" lang="en-US">
                <a:solidFill>
                  <a:srgbClr val="FFFFFF"/>
                </a:solidFill>
                <a:latin typeface="Open Sans"/>
              </a:rPr>
              <a:t>4 stations</a:t>
            </a:r>
            <a:r>
              <a:rPr sz="2000" b="0" i="0" lang="en-US">
                <a:solidFill>
                  <a:srgbClr val="DFE9FB"/>
                </a:solidFill>
                <a:latin typeface="Open Sans"/>
              </a:rPr>
              <a:t> while the player chooses priorities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458000" y="34077600"/>
            <a:ext cx="36000" cy="691200"/>
          </a:xfrm>
          <a:prstGeom prst="rect">
            <a:avLst/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188000" y="33465600"/>
            <a:ext cx="576000" cy="576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188000" y="33559200"/>
            <a:ext cx="57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2016000" y="33429600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pen Sans"/>
              </a:rPr>
              <a:t>Background Logging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2016000" y="33807600"/>
            <a:ext cx="7380000" cy="90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000" b="0" i="0" lang="en-US">
                <a:solidFill>
                  <a:srgbClr val="DFE9FB"/>
                </a:solidFill>
                <a:latin typeface="Open Sans"/>
              </a:rPr>
              <a:t>Reactions, errors, choices and timing are recorded silently</a:t>
            </a:r>
          </a:p>
        </p:txBody>
      </p:sp>
      <p:sp>
        <p:nvSpPr>
          <p:cNvPr id="273" name="Oval 272"/>
          <p:cNvSpPr/>
          <p:nvPr/>
        </p:nvSpPr>
        <p:spPr>
          <a:xfrm>
            <a:off x="1188000" y="34696800"/>
            <a:ext cx="576000" cy="576000"/>
          </a:xfrm>
          <a:prstGeom prst="ellipse">
            <a:avLst/>
          </a:prstGeom>
          <a:solidFill>
            <a:srgbClr val="14305C"/>
          </a:solidFill>
          <a:ln w="25400">
            <a:solidFill>
              <a:srgbClr val="4FD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1188000" y="34790400"/>
            <a:ext cx="57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4FD8FF"/>
                </a:solidFill>
                <a:latin typeface="Orbitron"/>
              </a:rPr>
              <a:t>5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2016000" y="34660800"/>
            <a:ext cx="738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pen Sans"/>
              </a:rPr>
              <a:t>Assessor Report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016000" y="35038800"/>
            <a:ext cx="7380000" cy="90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000" b="1" i="0" lang="en-US">
                <a:solidFill>
                  <a:srgbClr val="FFFFFF"/>
                </a:solidFill>
                <a:latin typeface="Open Sans"/>
              </a:rPr>
              <a:t>Executive-function profile + CSV</a:t>
            </a:r>
            <a:r>
              <a:rPr sz="2000" b="0" i="0" lang="en-US">
                <a:solidFill>
                  <a:srgbClr val="DFE9FB"/>
                </a:solidFill>
                <a:latin typeface="Open Sans"/>
              </a:rPr>
              <a:t>, generated instantly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10152000" y="7200000"/>
            <a:ext cx="9972000" cy="29232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10548000" y="7596000"/>
            <a:ext cx="9972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05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PLAYABLE COGNITIVE TASKS</a:t>
            </a:r>
          </a:p>
        </p:txBody>
      </p:sp>
      <p:pic>
        <p:nvPicPr>
          <p:cNvPr id="279" name="Picture 278" descr="shot_radar.png"/>
          <p:cNvPicPr>
            <a:picLocks noChangeAspect="1"/>
          </p:cNvPicPr>
          <p:nvPr/>
        </p:nvPicPr>
        <p:blipFill>
          <a:blip r:embed="rId4"/>
          <a:srcRect l="3843" r="3843"/>
          <a:stretch>
            <a:fillRect/>
          </a:stretch>
        </p:blipFill>
        <p:spPr>
          <a:xfrm>
            <a:off x="10548000" y="8280000"/>
            <a:ext cx="9180000" cy="5544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0" name="TextBox 279"/>
          <p:cNvSpPr txBox="1"/>
          <p:nvPr/>
        </p:nvSpPr>
        <p:spPr>
          <a:xfrm>
            <a:off x="10548000" y="13932000"/>
            <a:ext cx="91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rbitron"/>
              </a:rPr>
              <a:t>RADAR SCAN</a:t>
            </a:r>
            <a:r>
              <a:rPr sz="1650" b="1" i="0" lang="en-US">
                <a:solidFill>
                  <a:srgbClr val="9FDCFF"/>
                </a:solidFill>
                <a:latin typeface="Open Sans"/>
              </a:rPr>
              <a:t>   SUSTAINED ATTENTION · INHIBITION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0548000" y="14382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Hits · False alarms · d′ sensitivity</a:t>
            </a:r>
          </a:p>
        </p:txBody>
      </p:sp>
      <p:pic>
        <p:nvPicPr>
          <p:cNvPr id="282" name="Picture 281" descr="shot_station.png"/>
          <p:cNvPicPr>
            <a:picLocks noChangeAspect="1"/>
          </p:cNvPicPr>
          <p:nvPr/>
        </p:nvPicPr>
        <p:blipFill>
          <a:blip r:embed="rId5"/>
          <a:srcRect l="4004" r="4004"/>
          <a:stretch>
            <a:fillRect/>
          </a:stretch>
        </p:blipFill>
        <p:spPr>
          <a:xfrm>
            <a:off x="10548000" y="15300000"/>
            <a:ext cx="9180000" cy="5544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3" name="TextBox 282"/>
          <p:cNvSpPr txBox="1"/>
          <p:nvPr/>
        </p:nvSpPr>
        <p:spPr>
          <a:xfrm>
            <a:off x="10548000" y="20952000"/>
            <a:ext cx="91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rbitron"/>
              </a:rPr>
              <a:t>CODE RECALL</a:t>
            </a:r>
            <a:r>
              <a:rPr sz="1650" b="1" i="0" lang="en-US">
                <a:solidFill>
                  <a:srgbClr val="9FDCFF"/>
                </a:solidFill>
                <a:latin typeface="Open Sans"/>
              </a:rPr>
              <a:t>   WORKING MEMORY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10548000" y="21402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Recall accuracy · Typos · Timeout</a:t>
            </a:r>
          </a:p>
        </p:txBody>
      </p:sp>
      <p:pic>
        <p:nvPicPr>
          <p:cNvPr id="285" name="Picture 284" descr="shot_stroop.png"/>
          <p:cNvPicPr>
            <a:picLocks noChangeAspect="1"/>
          </p:cNvPicPr>
          <p:nvPr/>
        </p:nvPicPr>
        <p:blipFill>
          <a:blip r:embed="rId6"/>
          <a:srcRect l="3429" r="3429"/>
          <a:stretch>
            <a:fillRect/>
          </a:stretch>
        </p:blipFill>
        <p:spPr>
          <a:xfrm>
            <a:off x="10548000" y="22320000"/>
            <a:ext cx="9180000" cy="5544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6" name="TextBox 285"/>
          <p:cNvSpPr txBox="1"/>
          <p:nvPr/>
        </p:nvSpPr>
        <p:spPr>
          <a:xfrm>
            <a:off x="10548000" y="27972000"/>
            <a:ext cx="91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rbitron"/>
              </a:rPr>
              <a:t>STROOP CONSOLE</a:t>
            </a:r>
            <a:r>
              <a:rPr sz="1650" b="1" i="0" lang="en-US">
                <a:solidFill>
                  <a:srgbClr val="9FDCFF"/>
                </a:solidFill>
                <a:latin typeface="Open Sans"/>
              </a:rPr>
              <a:t>   INHIBITION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0548000" y="28422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RT mean/SD · Commissions · Post-error slowing</a:t>
            </a:r>
          </a:p>
        </p:txBody>
      </p:sp>
      <p:pic>
        <p:nvPicPr>
          <p:cNvPr id="288" name="Picture 287" descr="shot_wires.png"/>
          <p:cNvPicPr>
            <a:picLocks noChangeAspect="1"/>
          </p:cNvPicPr>
          <p:nvPr/>
        </p:nvPicPr>
        <p:blipFill>
          <a:blip r:embed="rId7"/>
          <a:srcRect l="3740" r="3740"/>
          <a:stretch>
            <a:fillRect/>
          </a:stretch>
        </p:blipFill>
        <p:spPr>
          <a:xfrm>
            <a:off x="10548000" y="29340000"/>
            <a:ext cx="9180000" cy="5544000"/>
          </a:xfrm>
          <a:prstGeom prst="rect">
            <a:avLst/>
          </a:prstGeom>
          <a:ln w="17780">
            <a:solidFill>
              <a:srgbClr val="3E6FA0"/>
            </a:solidFill>
          </a:ln>
        </p:spPr>
      </p:pic>
      <p:sp>
        <p:nvSpPr>
          <p:cNvPr id="289" name="TextBox 288"/>
          <p:cNvSpPr txBox="1"/>
          <p:nvPr/>
        </p:nvSpPr>
        <p:spPr>
          <a:xfrm>
            <a:off x="10548000" y="34992000"/>
            <a:ext cx="91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200" b="1" i="0" lang="en-US">
                <a:solidFill>
                  <a:srgbClr val="FFFFFF"/>
                </a:solidFill>
                <a:latin typeface="Orbitron"/>
              </a:rPr>
              <a:t>POWER CELL RUN</a:t>
            </a:r>
            <a:r>
              <a:rPr sz="1650" b="1" i="0" lang="en-US">
                <a:solidFill>
                  <a:srgbClr val="9FDCFF"/>
                </a:solidFill>
                <a:latin typeface="Open Sans"/>
              </a:rPr>
              <a:t>   PLANNING · ORGANIZATION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0548000" y="35442000"/>
            <a:ext cx="9180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900" b="1" i="0" lang="en-US">
                <a:solidFill>
                  <a:srgbClr val="FF9B42"/>
                </a:solidFill>
                <a:latin typeface="Open Sans"/>
              </a:rPr>
              <a:t>Measures: </a:t>
            </a:r>
            <a:r>
              <a:rPr sz="1900" b="1" i="0" lang="en-US">
                <a:solidFill>
                  <a:srgbClr val="FFFFFF"/>
                </a:solidFill>
                <a:latin typeface="Open Sans"/>
              </a:rPr>
              <a:t>Pickup latency · Wiring errors · Completion time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20484000" y="7200000"/>
            <a:ext cx="9000000" cy="666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TextBox 291"/>
          <p:cNvSpPr txBox="1"/>
          <p:nvPr/>
        </p:nvSpPr>
        <p:spPr>
          <a:xfrm>
            <a:off x="20880000" y="7596000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06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TECH STACK</a:t>
            </a:r>
          </a:p>
        </p:txBody>
      </p:sp>
      <p:sp>
        <p:nvSpPr>
          <p:cNvPr id="293" name="Rounded Rectangle 292"/>
          <p:cNvSpPr/>
          <p:nvPr/>
        </p:nvSpPr>
        <p:spPr>
          <a:xfrm>
            <a:off x="20880000" y="8244000"/>
            <a:ext cx="8208000" cy="9000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ounded Rectangle 293"/>
          <p:cNvSpPr/>
          <p:nvPr/>
        </p:nvSpPr>
        <p:spPr>
          <a:xfrm>
            <a:off x="21060000" y="8571600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21456000" y="8496000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 i="0" lang="en-US">
                <a:solidFill>
                  <a:srgbClr val="FFFFFF"/>
                </a:solidFill>
                <a:latin typeface="Open Sans"/>
              </a:rPr>
              <a:t>Unity 6 + URP</a:t>
            </a:r>
            <a:r>
              <a:rPr sz="1950" b="0" i="0" lang="en-US">
                <a:solidFill>
                  <a:srgbClr val="DFE9FB"/>
                </a:solidFill>
                <a:latin typeface="Open Sans"/>
              </a:rPr>
              <a:t>  — 3D spaceship mission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0880000" y="9306000"/>
            <a:ext cx="8208000" cy="9000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ounded Rectangle 296"/>
          <p:cNvSpPr/>
          <p:nvPr/>
        </p:nvSpPr>
        <p:spPr>
          <a:xfrm>
            <a:off x="21060000" y="9633600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TextBox 297"/>
          <p:cNvSpPr txBox="1"/>
          <p:nvPr/>
        </p:nvSpPr>
        <p:spPr>
          <a:xfrm>
            <a:off x="21456000" y="9558000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 i="0" lang="en-US">
                <a:solidFill>
                  <a:srgbClr val="FFFFFF"/>
                </a:solidFill>
                <a:latin typeface="Open Sans"/>
              </a:rPr>
              <a:t>C#</a:t>
            </a:r>
            <a:r>
              <a:rPr sz="1950" b="0" i="0" lang="en-US">
                <a:solidFill>
                  <a:srgbClr val="DFE9FB"/>
                </a:solidFill>
                <a:latin typeface="Open Sans"/>
              </a:rPr>
              <a:t>  — gameplay, tasks &amp; data logging</a:t>
            </a:r>
          </a:p>
        </p:txBody>
      </p:sp>
      <p:sp>
        <p:nvSpPr>
          <p:cNvPr id="299" name="Rounded Rectangle 298"/>
          <p:cNvSpPr/>
          <p:nvPr/>
        </p:nvSpPr>
        <p:spPr>
          <a:xfrm>
            <a:off x="20880000" y="10368000"/>
            <a:ext cx="8208000" cy="9000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ounded Rectangle 299"/>
          <p:cNvSpPr/>
          <p:nvPr/>
        </p:nvSpPr>
        <p:spPr>
          <a:xfrm>
            <a:off x="21060000" y="10695600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5EE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21456000" y="10620000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 i="0" lang="en-US">
                <a:solidFill>
                  <a:srgbClr val="FFFFFF"/>
                </a:solidFill>
                <a:latin typeface="Open Sans"/>
              </a:rPr>
              <a:t>HTML + CSV</a:t>
            </a:r>
            <a:r>
              <a:rPr sz="1950" b="0" i="0" lang="en-US">
                <a:solidFill>
                  <a:srgbClr val="DFE9FB"/>
                </a:solidFill>
                <a:latin typeface="Open Sans"/>
              </a:rPr>
              <a:t>  — assessor report outputs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20880000" y="11430000"/>
            <a:ext cx="8208000" cy="9000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ounded Rectangle 302"/>
          <p:cNvSpPr/>
          <p:nvPr/>
        </p:nvSpPr>
        <p:spPr>
          <a:xfrm>
            <a:off x="21060000" y="11757600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TextBox 303"/>
          <p:cNvSpPr txBox="1"/>
          <p:nvPr/>
        </p:nvSpPr>
        <p:spPr>
          <a:xfrm>
            <a:off x="21456000" y="11682000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 i="0" lang="en-US">
                <a:solidFill>
                  <a:srgbClr val="FFFFFF"/>
                </a:solidFill>
                <a:latin typeface="Open Sans"/>
              </a:rPr>
              <a:t>GitHub</a:t>
            </a:r>
            <a:r>
              <a:rPr sz="1950" b="0" i="0" lang="en-US">
                <a:solidFill>
                  <a:srgbClr val="DFE9FB"/>
                </a:solidFill>
                <a:latin typeface="Open Sans"/>
              </a:rPr>
              <a:t>  — version control &amp; collaboration</a:t>
            </a:r>
          </a:p>
        </p:txBody>
      </p:sp>
      <p:sp>
        <p:nvSpPr>
          <p:cNvPr id="305" name="Rounded Rectangle 304"/>
          <p:cNvSpPr/>
          <p:nvPr/>
        </p:nvSpPr>
        <p:spPr>
          <a:xfrm>
            <a:off x="20880000" y="12492000"/>
            <a:ext cx="8208000" cy="900000"/>
          </a:xfrm>
          <a:prstGeom prst="roundRect">
            <a:avLst>
              <a:gd name="adj" fmla="val 22000"/>
            </a:avLst>
          </a:prstGeom>
          <a:solidFill>
            <a:srgbClr val="0A152E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ounded Rectangle 305"/>
          <p:cNvSpPr/>
          <p:nvPr/>
        </p:nvSpPr>
        <p:spPr>
          <a:xfrm>
            <a:off x="21060000" y="12819600"/>
            <a:ext cx="244800" cy="244800"/>
          </a:xfrm>
          <a:prstGeom prst="roundRect">
            <a:avLst>
              <a:gd name="adj" fmla="val 30000"/>
            </a:avLst>
          </a:prstGeom>
          <a:solidFill>
            <a:srgbClr val="FF9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21456000" y="12744000"/>
            <a:ext cx="7416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2150" b="1" i="0" lang="en-US">
                <a:solidFill>
                  <a:srgbClr val="FFFFFF"/>
                </a:solidFill>
                <a:latin typeface="Open Sans"/>
              </a:rPr>
              <a:t>AI Tools</a:t>
            </a:r>
            <a:r>
              <a:rPr sz="1950" b="0" i="0" lang="en-US">
                <a:solidFill>
                  <a:srgbClr val="DFE9FB"/>
                </a:solidFill>
                <a:latin typeface="Open Sans"/>
              </a:rPr>
              <a:t>  — voice-over and 3D asset support</a:t>
            </a:r>
          </a:p>
        </p:txBody>
      </p:sp>
      <p:sp>
        <p:nvSpPr>
          <p:cNvPr id="308" name="Rounded Rectangle 307"/>
          <p:cNvSpPr/>
          <p:nvPr/>
        </p:nvSpPr>
        <p:spPr>
          <a:xfrm>
            <a:off x="20484000" y="14351999"/>
            <a:ext cx="9000000" cy="612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20880000" y="14747999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07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DESIGN CHALLENGES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20880000" y="15395999"/>
            <a:ext cx="8208000" cy="46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700" b="1" i="0" lang="en-US">
                <a:solidFill>
                  <a:srgbClr val="FF9B42"/>
                </a:solidFill>
                <a:latin typeface="Orbitron"/>
              </a:rPr>
              <a:t>01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Fun vs. valid data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the mission feels playful, while console tasks stay precisely timed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700" b="1" i="0" lang="en-US">
                <a:solidFill>
                  <a:srgbClr val="FF9B42"/>
                </a:solidFill>
                <a:latin typeface="Orbitron"/>
              </a:rPr>
              <a:t>02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Invisible measurement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the player focuses on the game while behavior is logged silently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700" b="1" i="0" lang="en-US">
                <a:solidFill>
                  <a:srgbClr val="FF9B42"/>
                </a:solidFill>
                <a:latin typeface="Orbitron"/>
              </a:rPr>
              <a:t>03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Modular task design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new cognitive tasks can be added without rebuilding the system</a:t>
            </a:r>
          </a:p>
          <a:p>
            <a:pPr algn="l">
              <a:lnSpc>
                <a:spcPct val="122000"/>
              </a:lnSpc>
              <a:spcAft>
                <a:spcPts val="700"/>
              </a:spcAft>
            </a:pPr>
            <a:r>
              <a:rPr sz="1700" b="1" i="0" lang="en-US">
                <a:solidFill>
                  <a:srgbClr val="FF9B42"/>
                </a:solidFill>
                <a:latin typeface="Orbitron"/>
              </a:rPr>
              <a:t>04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3D asset integration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AI-generated props needed Unity cleanup and adaptation</a:t>
            </a:r>
          </a:p>
        </p:txBody>
      </p:sp>
      <p:sp>
        <p:nvSpPr>
          <p:cNvPr id="311" name="Rounded Rectangle 310"/>
          <p:cNvSpPr/>
          <p:nvPr/>
        </p:nvSpPr>
        <p:spPr>
          <a:xfrm>
            <a:off x="20484000" y="20963999"/>
            <a:ext cx="9000000" cy="12600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TextBox 311"/>
          <p:cNvSpPr txBox="1"/>
          <p:nvPr/>
        </p:nvSpPr>
        <p:spPr>
          <a:xfrm>
            <a:off x="20880000" y="21359999"/>
            <a:ext cx="90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4FD8FF"/>
                </a:solidFill>
                <a:latin typeface="Orbitron"/>
              </a:rPr>
              <a:t>08  </a:t>
            </a:r>
            <a:r>
              <a:rPr sz="2700" b="1" i="0" lang="en-US">
                <a:solidFill>
                  <a:srgbClr val="FFFFFF"/>
                </a:solidFill>
                <a:latin typeface="Orbitron"/>
              </a:rPr>
              <a:t>OUTCOMES &amp; FUTURE WORK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0880000" y="22007999"/>
            <a:ext cx="8208000" cy="56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Four cognitive tasks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playable end-to-end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~26 metrics per session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HTML report + CSV + raw log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Verified pipeline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gameplay → logs → metrics → report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5EE6A8"/>
                </a:solidFill>
                <a:latin typeface="Open Sans"/>
              </a:rPr>
              <a:t>✔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Demo-ready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stable 10-minute missions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FF9B42"/>
                </a:solidFill>
                <a:latin typeface="Open Sans"/>
              </a:rPr>
              <a:t>↻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Lesson learned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playtest earlier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200" b="1" i="0" lang="en-US">
                <a:solidFill>
                  <a:srgbClr val="4FD8FF"/>
                </a:solidFill>
                <a:latin typeface="Open Sans"/>
              </a:rPr>
              <a:t>→  </a:t>
            </a:r>
            <a:r>
              <a:rPr sz="2200" b="1" i="0" lang="en-US">
                <a:solidFill>
                  <a:srgbClr val="FFFFFF"/>
                </a:solidFill>
                <a:latin typeface="Open Sans"/>
              </a:rPr>
              <a:t>Future work</a:t>
            </a:r>
            <a:r>
              <a:rPr sz="2200" b="0" i="0" lang="en-US">
                <a:solidFill>
                  <a:srgbClr val="DFE9FB"/>
                </a:solidFill>
                <a:latin typeface="Open Sans"/>
              </a:rPr>
              <a:t> — compare gameplay metrics with BRIEF-A in a controlled study</a:t>
            </a:r>
          </a:p>
        </p:txBody>
      </p:sp>
      <p:pic>
        <p:nvPicPr>
          <p:cNvPr id="314" name="Picture 313" descr="shot_report.png"/>
          <p:cNvPicPr>
            <a:picLocks noChangeAspect="1"/>
          </p:cNvPicPr>
          <p:nvPr/>
        </p:nvPicPr>
        <p:blipFill>
          <a:blip r:embed="rId8"/>
          <a:srcRect l="1528" r="1528"/>
          <a:stretch>
            <a:fillRect/>
          </a:stretch>
        </p:blipFill>
        <p:spPr>
          <a:xfrm>
            <a:off x="20880000" y="27767999"/>
            <a:ext cx="8208000" cy="4896000"/>
          </a:xfrm>
          <a:prstGeom prst="rect">
            <a:avLst/>
          </a:prstGeom>
          <a:ln w="15240">
            <a:solidFill>
              <a:srgbClr val="3E6FA0"/>
            </a:solidFill>
          </a:ln>
        </p:spPr>
      </p:pic>
      <p:sp>
        <p:nvSpPr>
          <p:cNvPr id="315" name="TextBox 314"/>
          <p:cNvSpPr txBox="1"/>
          <p:nvPr/>
        </p:nvSpPr>
        <p:spPr>
          <a:xfrm>
            <a:off x="20880000" y="32771999"/>
            <a:ext cx="820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FFFFFF"/>
                </a:solidFill>
                <a:latin typeface="Open Sans"/>
              </a:rPr>
              <a:t>Assessor HTML report</a:t>
            </a:r>
            <a:r>
              <a:rPr sz="1800" b="0" i="0" lang="en-US">
                <a:solidFill>
                  <a:srgbClr val="DFE9FB"/>
                </a:solidFill>
                <a:latin typeface="Open Sans"/>
              </a:rPr>
              <a:t> — generated after every mission</a:t>
            </a:r>
          </a:p>
        </p:txBody>
      </p:sp>
      <p:sp>
        <p:nvSpPr>
          <p:cNvPr id="316" name="Rounded Rectangle 315"/>
          <p:cNvSpPr/>
          <p:nvPr/>
        </p:nvSpPr>
        <p:spPr>
          <a:xfrm>
            <a:off x="20484000" y="34056000"/>
            <a:ext cx="9000000" cy="2376000"/>
          </a:xfrm>
          <a:prstGeom prst="roundRect">
            <a:avLst>
              <a:gd name="adj" fmla="val 45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ounded Rectangle 316"/>
          <p:cNvSpPr/>
          <p:nvPr/>
        </p:nvSpPr>
        <p:spPr>
          <a:xfrm>
            <a:off x="20736000" y="34272000"/>
            <a:ext cx="1728000" cy="172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8" name="Picture 317" descr="qr_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844000" y="34380000"/>
            <a:ext cx="1512000" cy="1512000"/>
          </a:xfrm>
          <a:prstGeom prst="rect">
            <a:avLst/>
          </a:prstGeom>
        </p:spPr>
      </p:pic>
      <p:sp>
        <p:nvSpPr>
          <p:cNvPr id="319" name="TextBox 318"/>
          <p:cNvSpPr txBox="1"/>
          <p:nvPr/>
        </p:nvSpPr>
        <p:spPr>
          <a:xfrm>
            <a:off x="22680000" y="34416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800" b="1" i="0" lang="en-US">
                <a:solidFill>
                  <a:srgbClr val="FFFFFF"/>
                </a:solidFill>
                <a:latin typeface="Orbitron"/>
              </a:rPr>
              <a:t>FULL CODE &amp; DOCS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22680000" y="34848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700" b="1" i="0" lang="en-US">
                <a:solidFill>
                  <a:srgbClr val="FFFFFF"/>
                </a:solidFill>
                <a:latin typeface="Open Sans"/>
              </a:rPr>
              <a:t>github.com/lidorbenhamo26/Final-Project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22680000" y="35208000"/>
            <a:ext cx="644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600" b="0" i="0" lang="en-US">
                <a:solidFill>
                  <a:srgbClr val="DFE9FB"/>
                </a:solidFill>
                <a:latin typeface="Open Sans"/>
              </a:rPr>
              <a:t>Unity project · project book · demo video</a:t>
            </a:r>
          </a:p>
        </p:txBody>
      </p:sp>
      <p:sp>
        <p:nvSpPr>
          <p:cNvPr id="322" name="Rounded Rectangle 321"/>
          <p:cNvSpPr/>
          <p:nvPr/>
        </p:nvSpPr>
        <p:spPr>
          <a:xfrm>
            <a:off x="756000" y="36756000"/>
            <a:ext cx="28764000" cy="2340000"/>
          </a:xfrm>
          <a:prstGeom prst="roundRect">
            <a:avLst>
              <a:gd name="adj" fmla="val 9000"/>
            </a:avLst>
          </a:prstGeom>
          <a:solidFill>
            <a:srgbClr val="4F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ounded Rectangle 322"/>
          <p:cNvSpPr/>
          <p:nvPr/>
        </p:nvSpPr>
        <p:spPr>
          <a:xfrm>
            <a:off x="799200" y="36799200"/>
            <a:ext cx="28677600" cy="2253600"/>
          </a:xfrm>
          <a:prstGeom prst="roundRect">
            <a:avLst>
              <a:gd name="adj" fmla="val 9000"/>
            </a:avLst>
          </a:prstGeom>
          <a:solidFill>
            <a:srgbClr val="0B1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792000" y="37062000"/>
            <a:ext cx="28692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5300" b="1" i="0" lang="en-US">
                <a:solidFill>
                  <a:srgbClr val="FFFFFF"/>
                </a:solidFill>
                <a:latin typeface="Orbitron"/>
              </a:rPr>
              <a:t>Not a test — </a:t>
            </a:r>
            <a:r>
              <a:rPr sz="5300" b="1" i="0" lang="en-US">
                <a:solidFill>
                  <a:srgbClr val="4FD8FF"/>
                </a:solidFill>
                <a:latin typeface="Orbitron"/>
              </a:rPr>
              <a:t>a mission that measures.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792000" y="38268000"/>
            <a:ext cx="2869200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2400" b="0" i="0" lang="en-US">
                <a:solidFill>
                  <a:srgbClr val="DFE9FB"/>
                </a:solidFill>
                <a:latin typeface="Open Sans"/>
              </a:rPr>
              <a:t>A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10-minute space mission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produces an </a:t>
            </a:r>
            <a:r>
              <a:rPr sz="2400" b="1" i="0" lang="en-US">
                <a:solidFill>
                  <a:srgbClr val="FFFFFF"/>
                </a:solidFill>
                <a:latin typeface="Open Sans"/>
              </a:rPr>
              <a:t>executive-function profile</a:t>
            </a:r>
            <a:r>
              <a:rPr sz="2400" b="0" i="0" lang="en-US">
                <a:solidFill>
                  <a:srgbClr val="DFE9FB"/>
                </a:solidFill>
                <a:latin typeface="Open Sans"/>
              </a:rPr>
              <a:t> while keeping the player engaged.</a:t>
            </a:r>
          </a:p>
        </p:txBody>
      </p:sp>
      <p:sp>
        <p:nvSpPr>
          <p:cNvPr id="326" name="Rounded Rectangle 325"/>
          <p:cNvSpPr/>
          <p:nvPr/>
        </p:nvSpPr>
        <p:spPr>
          <a:xfrm>
            <a:off x="792000" y="39528000"/>
            <a:ext cx="28692000" cy="2232000"/>
          </a:xfrm>
          <a:prstGeom prst="roundRect">
            <a:avLst>
              <a:gd name="adj" fmla="val 8000"/>
            </a:avLst>
          </a:prstGeom>
          <a:solidFill>
            <a:srgbClr val="0A142C"/>
          </a:solidFill>
          <a:ln w="8890">
            <a:solidFill>
              <a:srgbClr val="3E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1440000" y="39816000"/>
            <a:ext cx="54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200" b="1" i="0" lang="en-US">
                <a:solidFill>
                  <a:srgbClr val="4FD8FF"/>
                </a:solidFill>
                <a:latin typeface="Orbitron"/>
              </a:rPr>
              <a:t>4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1440000" y="40824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50" b="1" i="0" lang="en-US">
                <a:solidFill>
                  <a:srgbClr val="DFE9FB"/>
                </a:solidFill>
                <a:latin typeface="Open Sans"/>
              </a:rPr>
              <a:t>COGNITIVE STATIONS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840000" y="39816000"/>
            <a:ext cx="54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200" b="1" i="0" lang="en-US">
                <a:solidFill>
                  <a:srgbClr val="FF9B42"/>
                </a:solidFill>
                <a:latin typeface="Orbitron"/>
              </a:rPr>
              <a:t>10 MIN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840000" y="40824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50" b="1" i="0" lang="en-US">
                <a:solidFill>
                  <a:srgbClr val="DFE9FB"/>
                </a:solidFill>
                <a:latin typeface="Open Sans"/>
              </a:rPr>
              <a:t>ONE FULL MISSION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768000" y="39888000"/>
            <a:ext cx="18000" cy="1512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TextBox 331"/>
          <p:cNvSpPr txBox="1"/>
          <p:nvPr/>
        </p:nvSpPr>
        <p:spPr>
          <a:xfrm>
            <a:off x="12240000" y="39816000"/>
            <a:ext cx="54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200" b="1" i="0" lang="en-US">
                <a:solidFill>
                  <a:srgbClr val="4FD8FF"/>
                </a:solidFill>
                <a:latin typeface="Orbitron"/>
              </a:rPr>
              <a:t>~26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12240000" y="40824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50" b="1" i="0" lang="en-US">
                <a:solidFill>
                  <a:srgbClr val="DFE9FB"/>
                </a:solidFill>
                <a:latin typeface="Open Sans"/>
              </a:rPr>
              <a:t>METRICS PER SESSION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12168000" y="39888000"/>
            <a:ext cx="18000" cy="1512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17640000" y="39816000"/>
            <a:ext cx="54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4200" b="1" i="0" lang="en-US">
                <a:solidFill>
                  <a:srgbClr val="5EE6A8"/>
                </a:solidFill>
                <a:latin typeface="Orbitron"/>
              </a:rPr>
              <a:t>3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7640000" y="40824000"/>
            <a:ext cx="54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50" b="1" i="0" lang="en-US">
                <a:solidFill>
                  <a:srgbClr val="DFE9FB"/>
                </a:solidFill>
                <a:latin typeface="Open Sans"/>
              </a:rPr>
              <a:t>EXPORT ARTIFACTS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17568000" y="39888000"/>
            <a:ext cx="18000" cy="15120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8" name="Picture 337" descr="char_wa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712000" y="39024000"/>
            <a:ext cx="1519280" cy="2664000"/>
          </a:xfrm>
          <a:prstGeom prst="rect">
            <a:avLst/>
          </a:prstGeom>
        </p:spPr>
      </p:pic>
      <p:sp>
        <p:nvSpPr>
          <p:cNvPr id="339" name="Rounded Rectangle 338"/>
          <p:cNvSpPr/>
          <p:nvPr/>
        </p:nvSpPr>
        <p:spPr>
          <a:xfrm>
            <a:off x="23400000" y="39708000"/>
            <a:ext cx="3096000" cy="504000"/>
          </a:xfrm>
          <a:prstGeom prst="roundRect">
            <a:avLst>
              <a:gd name="adj" fmla="val 50000"/>
            </a:avLst>
          </a:prstGeom>
          <a:solidFill>
            <a:srgbClr val="102A44"/>
          </a:solidFill>
          <a:ln w="8890">
            <a:solidFill>
              <a:srgbClr val="9FD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23400000" y="39823200"/>
            <a:ext cx="309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550" b="1" i="0" lang="en-US">
                <a:solidFill>
                  <a:srgbClr val="9FDCFF"/>
                </a:solidFill>
                <a:latin typeface="Open Sans"/>
              </a:rPr>
              <a:t>Ready for launch!</a:t>
            </a:r>
          </a:p>
        </p:txBody>
      </p:sp>
      <p:sp>
        <p:nvSpPr>
          <p:cNvPr id="341" name="Rectangle 340"/>
          <p:cNvSpPr/>
          <p:nvPr/>
        </p:nvSpPr>
        <p:spPr>
          <a:xfrm>
            <a:off x="0" y="42048000"/>
            <a:ext cx="30276000" cy="756000"/>
          </a:xfrm>
          <a:prstGeom prst="rect">
            <a:avLst/>
          </a:prstGeom>
          <a:solidFill>
            <a:srgbClr val="050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0" y="42048000"/>
            <a:ext cx="30276000" cy="28800"/>
          </a:xfrm>
          <a:prstGeom prst="rect">
            <a:avLst/>
          </a:prstGeom>
          <a:solidFill>
            <a:srgbClr val="3E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0" y="42246000"/>
            <a:ext cx="3027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  <a:spcAft>
                <a:spcPts val="400"/>
              </a:spcAft>
            </a:pPr>
            <a:r>
              <a:rPr sz="1750" b="1" i="0" lang="en-US">
                <a:solidFill>
                  <a:srgbClr val="FFFFFF"/>
                </a:solidFill>
                <a:latin typeface="Open Sans"/>
              </a:rPr>
              <a:t>Braude College of Engineering, Karmiel</a:t>
            </a:r>
            <a:r>
              <a:rPr sz="1750" b="0" i="0" lang="en-US">
                <a:solidFill>
                  <a:srgbClr val="DFE9FB"/>
                </a:solidFill>
                <a:latin typeface="Open Sans"/>
              </a:rPr>
              <a:t>   ◆   Department of Software Engineering &amp; Information Systems   ◆   Capstone Project 61999 — Phase B   ◆   </a:t>
            </a:r>
            <a:r>
              <a:rPr sz="1750" b="1" i="0" lang="en-US">
                <a:solidFill>
                  <a:srgbClr val="FFFFFF"/>
                </a:solidFill>
                <a:latin typeface="Open Sans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