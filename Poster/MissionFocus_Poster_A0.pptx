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060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61882" y="13913173"/>
            <a:ext cx="28427" cy="2842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313382" y="15559948"/>
            <a:ext cx="21892" cy="2189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8685956" y="41576533"/>
            <a:ext cx="29783" cy="2978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427258" y="37614686"/>
            <a:ext cx="17383" cy="1738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84502" y="17986063"/>
            <a:ext cx="31806" cy="3180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64227" y="8742686"/>
            <a:ext cx="21275" cy="2127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226929" y="38458291"/>
            <a:ext cx="16190" cy="1619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894664" y="12561952"/>
            <a:ext cx="24098" cy="2409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33325" y="8637428"/>
            <a:ext cx="26670" cy="2667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557860" y="3335047"/>
            <a:ext cx="14974" cy="1497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433318" y="4903140"/>
            <a:ext cx="32206" cy="3220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485609" y="41197467"/>
            <a:ext cx="19871" cy="1987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8542280" y="37381118"/>
            <a:ext cx="24653" cy="2465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624345" y="7754960"/>
            <a:ext cx="23944" cy="2394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65310" y="4105393"/>
            <a:ext cx="22928" cy="2292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754270" y="38396859"/>
            <a:ext cx="29181" cy="2918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6115263" y="6024942"/>
            <a:ext cx="26634" cy="2663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960417" y="9275164"/>
            <a:ext cx="12733" cy="1273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72008" y="8572951"/>
            <a:ext cx="25599" cy="2559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22931" y="41287255"/>
            <a:ext cx="15589" cy="1558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85960" y="41087768"/>
            <a:ext cx="29310" cy="2931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2361734" y="3537956"/>
            <a:ext cx="20411" cy="2041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644315" y="14596077"/>
            <a:ext cx="22391" cy="2239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55126" y="1228316"/>
            <a:ext cx="13662" cy="136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7914166" y="18851681"/>
            <a:ext cx="20280" cy="2028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4828875" y="22167820"/>
            <a:ext cx="24342" cy="2434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9077" y="11710251"/>
            <a:ext cx="23681" cy="2368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150597" y="27441047"/>
            <a:ext cx="26449" cy="2644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62359" y="16428111"/>
            <a:ext cx="14365" cy="1436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234080" y="24942614"/>
            <a:ext cx="31488" cy="3148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18481" y="4694968"/>
            <a:ext cx="28900" cy="2890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016347" y="9420476"/>
            <a:ext cx="22683" cy="2268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1416516" y="20028245"/>
            <a:ext cx="22561" cy="2256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532186" y="28038640"/>
            <a:ext cx="30769" cy="3076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73693" y="36609038"/>
            <a:ext cx="17865" cy="1786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748825" y="40186480"/>
            <a:ext cx="18812" cy="1881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507133" y="32749444"/>
            <a:ext cx="29998" cy="2999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45459" y="34974899"/>
            <a:ext cx="19240" cy="19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0084806" y="17682098"/>
            <a:ext cx="19734" cy="1973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749978" y="12306580"/>
            <a:ext cx="12623" cy="1262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9382412" y="27959112"/>
            <a:ext cx="12720" cy="1272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663205" y="27888714"/>
            <a:ext cx="22565" cy="2256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308844" y="4873931"/>
            <a:ext cx="19565" cy="1956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70428" y="37982807"/>
            <a:ext cx="14216" cy="142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297545" y="24643948"/>
            <a:ext cx="21835" cy="2183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3228966" y="13300999"/>
            <a:ext cx="19008" cy="190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8638079" y="24821788"/>
            <a:ext cx="13209" cy="1320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0153197" y="36595379"/>
            <a:ext cx="22485" cy="2248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0718714" y="27137719"/>
            <a:ext cx="22655" cy="2265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877812" y="24802952"/>
            <a:ext cx="23993" cy="2399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776338" y="4830410"/>
            <a:ext cx="31898" cy="3189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427929" y="23183080"/>
            <a:ext cx="13995" cy="1399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24080129" y="5237769"/>
            <a:ext cx="24045" cy="2404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5420343" y="28171996"/>
            <a:ext cx="26875" cy="2687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4513711" y="8834893"/>
            <a:ext cx="29107" cy="2910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6887152" y="10445649"/>
            <a:ext cx="17309" cy="1730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5701990" y="26848152"/>
            <a:ext cx="18154" cy="1815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6875962" y="42419656"/>
            <a:ext cx="24267" cy="2426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3448023" y="3391995"/>
            <a:ext cx="25551" cy="2555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815365" y="33132776"/>
            <a:ext cx="30249" cy="3024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5291286" y="8018740"/>
            <a:ext cx="13733" cy="1373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459009" y="38563519"/>
            <a:ext cx="18432" cy="1843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8123077" y="20964836"/>
            <a:ext cx="14251" cy="1425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4511638" y="93506"/>
            <a:ext cx="23693" cy="2369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6680513" y="27745922"/>
            <a:ext cx="25716" cy="257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989570" y="13989478"/>
            <a:ext cx="26965" cy="2696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6832425" y="1794073"/>
            <a:ext cx="29969" cy="2996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68921" y="2252048"/>
            <a:ext cx="24883" cy="2488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452287" y="18762751"/>
            <a:ext cx="13167" cy="1316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6170027" y="4230945"/>
            <a:ext cx="29282" cy="2928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3211885" y="20539936"/>
            <a:ext cx="30246" cy="3024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7235429" y="32833803"/>
            <a:ext cx="22488" cy="2248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682177" y="5558818"/>
            <a:ext cx="30389" cy="3038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9299620" y="32167106"/>
            <a:ext cx="23304" cy="23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5346007" y="7515024"/>
            <a:ext cx="28752" cy="28752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7732997" y="16683541"/>
            <a:ext cx="14091" cy="1409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3300972" y="10422411"/>
            <a:ext cx="27830" cy="2783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6575636" y="13894710"/>
            <a:ext cx="17815" cy="1781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6211138" y="13540514"/>
            <a:ext cx="26145" cy="2614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7033665" y="26429869"/>
            <a:ext cx="31705" cy="3170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7114604" y="6960480"/>
            <a:ext cx="28202" cy="2820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1465534" y="14716393"/>
            <a:ext cx="25571" cy="2557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987456" y="33765913"/>
            <a:ext cx="26237" cy="2623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429695" y="21578382"/>
            <a:ext cx="23503" cy="235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96351" y="20660134"/>
            <a:ext cx="14890" cy="1489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27157561" y="20643319"/>
            <a:ext cx="31843" cy="3184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6229025" y="10504663"/>
            <a:ext cx="23155" cy="2315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237016" y="5574661"/>
            <a:ext cx="31899" cy="3189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668702" y="15222297"/>
            <a:ext cx="17394" cy="1739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2506220" y="10047410"/>
            <a:ext cx="29003" cy="290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8223633" y="4831679"/>
            <a:ext cx="22432" cy="224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3349733" y="31474204"/>
            <a:ext cx="15768" cy="1576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041114" y="2588636"/>
            <a:ext cx="17268" cy="1726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20712662" y="23034097"/>
            <a:ext cx="20686" cy="2068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8765927" y="4945753"/>
            <a:ext cx="17129" cy="1712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26699013" y="20720704"/>
            <a:ext cx="24743" cy="2474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1524902" y="17347122"/>
            <a:ext cx="20920" cy="20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9469586" y="35012352"/>
            <a:ext cx="18682" cy="1868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9574876" y="29910726"/>
            <a:ext cx="23100" cy="231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31595" y="28734624"/>
            <a:ext cx="26810" cy="2681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709425" y="25398456"/>
            <a:ext cx="13671" cy="1367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7565591" y="26491189"/>
            <a:ext cx="24140" cy="2414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23284907" y="33909512"/>
            <a:ext cx="18205" cy="1820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290508" y="26546349"/>
            <a:ext cx="19669" cy="1966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0538141" y="3507770"/>
            <a:ext cx="21923" cy="2192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6731964" y="40858950"/>
            <a:ext cx="17925" cy="1792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2023160" y="19728640"/>
            <a:ext cx="29460" cy="294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1260017" y="31046396"/>
            <a:ext cx="26506" cy="2650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20743866" y="27169148"/>
            <a:ext cx="16613" cy="1661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25793408" y="41052821"/>
            <a:ext cx="23278" cy="2327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24418384" y="4192335"/>
            <a:ext cx="24976" cy="2497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8034972" y="11124516"/>
            <a:ext cx="15180" cy="1518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7062846" y="1783078"/>
            <a:ext cx="30824" cy="3082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510929" y="25132936"/>
            <a:ext cx="27512" cy="2751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0404848" y="28662771"/>
            <a:ext cx="25484" cy="254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2159398" y="29598314"/>
            <a:ext cx="27623" cy="2762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959437" y="39517535"/>
            <a:ext cx="27143" cy="2714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9739150" y="4017154"/>
            <a:ext cx="20551" cy="2055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998609" y="33368809"/>
            <a:ext cx="17203" cy="172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24088845" y="17109041"/>
            <a:ext cx="24415" cy="2441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9198486" y="21478379"/>
            <a:ext cx="13220" cy="132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7049330" y="37318941"/>
            <a:ext cx="22656" cy="2265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3960151" y="9560490"/>
            <a:ext cx="22261" cy="2226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27031403" y="8319502"/>
            <a:ext cx="32158" cy="3215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20019598" y="4827053"/>
            <a:ext cx="22597" cy="2259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3838941" y="42372265"/>
            <a:ext cx="28129" cy="2812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7954382" y="26487346"/>
            <a:ext cx="23121" cy="2312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24815309" y="11618016"/>
            <a:ext cx="14631" cy="1463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30082201" y="37693710"/>
            <a:ext cx="12819" cy="1281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3906803" y="19509492"/>
            <a:ext cx="20089" cy="2008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075550" y="33785413"/>
            <a:ext cx="26153" cy="2615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8359296" y="42153139"/>
            <a:ext cx="27249" cy="2724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3397163" y="40856148"/>
            <a:ext cx="26953" cy="2695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3087894" y="5814493"/>
            <a:ext cx="21705" cy="2170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9210957" y="39487967"/>
            <a:ext cx="16025" cy="1602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4946922" y="16644712"/>
            <a:ext cx="14711" cy="1471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8184861" y="32836796"/>
            <a:ext cx="31922" cy="3192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8644550" y="34532744"/>
            <a:ext cx="28693" cy="2869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8062837" y="20209077"/>
            <a:ext cx="26482" cy="2648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20143006" y="4722334"/>
            <a:ext cx="17933" cy="1793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35848" y="12247763"/>
            <a:ext cx="19805" cy="1980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998013" y="2737329"/>
            <a:ext cx="18940" cy="189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4825954" y="27870509"/>
            <a:ext cx="13172" cy="1317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25740809" y="42465433"/>
            <a:ext cx="18375" cy="1837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026697" y="9591212"/>
            <a:ext cx="17163" cy="1716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7329950" y="8375409"/>
            <a:ext cx="24023" cy="2402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9565208" y="30963033"/>
            <a:ext cx="22216" cy="222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3725115" y="21181036"/>
            <a:ext cx="12872" cy="12872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4182725" y="6076591"/>
            <a:ext cx="13759" cy="1375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7057204" y="17051470"/>
            <a:ext cx="20814" cy="2081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5978965" y="34065288"/>
            <a:ext cx="30339" cy="3033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20550191" y="28240222"/>
            <a:ext cx="30459" cy="3045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29656216" y="28685004"/>
            <a:ext cx="19371" cy="1937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870909" y="27020913"/>
            <a:ext cx="25144" cy="2514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2318012" y="2692393"/>
            <a:ext cx="13356" cy="1335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068342" y="21415337"/>
            <a:ext cx="32252" cy="32252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22437775" y="25917421"/>
            <a:ext cx="23416" cy="234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6733518" y="15692947"/>
            <a:ext cx="27649" cy="2764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4994554" y="41134122"/>
            <a:ext cx="22548" cy="225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7493844" y="35428279"/>
            <a:ext cx="25477" cy="2547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6731533" y="39834052"/>
            <a:ext cx="17300" cy="1730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26241580" y="41126402"/>
            <a:ext cx="31005" cy="3100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24319657" y="8561976"/>
            <a:ext cx="12803" cy="128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7666389" y="4081734"/>
            <a:ext cx="12678" cy="1267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6405865" y="28812436"/>
            <a:ext cx="32056" cy="3205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9712419" y="2261651"/>
            <a:ext cx="16297" cy="1629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22869133" y="8717889"/>
            <a:ext cx="13337" cy="1333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7906747" y="26325165"/>
            <a:ext cx="23730" cy="2373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0724970" y="3336572"/>
            <a:ext cx="12901" cy="1290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28334275" y="28587140"/>
            <a:ext cx="15861" cy="1586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5687676" y="41535803"/>
            <a:ext cx="29552" cy="2955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21577016" y="730350"/>
            <a:ext cx="31555" cy="3155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5430880" y="24504051"/>
            <a:ext cx="26223" cy="2622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5534453" y="6670610"/>
            <a:ext cx="26161" cy="2616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7994501" y="10518577"/>
            <a:ext cx="19291" cy="1929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0395780" y="12174245"/>
            <a:ext cx="19499" cy="19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1010828" y="9389910"/>
            <a:ext cx="12674" cy="1267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657244" y="2761437"/>
            <a:ext cx="22984" cy="2298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9554830" y="1181629"/>
            <a:ext cx="20234" cy="2023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4066401" y="28590930"/>
            <a:ext cx="20865" cy="2086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25675300" y="13949691"/>
            <a:ext cx="21991" cy="2199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29934379" y="26499645"/>
            <a:ext cx="28255" cy="2825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4378662" y="18471123"/>
            <a:ext cx="16374" cy="1637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9823108" y="8306275"/>
            <a:ext cx="31748" cy="317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6911802" y="11605439"/>
            <a:ext cx="17696" cy="1769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4028131" y="41629384"/>
            <a:ext cx="24292" cy="2429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288339" y="26476523"/>
            <a:ext cx="23975" cy="2397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5154630" y="42250453"/>
            <a:ext cx="19958" cy="1995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7793819" y="21188031"/>
            <a:ext cx="26716" cy="2671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6782150" y="26428788"/>
            <a:ext cx="30537" cy="3053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7797135" y="18583468"/>
            <a:ext cx="21248" cy="2124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26000936" y="9474479"/>
            <a:ext cx="23592" cy="2359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5804081" y="30099823"/>
            <a:ext cx="29728" cy="2972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23012459" y="38439927"/>
            <a:ext cx="20254" cy="2025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5413797" y="6329959"/>
            <a:ext cx="13009" cy="1300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4447902" y="36182608"/>
            <a:ext cx="12943" cy="1294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21731219" y="39927955"/>
            <a:ext cx="20090" cy="2009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5326389" y="9490650"/>
            <a:ext cx="23987" cy="23987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5407268" y="32035158"/>
            <a:ext cx="26537" cy="2653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8110952" y="23707269"/>
            <a:ext cx="29158" cy="2915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196956" y="4856603"/>
            <a:ext cx="26141" cy="2614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27888949" y="40982967"/>
            <a:ext cx="14373" cy="1437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936917" y="4697817"/>
            <a:ext cx="15728" cy="1572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919412" y="38235567"/>
            <a:ext cx="20001" cy="2000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2477865" y="8684490"/>
            <a:ext cx="15814" cy="1581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5172336" y="2564889"/>
            <a:ext cx="30974" cy="3097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4015655" y="35393574"/>
            <a:ext cx="19527" cy="19527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2437858" y="19974467"/>
            <a:ext cx="18703" cy="187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2158387" y="29753884"/>
            <a:ext cx="24475" cy="2447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4935671" y="29709244"/>
            <a:ext cx="25670" cy="2567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8432970" y="16737011"/>
            <a:ext cx="31349" cy="3134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6405482" y="25290893"/>
            <a:ext cx="28545" cy="2854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20347040" y="2663702"/>
            <a:ext cx="32285" cy="3228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3205039" y="36291214"/>
            <a:ext cx="17453" cy="1745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21217162" y="2362819"/>
            <a:ext cx="29283" cy="2928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29434043" y="868546"/>
            <a:ext cx="19439" cy="1943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23301173" y="20614619"/>
            <a:ext cx="30300" cy="3030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22071318" y="18451553"/>
            <a:ext cx="32238" cy="3223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20926441" y="39377309"/>
            <a:ext cx="21748" cy="217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7723982" y="24356171"/>
            <a:ext cx="30399" cy="3039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ounded Rectangle 222"/>
          <p:cNvSpPr/>
          <p:nvPr/>
        </p:nvSpPr>
        <p:spPr>
          <a:xfrm>
            <a:off x="792000" y="576000"/>
            <a:ext cx="3456000" cy="1440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4" name="Picture 223" descr="braud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000" y="756000"/>
            <a:ext cx="3257963" cy="1080000"/>
          </a:xfrm>
          <a:prstGeom prst="rect">
            <a:avLst/>
          </a:prstGeom>
        </p:spPr>
      </p:pic>
      <p:sp>
        <p:nvSpPr>
          <p:cNvPr id="225" name="Rounded Rectangle 224"/>
          <p:cNvSpPr/>
          <p:nvPr/>
        </p:nvSpPr>
        <p:spPr>
          <a:xfrm>
            <a:off x="19440000" y="648000"/>
            <a:ext cx="6048000" cy="594000"/>
          </a:xfrm>
          <a:prstGeom prst="roundRect">
            <a:avLst>
              <a:gd name="adj" fmla="val 500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19440000" y="777600"/>
            <a:ext cx="6048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600" b="1" i="0" lang="en-US">
                <a:solidFill>
                  <a:srgbClr val="9FDCFF"/>
                </a:solidFill>
                <a:latin typeface="Orbitron"/>
              </a:rPr>
              <a:t>CAPSTONE PROJECT — PHASE B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25704000" y="648000"/>
            <a:ext cx="3780000" cy="594000"/>
          </a:xfrm>
          <a:prstGeom prst="roundRect">
            <a:avLst>
              <a:gd name="adj" fmla="val 50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25704000" y="777600"/>
            <a:ext cx="378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600" b="1" i="0" lang="en-US">
                <a:solidFill>
                  <a:srgbClr val="06121F"/>
                </a:solidFill>
                <a:latin typeface="Orbitron"/>
              </a:rPr>
              <a:t>TEAM 26-1-D-17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92000" y="2304000"/>
            <a:ext cx="216000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800" b="1" i="0" lang="en-US">
                <a:solidFill>
                  <a:srgbClr val="FFFFFF"/>
                </a:solidFill>
                <a:latin typeface="Orbitron"/>
              </a:rPr>
              <a:t>MISSION </a:t>
            </a:r>
            <a:r>
              <a:rPr sz="12800" b="1" i="0" lang="en-US">
                <a:solidFill>
                  <a:srgbClr val="4FD8FF"/>
                </a:solidFill>
                <a:latin typeface="Orbitron"/>
              </a:rPr>
              <a:t>FOCUS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792000" y="4356000"/>
            <a:ext cx="2160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3700" b="1" i="0" lang="en-US">
                <a:solidFill>
                  <a:srgbClr val="9FDCFF"/>
                </a:solidFill>
                <a:latin typeface="Open Sans"/>
              </a:rPr>
              <a:t>A SPACE-STATION COGNITIVE ASSESSMENT GAME </a:t>
            </a:r>
            <a:r>
              <a:rPr sz="3700" b="1" i="0" lang="en-US">
                <a:solidFill>
                  <a:srgbClr val="FF9B42"/>
                </a:solidFill>
                <a:latin typeface="Open Sans"/>
              </a:rPr>
              <a:t>FOR ADHD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2000" y="5292000"/>
            <a:ext cx="216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3400" b="1" i="0" lang="en-US">
                <a:solidFill>
                  <a:srgbClr val="E8F0FF"/>
                </a:solidFill>
                <a:latin typeface="Open Sans"/>
              </a:rPr>
              <a:t>Lidor Ben Hamo </a:t>
            </a:r>
            <a:r>
              <a:rPr sz="3400" b="1" i="0" lang="en-US">
                <a:solidFill>
                  <a:srgbClr val="FF9B42"/>
                </a:solidFill>
                <a:latin typeface="Open Sans"/>
              </a:rPr>
              <a:t>&amp; </a:t>
            </a:r>
            <a:r>
              <a:rPr sz="3400" b="1" i="0" lang="en-US">
                <a:solidFill>
                  <a:srgbClr val="E8F0FF"/>
                </a:solidFill>
                <a:latin typeface="Open Sans"/>
              </a:rPr>
              <a:t>Yahli Rapaport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92000" y="6012000"/>
            <a:ext cx="2520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500" b="0" i="0" lang="en-US">
                <a:solidFill>
                  <a:srgbClr val="DFE9FB"/>
                </a:solidFill>
                <a:latin typeface="Open Sans"/>
              </a:rPr>
              <a:t>Advisor: </a:t>
            </a:r>
            <a:r>
              <a:rPr sz="2500" b="1" i="0" lang="en-US">
                <a:solidFill>
                  <a:srgbClr val="FFFFFF"/>
                </a:solidFill>
                <a:latin typeface="Open Sans"/>
              </a:rPr>
              <a:t>Dr. Moshe Sulamy</a:t>
            </a:r>
            <a:r>
              <a:rPr sz="2500" b="0" i="0" lang="en-US">
                <a:solidFill>
                  <a:srgbClr val="DFE9FB"/>
                </a:solidFill>
                <a:latin typeface="Open Sans"/>
              </a:rPr>
              <a:t>   ·   Department of Software Engineering &amp; Information Systems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792000" y="7200000"/>
            <a:ext cx="9000000" cy="666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1188000" y="7596000"/>
            <a:ext cx="90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4FD8FF"/>
                </a:solidFill>
                <a:latin typeface="Orbitron"/>
              </a:rPr>
              <a:t>01  </a:t>
            </a:r>
            <a:r>
              <a:rPr sz="3100" b="1" i="0" lang="en-US">
                <a:solidFill>
                  <a:srgbClr val="FFFFFF"/>
                </a:solidFill>
                <a:latin typeface="Orbitron"/>
              </a:rPr>
              <a:t>BACKGROUND &amp; NEED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88000" y="8280000"/>
            <a:ext cx="8208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500" b="0" i="0" lang="en-US">
                <a:solidFill>
                  <a:srgbClr val="DFE9FB"/>
                </a:solidFill>
                <a:latin typeface="Open Sans"/>
              </a:rPr>
              <a:t>Executive-function assessment still relies on </a:t>
            </a:r>
            <a:r>
              <a:rPr sz="2500" b="1" i="0" lang="en-US">
                <a:solidFill>
                  <a:srgbClr val="FFFFFF"/>
                </a:solidFill>
                <a:latin typeface="Open Sans"/>
              </a:rPr>
              <a:t>questionnaires (BRIEF-A)</a:t>
            </a:r>
            <a:r>
              <a:rPr sz="2500" b="0" i="0" lang="en-US">
                <a:solidFill>
                  <a:srgbClr val="DFE9FB"/>
                </a:solidFill>
                <a:latin typeface="Open Sans"/>
              </a:rPr>
              <a:t> and traditional lab-style tests: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1188000" y="9432000"/>
            <a:ext cx="8208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Stressful &amp; repetitive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— scores may reflect motivation, not true ability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Low engagement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, especially for young users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Subjective ratings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— no objective behavioral data</a:t>
            </a:r>
          </a:p>
        </p:txBody>
      </p:sp>
      <p:sp>
        <p:nvSpPr>
          <p:cNvPr id="237" name="Rounded Rectangle 236"/>
          <p:cNvSpPr/>
          <p:nvPr/>
        </p:nvSpPr>
        <p:spPr>
          <a:xfrm>
            <a:off x="1188000" y="12276000"/>
            <a:ext cx="8208000" cy="1152000"/>
          </a:xfrm>
          <a:prstGeom prst="roundRect">
            <a:avLst>
              <a:gd name="adj" fmla="val 12000"/>
            </a:avLst>
          </a:prstGeom>
          <a:solidFill>
            <a:srgbClr val="33241A"/>
          </a:solidFill>
          <a:ln w="19050">
            <a:solidFill>
              <a:srgbClr val="FF9B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1404000" y="12420000"/>
            <a:ext cx="7776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300" b="1" i="0" lang="en-US">
                <a:solidFill>
                  <a:srgbClr val="FFFFFF"/>
                </a:solidFill>
                <a:latin typeface="Open Sans"/>
              </a:rPr>
              <a:t>The need: </a:t>
            </a:r>
            <a:r>
              <a:rPr sz="2300" b="1" i="0" lang="en-US">
                <a:solidFill>
                  <a:srgbClr val="FFD9B3"/>
                </a:solidFill>
                <a:latin typeface="Open Sans"/>
              </a:rPr>
              <a:t>measurement that is objective, repeatable — and actually fun to take.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792000" y="13980000"/>
            <a:ext cx="9000000" cy="1044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1188000" y="14376000"/>
            <a:ext cx="90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4FD8FF"/>
                </a:solidFill>
                <a:latin typeface="Orbitron"/>
              </a:rPr>
              <a:t>02  </a:t>
            </a:r>
            <a:r>
              <a:rPr sz="3100" b="1" i="0" lang="en-US">
                <a:solidFill>
                  <a:srgbClr val="FFFFFF"/>
                </a:solidFill>
                <a:latin typeface="Orbitron"/>
              </a:rPr>
              <a:t>THE SOLUTION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188000" y="15024000"/>
            <a:ext cx="8208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500" b="1" i="0" lang="en-US">
                <a:solidFill>
                  <a:srgbClr val="FFFFFF"/>
                </a:solidFill>
                <a:latin typeface="Open Sans"/>
              </a:rPr>
              <a:t>Mission Focus turns assessment into a 10-minute spaceship mission.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88000" y="16032000"/>
            <a:ext cx="8208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i="0" lang="en-US">
                <a:solidFill>
                  <a:srgbClr val="E8F0FF"/>
                </a:solidFill>
                <a:latin typeface="Open Sans"/>
              </a:rPr>
              <a:t>Instead of asking the participant to describe behavior after the fact, the game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observes behavior while it happens</a:t>
            </a:r>
            <a:r>
              <a:rPr sz="2200" b="0" i="0" lang="en-US">
                <a:solidFill>
                  <a:srgbClr val="E8F0FF"/>
                </a:solidFill>
                <a:latin typeface="Open Sans"/>
              </a:rPr>
              <a:t>.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1188000" y="17112000"/>
            <a:ext cx="8208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2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More engaging</a:t>
            </a:r>
            <a:r>
              <a:rPr sz="2200" b="0" i="0" lang="en-US">
                <a:solidFill>
                  <a:srgbClr val="E8F0FF"/>
                </a:solidFill>
                <a:latin typeface="Open Sans"/>
              </a:rPr>
              <a:t> — the player completes a mission, not a dry test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2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Objective measurement</a:t>
            </a:r>
            <a:r>
              <a:rPr sz="2200" b="0" i="0" lang="en-US">
                <a:solidFill>
                  <a:srgbClr val="E8F0FF"/>
                </a:solidFill>
                <a:latin typeface="Open Sans"/>
              </a:rPr>
              <a:t> — reactions, errors, choices and timing are logged automatically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2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More realistic behavior</a:t>
            </a:r>
            <a:r>
              <a:rPr sz="2200" b="0" i="0" lang="en-US">
                <a:solidFill>
                  <a:srgbClr val="E8F0FF"/>
                </a:solidFill>
                <a:latin typeface="Open Sans"/>
              </a:rPr>
              <a:t> — the player handles tasks, distractions and priorities inside one dynamic environment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2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Assessor-ready output</a:t>
            </a:r>
            <a:r>
              <a:rPr sz="2200" b="0" i="0" lang="en-US">
                <a:solidFill>
                  <a:srgbClr val="E8F0FF"/>
                </a:solidFill>
                <a:latin typeface="Open Sans"/>
              </a:rPr>
              <a:t> — the session becomes an executive-function profile + CSV</a:t>
            </a:r>
          </a:p>
        </p:txBody>
      </p:sp>
      <p:sp>
        <p:nvSpPr>
          <p:cNvPr id="244" name="Rounded Rectangle 243"/>
          <p:cNvSpPr/>
          <p:nvPr/>
        </p:nvSpPr>
        <p:spPr>
          <a:xfrm>
            <a:off x="1188000" y="22764000"/>
            <a:ext cx="8208000" cy="1224000"/>
          </a:xfrm>
          <a:prstGeom prst="roundRect">
            <a:avLst>
              <a:gd name="adj" fmla="val 10000"/>
            </a:avLst>
          </a:prstGeom>
          <a:solidFill>
            <a:srgbClr val="102A44"/>
          </a:solidFill>
          <a:ln w="1905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1404000" y="22908000"/>
            <a:ext cx="7776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50" b="1" i="0" lang="en-US">
                <a:solidFill>
                  <a:srgbClr val="4FD8FF"/>
                </a:solidFill>
                <a:latin typeface="Open Sans"/>
              </a:rPr>
              <a:t>Why it works: </a:t>
            </a:r>
            <a:r>
              <a:rPr sz="2150" b="1" i="0" lang="en-US">
                <a:solidFill>
                  <a:srgbClr val="E8F0FF"/>
                </a:solidFill>
                <a:latin typeface="Open Sans"/>
              </a:rPr>
              <a:t>the player feels inside a mission, while the system quietly turns behavior into measurable data.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792000" y="24540000"/>
            <a:ext cx="9000000" cy="594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1188000" y="24936000"/>
            <a:ext cx="90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4FD8FF"/>
                </a:solidFill>
                <a:latin typeface="Orbitron"/>
              </a:rPr>
              <a:t>03  </a:t>
            </a:r>
            <a:r>
              <a:rPr sz="3100" b="1" i="0" lang="en-US">
                <a:solidFill>
                  <a:srgbClr val="FFFFFF"/>
                </a:solidFill>
                <a:latin typeface="Orbitron"/>
              </a:rPr>
              <a:t>CORE CAPABILITIES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88000" y="25656000"/>
            <a:ext cx="8208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Playable 10-minute mission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— game-based, not a quiz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Measures key executive functions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— attention, memory, inhibition &amp; planning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Logs behavior automatically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— reactions, errors, choices and timing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Generates assessor outputs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— HTML report + CSV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Keeps data local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— privacy by design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792000" y="30600000"/>
            <a:ext cx="9000000" cy="810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1188000" y="30996000"/>
            <a:ext cx="90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4FD8FF"/>
                </a:solidFill>
                <a:latin typeface="Orbitron"/>
              </a:rPr>
              <a:t>04  </a:t>
            </a:r>
            <a:r>
              <a:rPr sz="3100" b="1" i="0" lang="en-US">
                <a:solidFill>
                  <a:srgbClr val="FFFFFF"/>
                </a:solidFill>
                <a:latin typeface="Orbitron"/>
              </a:rPr>
              <a:t>HOW IT WORKS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1476000" y="32400000"/>
            <a:ext cx="36000" cy="712799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188000" y="31752000"/>
            <a:ext cx="612000" cy="612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1188000" y="31860000"/>
            <a:ext cx="61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4FD8FF"/>
                </a:solidFill>
                <a:latin typeface="Orbitron"/>
              </a:rPr>
              <a:t>1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2052000" y="31716000"/>
            <a:ext cx="73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50" b="1" i="0" lang="en-US">
                <a:solidFill>
                  <a:srgbClr val="FFFFFF"/>
                </a:solidFill>
                <a:latin typeface="Open Sans"/>
              </a:rPr>
              <a:t>Participant Onboarding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2052000" y="32130000"/>
            <a:ext cx="7344000" cy="928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 i="0" lang="en-US">
                <a:solidFill>
                  <a:srgbClr val="DFE9FB"/>
                </a:solidFill>
                <a:latin typeface="Open Sans"/>
              </a:rPr>
              <a:t>Basic details are entered before the mission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1476000" y="33688800"/>
            <a:ext cx="36000" cy="712799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188000" y="33040800"/>
            <a:ext cx="612000" cy="612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1188000" y="33148800"/>
            <a:ext cx="61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4FD8FF"/>
                </a:solidFill>
                <a:latin typeface="Orbitron"/>
              </a:rPr>
              <a:t>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2052000" y="33004800"/>
            <a:ext cx="73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50" b="1" i="0" lang="en-US">
                <a:solidFill>
                  <a:srgbClr val="FFFFFF"/>
                </a:solidFill>
                <a:latin typeface="Open Sans"/>
              </a:rPr>
              <a:t>Interactive Tutorial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2052000" y="33418800"/>
            <a:ext cx="7344000" cy="928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 i="0" lang="en-US">
                <a:solidFill>
                  <a:srgbClr val="DFE9FB"/>
                </a:solidFill>
                <a:latin typeface="Open Sans"/>
              </a:rPr>
              <a:t>The player learns movement and station controls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476000" y="34977600"/>
            <a:ext cx="36000" cy="712799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188000" y="34329600"/>
            <a:ext cx="612000" cy="612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1188000" y="34437600"/>
            <a:ext cx="61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4FD8FF"/>
                </a:solidFill>
                <a:latin typeface="Orbitron"/>
              </a:rPr>
              <a:t>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2052000" y="34293600"/>
            <a:ext cx="73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50" b="1" i="0" lang="en-US">
                <a:solidFill>
                  <a:srgbClr val="FFFFFF"/>
                </a:solidFill>
                <a:latin typeface="Open Sans"/>
              </a:rPr>
              <a:t>10-Minute Mission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2052000" y="34707600"/>
            <a:ext cx="7344000" cy="928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 i="0" lang="en-US">
                <a:solidFill>
                  <a:srgbClr val="DFE9FB"/>
                </a:solidFill>
                <a:latin typeface="Open Sans"/>
              </a:rPr>
              <a:t>Tasks appear across </a:t>
            </a:r>
            <a:r>
              <a:rPr sz="2100" b="1" i="0" lang="en-US">
                <a:solidFill>
                  <a:srgbClr val="FFFFFF"/>
                </a:solidFill>
                <a:latin typeface="Open Sans"/>
              </a:rPr>
              <a:t>4 stations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 while the player chooses priorities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1476000" y="36266400"/>
            <a:ext cx="36000" cy="712799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188000" y="35618400"/>
            <a:ext cx="612000" cy="612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1188000" y="35726400"/>
            <a:ext cx="61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4FD8FF"/>
                </a:solidFill>
                <a:latin typeface="Orbitron"/>
              </a:rPr>
              <a:t>4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2052000" y="35582400"/>
            <a:ext cx="73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50" b="1" i="0" lang="en-US">
                <a:solidFill>
                  <a:srgbClr val="FFFFFF"/>
                </a:solidFill>
                <a:latin typeface="Open Sans"/>
              </a:rPr>
              <a:t>Background Logging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2052000" y="35996400"/>
            <a:ext cx="7344000" cy="928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 i="0" lang="en-US">
                <a:solidFill>
                  <a:srgbClr val="DFE9FB"/>
                </a:solidFill>
                <a:latin typeface="Open Sans"/>
              </a:rPr>
              <a:t>Reactions, errors, choices and timing are recorded silently</a:t>
            </a:r>
          </a:p>
        </p:txBody>
      </p:sp>
      <p:sp>
        <p:nvSpPr>
          <p:cNvPr id="271" name="Oval 270"/>
          <p:cNvSpPr/>
          <p:nvPr/>
        </p:nvSpPr>
        <p:spPr>
          <a:xfrm>
            <a:off x="1188000" y="36907200"/>
            <a:ext cx="612000" cy="612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1188000" y="37015200"/>
            <a:ext cx="61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4FD8FF"/>
                </a:solidFill>
                <a:latin typeface="Orbitron"/>
              </a:rPr>
              <a:t>5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2052000" y="36871200"/>
            <a:ext cx="73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50" b="1" i="0" lang="en-US">
                <a:solidFill>
                  <a:srgbClr val="FFFFFF"/>
                </a:solidFill>
                <a:latin typeface="Open Sans"/>
              </a:rPr>
              <a:t>Assessor Report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2052000" y="37285200"/>
            <a:ext cx="7344000" cy="928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1" i="0" lang="en-US">
                <a:solidFill>
                  <a:srgbClr val="FFFFFF"/>
                </a:solidFill>
                <a:latin typeface="Open Sans"/>
              </a:rPr>
              <a:t>Executive-function profile + CSV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, generated instantly</a:t>
            </a:r>
          </a:p>
        </p:txBody>
      </p:sp>
      <p:sp>
        <p:nvSpPr>
          <p:cNvPr id="275" name="Rounded Rectangle 274"/>
          <p:cNvSpPr/>
          <p:nvPr/>
        </p:nvSpPr>
        <p:spPr>
          <a:xfrm>
            <a:off x="10152000" y="7200000"/>
            <a:ext cx="9972000" cy="3150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10548000" y="7596000"/>
            <a:ext cx="9972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4FD8FF"/>
                </a:solidFill>
                <a:latin typeface="Orbitron"/>
              </a:rPr>
              <a:t>05  </a:t>
            </a:r>
            <a:r>
              <a:rPr sz="2800" b="1" i="0" lang="en-US">
                <a:solidFill>
                  <a:srgbClr val="FFFFFF"/>
                </a:solidFill>
                <a:latin typeface="Orbitron"/>
              </a:rPr>
              <a:t>PLAYABLE COGNITIVE TASKS</a:t>
            </a:r>
          </a:p>
        </p:txBody>
      </p:sp>
      <p:pic>
        <p:nvPicPr>
          <p:cNvPr id="277" name="Picture 276" descr="shot_radar.png"/>
          <p:cNvPicPr>
            <a:picLocks noChangeAspect="1"/>
          </p:cNvPicPr>
          <p:nvPr/>
        </p:nvPicPr>
        <p:blipFill>
          <a:blip r:embed="rId3"/>
          <a:srcRect l="7564" r="7564"/>
          <a:stretch>
            <a:fillRect/>
          </a:stretch>
        </p:blipFill>
        <p:spPr>
          <a:xfrm>
            <a:off x="10548000" y="8316000"/>
            <a:ext cx="9180000" cy="6030000"/>
          </a:xfrm>
          <a:prstGeom prst="rect">
            <a:avLst/>
          </a:prstGeom>
          <a:ln w="17780">
            <a:solidFill>
              <a:srgbClr val="3E6FA0"/>
            </a:solidFill>
          </a:ln>
        </p:spPr>
      </p:pic>
      <p:sp>
        <p:nvSpPr>
          <p:cNvPr id="278" name="TextBox 277"/>
          <p:cNvSpPr txBox="1"/>
          <p:nvPr/>
        </p:nvSpPr>
        <p:spPr>
          <a:xfrm>
            <a:off x="10548000" y="14454000"/>
            <a:ext cx="918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i="0" lang="en-US">
                <a:solidFill>
                  <a:srgbClr val="FFFFFF"/>
                </a:solidFill>
                <a:latin typeface="Orbitron"/>
              </a:rPr>
              <a:t>RADAR SCAN</a:t>
            </a:r>
            <a:r>
              <a:rPr sz="1800" b="1" i="0" lang="en-US">
                <a:solidFill>
                  <a:srgbClr val="9FDCFF"/>
                </a:solidFill>
                <a:latin typeface="Open Sans"/>
              </a:rPr>
              <a:t>   SUSTAINED ATTENTION · INHIBITION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10548000" y="14958000"/>
            <a:ext cx="918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50" b="1" i="0" lang="en-US">
                <a:solidFill>
                  <a:srgbClr val="FF9B42"/>
                </a:solidFill>
                <a:latin typeface="Open Sans"/>
              </a:rPr>
              <a:t>Measures: </a:t>
            </a:r>
            <a:r>
              <a:rPr sz="2050" b="1" i="0" lang="en-US">
                <a:solidFill>
                  <a:srgbClr val="FFFFFF"/>
                </a:solidFill>
                <a:latin typeface="Open Sans"/>
              </a:rPr>
              <a:t>Hits · False alarms · d′ sensitivity</a:t>
            </a:r>
          </a:p>
        </p:txBody>
      </p:sp>
      <p:pic>
        <p:nvPicPr>
          <p:cNvPr id="280" name="Picture 279" descr="shot_station.png"/>
          <p:cNvPicPr>
            <a:picLocks noChangeAspect="1"/>
          </p:cNvPicPr>
          <p:nvPr/>
        </p:nvPicPr>
        <p:blipFill>
          <a:blip r:embed="rId4"/>
          <a:srcRect l="7711" r="7711"/>
          <a:stretch>
            <a:fillRect/>
          </a:stretch>
        </p:blipFill>
        <p:spPr>
          <a:xfrm>
            <a:off x="10548000" y="15894000"/>
            <a:ext cx="9180000" cy="6030000"/>
          </a:xfrm>
          <a:prstGeom prst="rect">
            <a:avLst/>
          </a:prstGeom>
          <a:ln w="17780">
            <a:solidFill>
              <a:srgbClr val="3E6FA0"/>
            </a:solidFill>
          </a:ln>
        </p:spPr>
      </p:pic>
      <p:sp>
        <p:nvSpPr>
          <p:cNvPr id="281" name="TextBox 280"/>
          <p:cNvSpPr txBox="1"/>
          <p:nvPr/>
        </p:nvSpPr>
        <p:spPr>
          <a:xfrm>
            <a:off x="10548000" y="22032000"/>
            <a:ext cx="918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i="0" lang="en-US">
                <a:solidFill>
                  <a:srgbClr val="FFFFFF"/>
                </a:solidFill>
                <a:latin typeface="Orbitron"/>
              </a:rPr>
              <a:t>CODE RECALL</a:t>
            </a:r>
            <a:r>
              <a:rPr sz="1800" b="1" i="0" lang="en-US">
                <a:solidFill>
                  <a:srgbClr val="9FDCFF"/>
                </a:solidFill>
                <a:latin typeface="Open Sans"/>
              </a:rPr>
              <a:t>   WORKING MEMORY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10548000" y="22536000"/>
            <a:ext cx="918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50" b="1" i="0" lang="en-US">
                <a:solidFill>
                  <a:srgbClr val="FF9B42"/>
                </a:solidFill>
                <a:latin typeface="Open Sans"/>
              </a:rPr>
              <a:t>Measures: </a:t>
            </a:r>
            <a:r>
              <a:rPr sz="2050" b="1" i="0" lang="en-US">
                <a:solidFill>
                  <a:srgbClr val="FFFFFF"/>
                </a:solidFill>
                <a:latin typeface="Open Sans"/>
              </a:rPr>
              <a:t>Recall accuracy · Typos · Timeout</a:t>
            </a:r>
          </a:p>
        </p:txBody>
      </p:sp>
      <p:pic>
        <p:nvPicPr>
          <p:cNvPr id="283" name="Picture 282" descr="shot_stroop_clean.png"/>
          <p:cNvPicPr>
            <a:picLocks noChangeAspect="1"/>
          </p:cNvPicPr>
          <p:nvPr/>
        </p:nvPicPr>
        <p:blipFill>
          <a:blip r:embed="rId5"/>
          <a:srcRect t="5595" b="5595"/>
          <a:stretch>
            <a:fillRect/>
          </a:stretch>
        </p:blipFill>
        <p:spPr>
          <a:xfrm>
            <a:off x="10548000" y="23472000"/>
            <a:ext cx="9180000" cy="6030000"/>
          </a:xfrm>
          <a:prstGeom prst="rect">
            <a:avLst/>
          </a:prstGeom>
          <a:ln w="17780">
            <a:solidFill>
              <a:srgbClr val="3E6FA0"/>
            </a:solidFill>
          </a:ln>
        </p:spPr>
      </p:pic>
      <p:sp>
        <p:nvSpPr>
          <p:cNvPr id="284" name="TextBox 283"/>
          <p:cNvSpPr txBox="1"/>
          <p:nvPr/>
        </p:nvSpPr>
        <p:spPr>
          <a:xfrm>
            <a:off x="10548000" y="29610000"/>
            <a:ext cx="918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i="0" lang="en-US">
                <a:solidFill>
                  <a:srgbClr val="FFFFFF"/>
                </a:solidFill>
                <a:latin typeface="Orbitron"/>
              </a:rPr>
              <a:t>STROOP CONSOLE</a:t>
            </a:r>
            <a:r>
              <a:rPr sz="1800" b="1" i="0" lang="en-US">
                <a:solidFill>
                  <a:srgbClr val="9FDCFF"/>
                </a:solidFill>
                <a:latin typeface="Open Sans"/>
              </a:rPr>
              <a:t>   INHIBITION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0548000" y="30114000"/>
            <a:ext cx="918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50" b="1" i="0" lang="en-US">
                <a:solidFill>
                  <a:srgbClr val="FF9B42"/>
                </a:solidFill>
                <a:latin typeface="Open Sans"/>
              </a:rPr>
              <a:t>Measures: </a:t>
            </a:r>
            <a:r>
              <a:rPr sz="2050" b="1" i="0" lang="en-US">
                <a:solidFill>
                  <a:srgbClr val="FFFFFF"/>
                </a:solidFill>
                <a:latin typeface="Open Sans"/>
              </a:rPr>
              <a:t>RT mean/SD · Commissions · Post-error slowing</a:t>
            </a:r>
          </a:p>
        </p:txBody>
      </p:sp>
      <p:pic>
        <p:nvPicPr>
          <p:cNvPr id="286" name="Picture 285" descr="shot_wires.png"/>
          <p:cNvPicPr>
            <a:picLocks noChangeAspect="1"/>
          </p:cNvPicPr>
          <p:nvPr/>
        </p:nvPicPr>
        <p:blipFill>
          <a:blip r:embed="rId6"/>
          <a:srcRect l="7469" r="7469"/>
          <a:stretch>
            <a:fillRect/>
          </a:stretch>
        </p:blipFill>
        <p:spPr>
          <a:xfrm>
            <a:off x="10548000" y="31050000"/>
            <a:ext cx="9180000" cy="6030000"/>
          </a:xfrm>
          <a:prstGeom prst="rect">
            <a:avLst/>
          </a:prstGeom>
          <a:ln w="17780">
            <a:solidFill>
              <a:srgbClr val="3E6FA0"/>
            </a:solidFill>
          </a:ln>
        </p:spPr>
      </p:pic>
      <p:sp>
        <p:nvSpPr>
          <p:cNvPr id="287" name="TextBox 286"/>
          <p:cNvSpPr txBox="1"/>
          <p:nvPr/>
        </p:nvSpPr>
        <p:spPr>
          <a:xfrm>
            <a:off x="10548000" y="37188000"/>
            <a:ext cx="918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i="0" lang="en-US">
                <a:solidFill>
                  <a:srgbClr val="FFFFFF"/>
                </a:solidFill>
                <a:latin typeface="Orbitron"/>
              </a:rPr>
              <a:t>POWER CELL RUN</a:t>
            </a:r>
            <a:r>
              <a:rPr sz="1800" b="1" i="0" lang="en-US">
                <a:solidFill>
                  <a:srgbClr val="9FDCFF"/>
                </a:solidFill>
                <a:latin typeface="Open Sans"/>
              </a:rPr>
              <a:t>   PLANNING · ORGANIZATION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10548000" y="37692000"/>
            <a:ext cx="918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50" b="1" i="0" lang="en-US">
                <a:solidFill>
                  <a:srgbClr val="FF9B42"/>
                </a:solidFill>
                <a:latin typeface="Open Sans"/>
              </a:rPr>
              <a:t>Measures: </a:t>
            </a:r>
            <a:r>
              <a:rPr sz="2050" b="1" i="0" lang="en-US">
                <a:solidFill>
                  <a:srgbClr val="FFFFFF"/>
                </a:solidFill>
                <a:latin typeface="Open Sans"/>
              </a:rPr>
              <a:t>Pickup latency · Wiring errors · Completion time</a:t>
            </a:r>
          </a:p>
        </p:txBody>
      </p:sp>
      <p:sp>
        <p:nvSpPr>
          <p:cNvPr id="289" name="Rounded Rectangle 288"/>
          <p:cNvSpPr/>
          <p:nvPr/>
        </p:nvSpPr>
        <p:spPr>
          <a:xfrm>
            <a:off x="20484000" y="7200000"/>
            <a:ext cx="9000000" cy="828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20880000" y="7596000"/>
            <a:ext cx="90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4FD8FF"/>
                </a:solidFill>
                <a:latin typeface="Orbitron"/>
              </a:rPr>
              <a:t>06  </a:t>
            </a:r>
            <a:r>
              <a:rPr sz="3100" b="1" i="0" lang="en-US">
                <a:solidFill>
                  <a:srgbClr val="FFFFFF"/>
                </a:solidFill>
                <a:latin typeface="Orbitron"/>
              </a:rPr>
              <a:t>TECH STACK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20880000" y="8316000"/>
            <a:ext cx="8208000" cy="1166400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ounded Rectangle 291"/>
          <p:cNvSpPr/>
          <p:nvPr/>
        </p:nvSpPr>
        <p:spPr>
          <a:xfrm>
            <a:off x="21060000" y="8769600"/>
            <a:ext cx="259200" cy="259200"/>
          </a:xfrm>
          <a:prstGeom prst="roundRect">
            <a:avLst>
              <a:gd name="adj" fmla="val 30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21492000" y="8683200"/>
            <a:ext cx="738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50" b="1" i="0" lang="en-US">
                <a:solidFill>
                  <a:srgbClr val="FFFFFF"/>
                </a:solidFill>
                <a:latin typeface="Open Sans"/>
              </a:rPr>
              <a:t>Unity 6 + URP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  — 3D spaceship mission</a:t>
            </a:r>
          </a:p>
        </p:txBody>
      </p:sp>
      <p:sp>
        <p:nvSpPr>
          <p:cNvPr id="294" name="Rounded Rectangle 293"/>
          <p:cNvSpPr/>
          <p:nvPr/>
        </p:nvSpPr>
        <p:spPr>
          <a:xfrm>
            <a:off x="20880000" y="9698400"/>
            <a:ext cx="8208000" cy="1166400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ounded Rectangle 294"/>
          <p:cNvSpPr/>
          <p:nvPr/>
        </p:nvSpPr>
        <p:spPr>
          <a:xfrm>
            <a:off x="21060000" y="10151999"/>
            <a:ext cx="259200" cy="259200"/>
          </a:xfrm>
          <a:prstGeom prst="roundRect">
            <a:avLst>
              <a:gd name="adj" fmla="val 30000"/>
            </a:avLst>
          </a:prstGeom>
          <a:solidFill>
            <a:srgbClr val="FF9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21492000" y="10065599"/>
            <a:ext cx="738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50" b="1" i="0" lang="en-US">
                <a:solidFill>
                  <a:srgbClr val="FFFFFF"/>
                </a:solidFill>
                <a:latin typeface="Open Sans"/>
              </a:rPr>
              <a:t>C#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  — gameplay, tasks &amp; data logging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20880000" y="11080799"/>
            <a:ext cx="8208000" cy="1166400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ounded Rectangle 297"/>
          <p:cNvSpPr/>
          <p:nvPr/>
        </p:nvSpPr>
        <p:spPr>
          <a:xfrm>
            <a:off x="21060000" y="11534399"/>
            <a:ext cx="259200" cy="259200"/>
          </a:xfrm>
          <a:prstGeom prst="roundRect">
            <a:avLst>
              <a:gd name="adj" fmla="val 30000"/>
            </a:avLst>
          </a:prstGeom>
          <a:solidFill>
            <a:srgbClr val="5EE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21492000" y="11447999"/>
            <a:ext cx="738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50" b="1" i="0" lang="en-US">
                <a:solidFill>
                  <a:srgbClr val="FFFFFF"/>
                </a:solidFill>
                <a:latin typeface="Open Sans"/>
              </a:rPr>
              <a:t>HTML + CSV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  — assessor report outputs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20880000" y="12463199"/>
            <a:ext cx="8208000" cy="1166400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ounded Rectangle 300"/>
          <p:cNvSpPr/>
          <p:nvPr/>
        </p:nvSpPr>
        <p:spPr>
          <a:xfrm>
            <a:off x="21060000" y="12916799"/>
            <a:ext cx="259200" cy="259200"/>
          </a:xfrm>
          <a:prstGeom prst="roundRect">
            <a:avLst>
              <a:gd name="adj" fmla="val 30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21492000" y="12830399"/>
            <a:ext cx="738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50" b="1" i="0" lang="en-US">
                <a:solidFill>
                  <a:srgbClr val="FFFFFF"/>
                </a:solidFill>
                <a:latin typeface="Open Sans"/>
              </a:rPr>
              <a:t>GitHub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  — version control &amp; collaboration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20880000" y="13845599"/>
            <a:ext cx="8208000" cy="1166400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ounded Rectangle 303"/>
          <p:cNvSpPr/>
          <p:nvPr/>
        </p:nvSpPr>
        <p:spPr>
          <a:xfrm>
            <a:off x="21060000" y="14299199"/>
            <a:ext cx="259200" cy="259200"/>
          </a:xfrm>
          <a:prstGeom prst="roundRect">
            <a:avLst>
              <a:gd name="adj" fmla="val 30000"/>
            </a:avLst>
          </a:prstGeom>
          <a:solidFill>
            <a:srgbClr val="FF9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21492000" y="14212799"/>
            <a:ext cx="738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50" b="1" i="0" lang="en-US">
                <a:solidFill>
                  <a:srgbClr val="FFFFFF"/>
                </a:solidFill>
                <a:latin typeface="Open Sans"/>
              </a:rPr>
              <a:t>AI Tools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  — voice-over and 3D asset support</a:t>
            </a:r>
          </a:p>
        </p:txBody>
      </p:sp>
      <p:sp>
        <p:nvSpPr>
          <p:cNvPr id="306" name="Rounded Rectangle 305"/>
          <p:cNvSpPr/>
          <p:nvPr/>
        </p:nvSpPr>
        <p:spPr>
          <a:xfrm>
            <a:off x="20484000" y="15912000"/>
            <a:ext cx="9000000" cy="756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20880000" y="16308000"/>
            <a:ext cx="90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4FD8FF"/>
                </a:solidFill>
                <a:latin typeface="Orbitron"/>
              </a:rPr>
              <a:t>07  </a:t>
            </a:r>
            <a:r>
              <a:rPr sz="3100" b="1" i="0" lang="en-US">
                <a:solidFill>
                  <a:srgbClr val="FFFFFF"/>
                </a:solidFill>
                <a:latin typeface="Orbitron"/>
              </a:rPr>
              <a:t>DESIGN CHALLENGES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20880000" y="17028000"/>
            <a:ext cx="8208000" cy="59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900"/>
              </a:spcAft>
            </a:pPr>
            <a:r>
              <a:rPr sz="1800" b="1" i="0" lang="en-US">
                <a:solidFill>
                  <a:srgbClr val="FF9B42"/>
                </a:solidFill>
                <a:latin typeface="Orbitron"/>
              </a:rPr>
              <a:t>01  </a:t>
            </a:r>
            <a:r>
              <a:rPr sz="2300" b="1" i="0" lang="en-US">
                <a:solidFill>
                  <a:srgbClr val="FFFFFF"/>
                </a:solidFill>
                <a:latin typeface="Open Sans"/>
              </a:rPr>
              <a:t>Fun vs. valid data</a:t>
            </a:r>
            <a:r>
              <a:rPr sz="2300" b="0" i="0" lang="en-US">
                <a:solidFill>
                  <a:srgbClr val="DFE9FB"/>
                </a:solidFill>
                <a:latin typeface="Open Sans"/>
              </a:rPr>
              <a:t> — the mission feels playful, while console tasks stay precisely timed</a:t>
            </a:r>
          </a:p>
          <a:p>
            <a:pPr algn="l">
              <a:lnSpc>
                <a:spcPct val="124000"/>
              </a:lnSpc>
              <a:spcAft>
                <a:spcPts val="900"/>
              </a:spcAft>
            </a:pPr>
            <a:r>
              <a:rPr sz="1800" b="1" i="0" lang="en-US">
                <a:solidFill>
                  <a:srgbClr val="FF9B42"/>
                </a:solidFill>
                <a:latin typeface="Orbitron"/>
              </a:rPr>
              <a:t>02  </a:t>
            </a:r>
            <a:r>
              <a:rPr sz="2300" b="1" i="0" lang="en-US">
                <a:solidFill>
                  <a:srgbClr val="FFFFFF"/>
                </a:solidFill>
                <a:latin typeface="Open Sans"/>
              </a:rPr>
              <a:t>Invisible measurement</a:t>
            </a:r>
            <a:r>
              <a:rPr sz="2300" b="0" i="0" lang="en-US">
                <a:solidFill>
                  <a:srgbClr val="DFE9FB"/>
                </a:solidFill>
                <a:latin typeface="Open Sans"/>
              </a:rPr>
              <a:t> — the player focuses on the game while behavior is logged silently</a:t>
            </a:r>
          </a:p>
          <a:p>
            <a:pPr algn="l">
              <a:lnSpc>
                <a:spcPct val="124000"/>
              </a:lnSpc>
              <a:spcAft>
                <a:spcPts val="900"/>
              </a:spcAft>
            </a:pPr>
            <a:r>
              <a:rPr sz="1800" b="1" i="0" lang="en-US">
                <a:solidFill>
                  <a:srgbClr val="FF9B42"/>
                </a:solidFill>
                <a:latin typeface="Orbitron"/>
              </a:rPr>
              <a:t>03  </a:t>
            </a:r>
            <a:r>
              <a:rPr sz="2300" b="1" i="0" lang="en-US">
                <a:solidFill>
                  <a:srgbClr val="FFFFFF"/>
                </a:solidFill>
                <a:latin typeface="Open Sans"/>
              </a:rPr>
              <a:t>Modular task design</a:t>
            </a:r>
            <a:r>
              <a:rPr sz="2300" b="0" i="0" lang="en-US">
                <a:solidFill>
                  <a:srgbClr val="DFE9FB"/>
                </a:solidFill>
                <a:latin typeface="Open Sans"/>
              </a:rPr>
              <a:t> — new cognitive tasks can be added without rebuilding the system</a:t>
            </a:r>
          </a:p>
          <a:p>
            <a:pPr algn="l">
              <a:lnSpc>
                <a:spcPct val="124000"/>
              </a:lnSpc>
              <a:spcAft>
                <a:spcPts val="900"/>
              </a:spcAft>
            </a:pPr>
            <a:r>
              <a:rPr sz="1800" b="1" i="0" lang="en-US">
                <a:solidFill>
                  <a:srgbClr val="FF9B42"/>
                </a:solidFill>
                <a:latin typeface="Orbitron"/>
              </a:rPr>
              <a:t>04  </a:t>
            </a:r>
            <a:r>
              <a:rPr sz="2300" b="1" i="0" lang="en-US">
                <a:solidFill>
                  <a:srgbClr val="FFFFFF"/>
                </a:solidFill>
                <a:latin typeface="Open Sans"/>
              </a:rPr>
              <a:t>3D asset integration</a:t>
            </a:r>
            <a:r>
              <a:rPr sz="2300" b="0" i="0" lang="en-US">
                <a:solidFill>
                  <a:srgbClr val="DFE9FB"/>
                </a:solidFill>
                <a:latin typeface="Open Sans"/>
              </a:rPr>
              <a:t> — AI-generated props needed Unity cleanup and adaptation</a:t>
            </a:r>
          </a:p>
        </p:txBody>
      </p:sp>
      <p:sp>
        <p:nvSpPr>
          <p:cNvPr id="309" name="Rounded Rectangle 308"/>
          <p:cNvSpPr/>
          <p:nvPr/>
        </p:nvSpPr>
        <p:spPr>
          <a:xfrm>
            <a:off x="20484000" y="23904000"/>
            <a:ext cx="9000000" cy="1062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20880000" y="24300000"/>
            <a:ext cx="90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4FD8FF"/>
                </a:solidFill>
                <a:latin typeface="Orbitron"/>
              </a:rPr>
              <a:t>08  </a:t>
            </a:r>
            <a:r>
              <a:rPr sz="3100" b="1" i="0" lang="en-US">
                <a:solidFill>
                  <a:srgbClr val="FFFFFF"/>
                </a:solidFill>
                <a:latin typeface="Orbitron"/>
              </a:rPr>
              <a:t>THE ASSESSOR REPORT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20880000" y="24984000"/>
            <a:ext cx="8208000" cy="12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50" b="0" i="0" lang="en-US">
                <a:solidFill>
                  <a:srgbClr val="E8F0FF"/>
                </a:solidFill>
                <a:latin typeface="Open Sans"/>
              </a:rPr>
              <a:t>Every mission ends with a </a:t>
            </a:r>
            <a:r>
              <a:rPr sz="2250" b="1" i="0" lang="en-US">
                <a:solidFill>
                  <a:srgbClr val="FFFFFF"/>
                </a:solidFill>
                <a:latin typeface="Open Sans"/>
              </a:rPr>
              <a:t>clear, auto-generated profile</a:t>
            </a:r>
            <a:r>
              <a:rPr sz="2250" b="0" i="0" lang="en-US">
                <a:solidFill>
                  <a:srgbClr val="E8F0FF"/>
                </a:solidFill>
                <a:latin typeface="Open Sans"/>
              </a:rPr>
              <a:t> — pass/fail per cognitive domain, plus a CSV with </a:t>
            </a:r>
            <a:r>
              <a:rPr sz="2250" b="1" i="0" lang="en-US">
                <a:solidFill>
                  <a:srgbClr val="FFFFFF"/>
                </a:solidFill>
                <a:latin typeface="Open Sans"/>
              </a:rPr>
              <a:t>~26 raw metrics</a:t>
            </a:r>
            <a:r>
              <a:rPr sz="2250" b="0" i="0" lang="en-US">
                <a:solidFill>
                  <a:srgbClr val="E8F0FF"/>
                </a:solidFill>
                <a:latin typeface="Open Sans"/>
              </a:rPr>
              <a:t> for research.</a:t>
            </a:r>
          </a:p>
        </p:txBody>
      </p:sp>
      <p:sp>
        <p:nvSpPr>
          <p:cNvPr id="312" name="Rounded Rectangle 311"/>
          <p:cNvSpPr/>
          <p:nvPr/>
        </p:nvSpPr>
        <p:spPr>
          <a:xfrm>
            <a:off x="20880000" y="26460000"/>
            <a:ext cx="8208000" cy="7092000"/>
          </a:xfrm>
          <a:prstGeom prst="roundRect">
            <a:avLst>
              <a:gd name="adj" fmla="val 4000"/>
            </a:avLst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21096000" y="26676000"/>
            <a:ext cx="5688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0F172A"/>
                </a:solidFill>
                <a:latin typeface="Open Sans"/>
              </a:rPr>
              <a:t>EXECUTIVE FUNCTION REPORT</a:t>
            </a:r>
          </a:p>
        </p:txBody>
      </p:sp>
      <p:sp>
        <p:nvSpPr>
          <p:cNvPr id="314" name="Rounded Rectangle 313"/>
          <p:cNvSpPr/>
          <p:nvPr/>
        </p:nvSpPr>
        <p:spPr>
          <a:xfrm>
            <a:off x="26856000" y="26640000"/>
            <a:ext cx="2016000" cy="378000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TextBox 314"/>
          <p:cNvSpPr txBox="1"/>
          <p:nvPr/>
        </p:nvSpPr>
        <p:spPr>
          <a:xfrm>
            <a:off x="26856000" y="26719200"/>
            <a:ext cx="201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300" b="1" i="0" lang="en-US">
                <a:solidFill>
                  <a:srgbClr val="FFFFFF"/>
                </a:solidFill>
                <a:latin typeface="Open Sans"/>
              </a:rPr>
              <a:t>AUTO-GENERATED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21096000" y="27126000"/>
            <a:ext cx="7776000" cy="18000"/>
          </a:xfrm>
          <a:prstGeom prst="rect">
            <a:avLst/>
          </a:prstGeom>
          <a:solidFill>
            <a:srgbClr val="D2D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ounded Rectangle 316"/>
          <p:cNvSpPr/>
          <p:nvPr/>
        </p:nvSpPr>
        <p:spPr>
          <a:xfrm>
            <a:off x="21096000" y="27270000"/>
            <a:ext cx="2472000" cy="86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21096000" y="27360000"/>
            <a:ext cx="2472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3000" b="1" i="0" lang="en-US">
                <a:solidFill>
                  <a:srgbClr val="0F172A"/>
                </a:solidFill>
                <a:latin typeface="Open Sans"/>
              </a:rPr>
              <a:t>6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21096000" y="27846000"/>
            <a:ext cx="247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450" b="1" i="0" lang="en-US">
                <a:solidFill>
                  <a:srgbClr val="64748B"/>
                </a:solidFill>
                <a:latin typeface="Open Sans"/>
              </a:rPr>
              <a:t>TASKS</a:t>
            </a:r>
          </a:p>
        </p:txBody>
      </p:sp>
      <p:sp>
        <p:nvSpPr>
          <p:cNvPr id="320" name="Rounded Rectangle 319"/>
          <p:cNvSpPr/>
          <p:nvPr/>
        </p:nvSpPr>
        <p:spPr>
          <a:xfrm>
            <a:off x="23748000" y="27270000"/>
            <a:ext cx="2472000" cy="86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23748000" y="27360000"/>
            <a:ext cx="2472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3000" b="1" i="0" lang="en-US">
                <a:solidFill>
                  <a:srgbClr val="16A34A"/>
                </a:solidFill>
                <a:latin typeface="Open Sans"/>
              </a:rPr>
              <a:t>5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23748000" y="27846000"/>
            <a:ext cx="247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450" b="1" i="0" lang="en-US">
                <a:solidFill>
                  <a:srgbClr val="64748B"/>
                </a:solidFill>
                <a:latin typeface="Open Sans"/>
              </a:rPr>
              <a:t>PASSED</a:t>
            </a:r>
          </a:p>
        </p:txBody>
      </p:sp>
      <p:sp>
        <p:nvSpPr>
          <p:cNvPr id="323" name="Rounded Rectangle 322"/>
          <p:cNvSpPr/>
          <p:nvPr/>
        </p:nvSpPr>
        <p:spPr>
          <a:xfrm>
            <a:off x="26400000" y="27270000"/>
            <a:ext cx="2472000" cy="86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TextBox 323"/>
          <p:cNvSpPr txBox="1"/>
          <p:nvPr/>
        </p:nvSpPr>
        <p:spPr>
          <a:xfrm>
            <a:off x="26400000" y="27360000"/>
            <a:ext cx="2472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3000" b="1" i="0" lang="en-US">
                <a:solidFill>
                  <a:srgbClr val="0F172A"/>
                </a:solidFill>
                <a:latin typeface="Open Sans"/>
              </a:rPr>
              <a:t>83%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26400000" y="27846000"/>
            <a:ext cx="247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450" b="1" i="0" lang="en-US">
                <a:solidFill>
                  <a:srgbClr val="64748B"/>
                </a:solidFill>
                <a:latin typeface="Open Sans"/>
              </a:rPr>
              <a:t>ACCURACY</a:t>
            </a:r>
          </a:p>
        </p:txBody>
      </p:sp>
      <p:sp>
        <p:nvSpPr>
          <p:cNvPr id="326" name="Rounded Rectangle 325"/>
          <p:cNvSpPr/>
          <p:nvPr/>
        </p:nvSpPr>
        <p:spPr>
          <a:xfrm>
            <a:off x="21096000" y="28314000"/>
            <a:ext cx="7776000" cy="113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21096000" y="28314000"/>
            <a:ext cx="64800" cy="113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21294000" y="28404000"/>
            <a:ext cx="633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50" b="1" i="0" lang="en-US">
                <a:solidFill>
                  <a:srgbClr val="0F172A"/>
                </a:solidFill>
                <a:latin typeface="Open Sans"/>
              </a:rPr>
              <a:t>INHIBIT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21294000" y="28800000"/>
            <a:ext cx="633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600" b="0" i="0" lang="en-US">
                <a:solidFill>
                  <a:srgbClr val="475569"/>
                </a:solidFill>
                <a:latin typeface="Open Sans"/>
              </a:rPr>
              <a:t>Stroop console · 100% accuracy · RT 1563 ms</a:t>
            </a:r>
          </a:p>
        </p:txBody>
      </p:sp>
      <p:sp>
        <p:nvSpPr>
          <p:cNvPr id="330" name="Rounded Rectangle 329"/>
          <p:cNvSpPr/>
          <p:nvPr/>
        </p:nvSpPr>
        <p:spPr>
          <a:xfrm>
            <a:off x="27864000" y="28719000"/>
            <a:ext cx="828000" cy="32400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27864000" y="28773000"/>
            <a:ext cx="828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450" b="1" i="0" lang="en-US">
                <a:solidFill>
                  <a:srgbClr val="FFFFFF"/>
                </a:solidFill>
                <a:latin typeface="Open Sans"/>
              </a:rPr>
              <a:t>PASS</a:t>
            </a:r>
          </a:p>
        </p:txBody>
      </p:sp>
      <p:sp>
        <p:nvSpPr>
          <p:cNvPr id="332" name="Rounded Rectangle 331"/>
          <p:cNvSpPr/>
          <p:nvPr/>
        </p:nvSpPr>
        <p:spPr>
          <a:xfrm>
            <a:off x="21096000" y="29610000"/>
            <a:ext cx="7776000" cy="113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21096000" y="29610000"/>
            <a:ext cx="64800" cy="113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21294000" y="29700000"/>
            <a:ext cx="633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50" b="1" i="0" lang="en-US">
                <a:solidFill>
                  <a:srgbClr val="0F172A"/>
                </a:solidFill>
                <a:latin typeface="Open Sans"/>
              </a:rPr>
              <a:t>WORKING MEMORY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21294000" y="30096000"/>
            <a:ext cx="633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600" b="0" i="0" lang="en-US">
                <a:solidFill>
                  <a:srgbClr val="475569"/>
                </a:solidFill>
                <a:latin typeface="Open Sans"/>
              </a:rPr>
              <a:t>Code recall · 0 wrong keys</a:t>
            </a:r>
          </a:p>
        </p:txBody>
      </p:sp>
      <p:sp>
        <p:nvSpPr>
          <p:cNvPr id="336" name="Rounded Rectangle 335"/>
          <p:cNvSpPr/>
          <p:nvPr/>
        </p:nvSpPr>
        <p:spPr>
          <a:xfrm>
            <a:off x="27864000" y="30015000"/>
            <a:ext cx="828000" cy="32400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27864000" y="30069000"/>
            <a:ext cx="828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450" b="1" i="0" lang="en-US">
                <a:solidFill>
                  <a:srgbClr val="FFFFFF"/>
                </a:solidFill>
                <a:latin typeface="Open Sans"/>
              </a:rPr>
              <a:t>PASS</a:t>
            </a:r>
          </a:p>
        </p:txBody>
      </p:sp>
      <p:sp>
        <p:nvSpPr>
          <p:cNvPr id="338" name="Rounded Rectangle 337"/>
          <p:cNvSpPr/>
          <p:nvPr/>
        </p:nvSpPr>
        <p:spPr>
          <a:xfrm>
            <a:off x="21096000" y="30906000"/>
            <a:ext cx="7776000" cy="113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21096000" y="30906000"/>
            <a:ext cx="64800" cy="113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21294000" y="30996000"/>
            <a:ext cx="633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50" b="1" i="0" lang="en-US">
                <a:solidFill>
                  <a:srgbClr val="0F172A"/>
                </a:solidFill>
                <a:latin typeface="Open Sans"/>
              </a:rPr>
              <a:t>TASK MONITOR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21294000" y="31392000"/>
            <a:ext cx="633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600" b="0" i="0" lang="en-US">
                <a:solidFill>
                  <a:srgbClr val="475569"/>
                </a:solidFill>
                <a:latin typeface="Open Sans"/>
              </a:rPr>
              <a:t>Radar scan · d′ 3.17 · 0 false alarms</a:t>
            </a:r>
          </a:p>
        </p:txBody>
      </p:sp>
      <p:sp>
        <p:nvSpPr>
          <p:cNvPr id="342" name="Rounded Rectangle 341"/>
          <p:cNvSpPr/>
          <p:nvPr/>
        </p:nvSpPr>
        <p:spPr>
          <a:xfrm>
            <a:off x="27864000" y="31311000"/>
            <a:ext cx="828000" cy="32400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TextBox 342"/>
          <p:cNvSpPr txBox="1"/>
          <p:nvPr/>
        </p:nvSpPr>
        <p:spPr>
          <a:xfrm>
            <a:off x="27864000" y="31365000"/>
            <a:ext cx="828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450" b="1" i="0" lang="en-US">
                <a:solidFill>
                  <a:srgbClr val="FFFFFF"/>
                </a:solidFill>
                <a:latin typeface="Open Sans"/>
              </a:rPr>
              <a:t>PASS</a:t>
            </a:r>
          </a:p>
        </p:txBody>
      </p:sp>
      <p:sp>
        <p:nvSpPr>
          <p:cNvPr id="344" name="Rounded Rectangle 343"/>
          <p:cNvSpPr/>
          <p:nvPr/>
        </p:nvSpPr>
        <p:spPr>
          <a:xfrm>
            <a:off x="21096000" y="32202000"/>
            <a:ext cx="7776000" cy="113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21096000" y="32202000"/>
            <a:ext cx="64800" cy="113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21294000" y="32292000"/>
            <a:ext cx="633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50" b="1" i="0" lang="en-US">
                <a:solidFill>
                  <a:srgbClr val="0F172A"/>
                </a:solidFill>
                <a:latin typeface="Open Sans"/>
              </a:rPr>
              <a:t>PLAN / ORGANIZE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21294000" y="32688000"/>
            <a:ext cx="633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600" b="0" i="0" lang="en-US">
                <a:solidFill>
                  <a:srgbClr val="475569"/>
                </a:solidFill>
                <a:latin typeface="Open Sans"/>
              </a:rPr>
              <a:t>Power cell run · delivered on time</a:t>
            </a:r>
          </a:p>
        </p:txBody>
      </p:sp>
      <p:sp>
        <p:nvSpPr>
          <p:cNvPr id="348" name="Rounded Rectangle 347"/>
          <p:cNvSpPr/>
          <p:nvPr/>
        </p:nvSpPr>
        <p:spPr>
          <a:xfrm>
            <a:off x="27864000" y="32607000"/>
            <a:ext cx="828000" cy="32400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27864000" y="32661000"/>
            <a:ext cx="828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450" b="1" i="0" lang="en-US">
                <a:solidFill>
                  <a:srgbClr val="FFFFFF"/>
                </a:solidFill>
                <a:latin typeface="Open Sans"/>
              </a:rPr>
              <a:t>PASS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20880000" y="33696000"/>
            <a:ext cx="8208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850" b="1" i="0" lang="en-US">
                <a:solidFill>
                  <a:srgbClr val="FFFFFF"/>
                </a:solidFill>
                <a:latin typeface="Open Sans"/>
              </a:rPr>
              <a:t>Sample from a real session</a:t>
            </a:r>
            <a:r>
              <a:rPr sz="1850" b="0" i="0" lang="en-US">
                <a:solidFill>
                  <a:srgbClr val="DFE9FB"/>
                </a:solidFill>
                <a:latin typeface="Open Sans"/>
              </a:rPr>
              <a:t> — the full HTML report opens in any browser.</a:t>
            </a:r>
          </a:p>
        </p:txBody>
      </p:sp>
      <p:sp>
        <p:nvSpPr>
          <p:cNvPr id="351" name="Rounded Rectangle 350"/>
          <p:cNvSpPr/>
          <p:nvPr/>
        </p:nvSpPr>
        <p:spPr>
          <a:xfrm>
            <a:off x="20484000" y="34956000"/>
            <a:ext cx="9000000" cy="3744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ounded Rectangle 351"/>
          <p:cNvSpPr/>
          <p:nvPr/>
        </p:nvSpPr>
        <p:spPr>
          <a:xfrm>
            <a:off x="20736000" y="35352000"/>
            <a:ext cx="2952000" cy="295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3" name="Picture 352" descr="qr_githu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880000" y="35496000"/>
            <a:ext cx="2664000" cy="2664000"/>
          </a:xfrm>
          <a:prstGeom prst="rect">
            <a:avLst/>
          </a:prstGeom>
        </p:spPr>
      </p:pic>
      <p:sp>
        <p:nvSpPr>
          <p:cNvPr id="354" name="TextBox 353"/>
          <p:cNvSpPr txBox="1"/>
          <p:nvPr/>
        </p:nvSpPr>
        <p:spPr>
          <a:xfrm>
            <a:off x="23976000" y="35388000"/>
            <a:ext cx="5148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00" b="1" i="0" lang="en-US">
                <a:solidFill>
                  <a:srgbClr val="FFFFFF"/>
                </a:solidFill>
                <a:latin typeface="Orbitron"/>
              </a:rPr>
              <a:t>FULL CODE &amp; DOCS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23976000" y="35928000"/>
            <a:ext cx="5148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50" b="1" i="0" lang="en-US">
                <a:solidFill>
                  <a:srgbClr val="FFFFFF"/>
                </a:solidFill>
                <a:latin typeface="Open Sans"/>
              </a:rPr>
              <a:t>github.com/ lidorbenhamo26/ Final-Project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23976000" y="37332000"/>
            <a:ext cx="5148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 lang="en-US">
                <a:solidFill>
                  <a:srgbClr val="DFE9FB"/>
                </a:solidFill>
                <a:latin typeface="Open Sans"/>
              </a:rPr>
              <a:t>Unity project · project book · demo video</a:t>
            </a:r>
          </a:p>
        </p:txBody>
      </p:sp>
      <p:sp>
        <p:nvSpPr>
          <p:cNvPr id="357" name="Rounded Rectangle 356"/>
          <p:cNvSpPr/>
          <p:nvPr/>
        </p:nvSpPr>
        <p:spPr>
          <a:xfrm>
            <a:off x="756000" y="39024000"/>
            <a:ext cx="28764000" cy="2376000"/>
          </a:xfrm>
          <a:prstGeom prst="roundRect">
            <a:avLst>
              <a:gd name="adj" fmla="val 9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ounded Rectangle 357"/>
          <p:cNvSpPr/>
          <p:nvPr/>
        </p:nvSpPr>
        <p:spPr>
          <a:xfrm>
            <a:off x="799200" y="39067200"/>
            <a:ext cx="28677600" cy="2289600"/>
          </a:xfrm>
          <a:prstGeom prst="roundRect">
            <a:avLst>
              <a:gd name="adj" fmla="val 9000"/>
            </a:avLst>
          </a:prstGeom>
          <a:solidFill>
            <a:srgbClr val="0B1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TextBox 358"/>
          <p:cNvSpPr txBox="1"/>
          <p:nvPr/>
        </p:nvSpPr>
        <p:spPr>
          <a:xfrm>
            <a:off x="792000" y="39348000"/>
            <a:ext cx="25200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5300" b="1" i="0" lang="en-US">
                <a:solidFill>
                  <a:srgbClr val="FFFFFF"/>
                </a:solidFill>
                <a:latin typeface="Orbitron"/>
              </a:rPr>
              <a:t>Not a test — </a:t>
            </a:r>
            <a:r>
              <a:rPr sz="5300" b="1" i="0" lang="en-US">
                <a:solidFill>
                  <a:srgbClr val="4FD8FF"/>
                </a:solidFill>
                <a:latin typeface="Orbitron"/>
              </a:rPr>
              <a:t>a mission that measures.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792000" y="40572000"/>
            <a:ext cx="2520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2400" b="0" i="0" lang="en-US">
                <a:solidFill>
                  <a:srgbClr val="DFE9FB"/>
                </a:solidFill>
                <a:latin typeface="Open Sans"/>
              </a:rPr>
              <a:t>A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10-minute space mission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produces an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executive-function profile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while keeping the player engaged.</a:t>
            </a:r>
          </a:p>
        </p:txBody>
      </p:sp>
      <p:sp>
        <p:nvSpPr>
          <p:cNvPr id="361" name="Rounded Rectangle 360"/>
          <p:cNvSpPr/>
          <p:nvPr/>
        </p:nvSpPr>
        <p:spPr>
          <a:xfrm>
            <a:off x="24048000" y="39564000"/>
            <a:ext cx="3024000" cy="504000"/>
          </a:xfrm>
          <a:prstGeom prst="roundRect">
            <a:avLst>
              <a:gd name="adj" fmla="val 50000"/>
            </a:avLst>
          </a:prstGeom>
          <a:solidFill>
            <a:srgbClr val="102A44"/>
          </a:solidFill>
          <a:ln w="8890">
            <a:solidFill>
              <a:srgbClr val="9FD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24048000" y="39679200"/>
            <a:ext cx="3024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550" b="1" i="0" lang="en-US">
                <a:solidFill>
                  <a:srgbClr val="9FDCFF"/>
                </a:solidFill>
                <a:latin typeface="Open Sans"/>
              </a:rPr>
              <a:t>Ready for launch!</a:t>
            </a:r>
          </a:p>
        </p:txBody>
      </p:sp>
      <p:pic>
        <p:nvPicPr>
          <p:cNvPr id="363" name="Picture 362" descr="char_wav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144000" y="39204000"/>
            <a:ext cx="1190787" cy="2088000"/>
          </a:xfrm>
          <a:prstGeom prst="rect">
            <a:avLst/>
          </a:prstGeom>
        </p:spPr>
      </p:pic>
      <p:sp>
        <p:nvSpPr>
          <p:cNvPr id="364" name="Rectangle 363"/>
          <p:cNvSpPr/>
          <p:nvPr/>
        </p:nvSpPr>
        <p:spPr>
          <a:xfrm>
            <a:off x="0" y="42048000"/>
            <a:ext cx="30276000" cy="756000"/>
          </a:xfrm>
          <a:prstGeom prst="rect">
            <a:avLst/>
          </a:prstGeom>
          <a:solidFill>
            <a:srgbClr val="050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0" y="42048000"/>
            <a:ext cx="30276000" cy="28800"/>
          </a:xfrm>
          <a:prstGeom prst="rect">
            <a:avLst/>
          </a:prstGeom>
          <a:solidFill>
            <a:srgbClr val="3E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0" y="42246000"/>
            <a:ext cx="3027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750" b="1" i="0" lang="en-US">
                <a:solidFill>
                  <a:srgbClr val="FFFFFF"/>
                </a:solidFill>
                <a:latin typeface="Open Sans"/>
              </a:rPr>
              <a:t>Braude College of Engineering, Karmiel</a:t>
            </a:r>
            <a:r>
              <a:rPr sz="1750" b="0" i="0" lang="en-US">
                <a:solidFill>
                  <a:srgbClr val="DFE9FB"/>
                </a:solidFill>
                <a:latin typeface="Open Sans"/>
              </a:rPr>
              <a:t>   ◆   Department of Software Engineering &amp; Information Systems   ◆   Capstone Project 61999 — Phase B   ◆   </a:t>
            </a:r>
            <a:r>
              <a:rPr sz="1750" b="1" i="0" lang="en-US">
                <a:solidFill>
                  <a:srgbClr val="FFFFFF"/>
                </a:solidFill>
                <a:latin typeface="Open Sans"/>
              </a:rPr>
              <a:t>2026</a:t>
            </a:r>
          </a:p>
        </p:txBody>
      </p:sp>
      <p:pic>
        <p:nvPicPr>
          <p:cNvPr id="367" name="Picture 366" descr="logo_g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264000" y="2016000"/>
            <a:ext cx="5148337" cy="4968000"/>
          </a:xfrm>
          <a:prstGeom prst="rect">
            <a:avLst/>
          </a:prstGeom>
        </p:spPr>
      </p:pic>
      <p:pic>
        <p:nvPicPr>
          <p:cNvPr id="368" name="Picture 367" descr="char_her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212000" y="2520000"/>
            <a:ext cx="2051033" cy="403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