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728000" y="648000"/>
            <a:ext cx="5832000" cy="558000"/>
          </a:xfrm>
          <a:prstGeom prst="roundRect">
            <a:avLst>
              <a:gd name="adj" fmla="val 50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728000" y="770400"/>
            <a:ext cx="58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76000" y="648000"/>
            <a:ext cx="3708000" cy="558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76000" y="770400"/>
            <a:ext cx="37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20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56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3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3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3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5940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Advisor: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Oval 232"/>
          <p:cNvSpPr/>
          <p:nvPr/>
        </p:nvSpPr>
        <p:spPr>
          <a:xfrm>
            <a:off x="23328000" y="1008000"/>
            <a:ext cx="4968000" cy="4968000"/>
          </a:xfrm>
          <a:prstGeom prst="ellipse">
            <a:avLst/>
          </a:prstGeom>
          <a:solidFill>
            <a:srgbClr val="0B1E3E"/>
          </a:solidFill>
          <a:ln w="2540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4" name="Picture 233" descr="char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2000" y="1440000"/>
            <a:ext cx="2710294" cy="5328000"/>
          </a:xfrm>
          <a:prstGeom prst="rect">
            <a:avLst/>
          </a:prstGeom>
        </p:spPr>
      </p:pic>
      <p:sp>
        <p:nvSpPr>
          <p:cNvPr id="235" name="Rounded Rectangle 234"/>
          <p:cNvSpPr/>
          <p:nvPr/>
        </p:nvSpPr>
        <p:spPr>
          <a:xfrm>
            <a:off x="792000" y="7200000"/>
            <a:ext cx="9000000" cy="6048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188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188000" y="8208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0" i="0" lang="en-US">
                <a:solidFill>
                  <a:srgbClr val="DFE9FB"/>
                </a:solidFill>
                <a:latin typeface="Open Sans"/>
              </a:rPr>
              <a:t>Executive-function assessment still leans on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and dry lab drills: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188000" y="9180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scores drop with motivation, not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, especially for children and young adults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little objective, trial-level data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188000" y="11808000"/>
            <a:ext cx="8208000" cy="1044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404000" y="119520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D9B3"/>
                </a:solidFill>
                <a:latin typeface="Open Sans"/>
              </a:rPr>
              <a:t>The need: measurement that is objective, repeatable — and actually fun to take.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792000" y="13536000"/>
            <a:ext cx="9000000" cy="68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188000" y="13932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4544000"/>
            <a:ext cx="820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Mission Focus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embeds the assessment inside a 10-minute space mission — each problem above gets a built-in answer: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188000" y="15552000"/>
            <a:ext cx="1584000" cy="450000"/>
          </a:xfrm>
          <a:prstGeom prst="roundRect">
            <a:avLst>
              <a:gd name="adj" fmla="val 18000"/>
            </a:avLst>
          </a:prstGeom>
          <a:solidFill>
            <a:srgbClr val="33241A"/>
          </a:solidFill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188000" y="15651000"/>
            <a:ext cx="1584000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 lang="en-US">
                <a:solidFill>
                  <a:srgbClr val="FFC08A"/>
                </a:solidFill>
                <a:latin typeface="Orbitron"/>
              </a:rPr>
              <a:t>STRESS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2988000" y="15516000"/>
            <a:ext cx="6408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E8F0FF"/>
                </a:solidFill>
                <a:latin typeface="Open Sans"/>
              </a:rPr>
              <a:t>Assessment is embedded inside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meaningful repair tasks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— participants play rather than feel tested, so performance is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less distorted by test anxiety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.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1188000" y="16668000"/>
            <a:ext cx="1584000" cy="450000"/>
          </a:xfrm>
          <a:prstGeom prst="roundRect">
            <a:avLst>
              <a:gd name="adj" fmla="val 18000"/>
            </a:avLst>
          </a:prstGeom>
          <a:solidFill>
            <a:srgbClr val="33241A"/>
          </a:solidFill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188000" y="16767000"/>
            <a:ext cx="1584000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 lang="en-US">
                <a:solidFill>
                  <a:srgbClr val="FFC08A"/>
                </a:solidFill>
                <a:latin typeface="Orbitron"/>
              </a:rPr>
              <a:t>BOREDOM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2988000" y="16632000"/>
            <a:ext cx="6408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E8F0FF"/>
                </a:solidFill>
                <a:latin typeface="Open Sans"/>
              </a:rPr>
              <a:t>A live mission with a real goal — keep the station alive —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sustains motivation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for the full session, for kids and adults.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1188000" y="17784000"/>
            <a:ext cx="1584000" cy="684000"/>
          </a:xfrm>
          <a:prstGeom prst="roundRect">
            <a:avLst>
              <a:gd name="adj" fmla="val 18000"/>
            </a:avLst>
          </a:prstGeom>
          <a:solidFill>
            <a:srgbClr val="33241A"/>
          </a:solidFill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1188000" y="17895600"/>
            <a:ext cx="1584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 lang="en-US">
                <a:solidFill>
                  <a:srgbClr val="FFC08A"/>
                </a:solidFill>
                <a:latin typeface="Orbitron"/>
              </a:rPr>
              <a:t>SUBJECTIVE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 lang="en-US">
                <a:solidFill>
                  <a:srgbClr val="FFC08A"/>
                </a:solidFill>
                <a:latin typeface="Orbitron"/>
              </a:rPr>
              <a:t>DATA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2988000" y="17748000"/>
            <a:ext cx="6408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E8F0FF"/>
                </a:solidFill>
                <a:latin typeface="Open Sans"/>
              </a:rPr>
              <a:t>The scientific core: a silent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behavioral log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of what participants actually do —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RT, accuracy, omissions, impulsive actions, task completion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— objective evidence that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complements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BRIEF-style ratings and clinical judgment, not replaces them.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1188000" y="19548000"/>
            <a:ext cx="1584000" cy="450000"/>
          </a:xfrm>
          <a:prstGeom prst="roundRect">
            <a:avLst>
              <a:gd name="adj" fmla="val 18000"/>
            </a:avLst>
          </a:prstGeom>
          <a:solidFill>
            <a:srgbClr val="33241A"/>
          </a:solidFill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1188000" y="19647000"/>
            <a:ext cx="1584000" cy="4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 i="0" lang="en-US">
                <a:solidFill>
                  <a:srgbClr val="FFC08A"/>
                </a:solidFill>
                <a:latin typeface="Orbitron"/>
              </a:rPr>
              <a:t>PAPERWORK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2988000" y="19512000"/>
            <a:ext cx="6408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E8F0FF"/>
                </a:solidFill>
                <a:latin typeface="Open Sans"/>
              </a:rPr>
              <a:t>One click →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assessor-ready HTML report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+ analysis-ready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CSV</a:t>
            </a:r>
            <a:r>
              <a:rPr sz="2000" b="0" i="0" lang="en-US">
                <a:solidFill>
                  <a:srgbClr val="E8F0FF"/>
                </a:solidFill>
                <a:latin typeface="Open Sans"/>
              </a:rPr>
              <a:t> — no manual scoring.</a:t>
            </a:r>
          </a:p>
        </p:txBody>
      </p:sp>
      <p:sp>
        <p:nvSpPr>
          <p:cNvPr id="256" name="Rounded Rectangle 255"/>
          <p:cNvSpPr/>
          <p:nvPr/>
        </p:nvSpPr>
        <p:spPr>
          <a:xfrm>
            <a:off x="792000" y="20664000"/>
            <a:ext cx="9000000" cy="72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188000" y="21060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MAIN REQUIREMENTS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188000" y="2170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Playable 10-min mission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tutorial + voice guidance,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Measure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attention, working memory, inhibition, planning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and response accuracy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Per-trial logging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: reaction time, accuracy, omissions, false alarms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Assessor tools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: freeze (F11) and live report overlay (F12)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Export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HTML report + per-task CSV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per participant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Local-only data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privacy by design, no network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792000" y="28152000"/>
            <a:ext cx="9000000" cy="93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188000" y="2854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MISSION SNAPSHOTS</a:t>
            </a:r>
          </a:p>
        </p:txBody>
      </p:sp>
      <p:pic>
        <p:nvPicPr>
          <p:cNvPr id="261" name="Picture 260" descr="shot_radar.png"/>
          <p:cNvPicPr>
            <a:picLocks noChangeAspect="1"/>
          </p:cNvPicPr>
          <p:nvPr/>
        </p:nvPicPr>
        <p:blipFill>
          <a:blip r:embed="rId4"/>
          <a:srcRect t="4885" b="4885"/>
          <a:stretch>
            <a:fillRect/>
          </a:stretch>
        </p:blipFill>
        <p:spPr>
          <a:xfrm>
            <a:off x="1188000" y="29196000"/>
            <a:ext cx="3960000" cy="19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2" name="TextBox 261"/>
          <p:cNvSpPr txBox="1"/>
          <p:nvPr/>
        </p:nvSpPr>
        <p:spPr>
          <a:xfrm>
            <a:off x="1188000" y="312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Radar Scan console — attention trials</a:t>
            </a:r>
          </a:p>
        </p:txBody>
      </p:sp>
      <p:pic>
        <p:nvPicPr>
          <p:cNvPr id="263" name="Picture 262" descr="shot_station.png"/>
          <p:cNvPicPr>
            <a:picLocks noChangeAspect="1"/>
          </p:cNvPicPr>
          <p:nvPr/>
        </p:nvPicPr>
        <p:blipFill>
          <a:blip r:embed="rId5"/>
          <a:srcRect t="4727" b="4727"/>
          <a:stretch>
            <a:fillRect/>
          </a:stretch>
        </p:blipFill>
        <p:spPr>
          <a:xfrm>
            <a:off x="5436000" y="29196000"/>
            <a:ext cx="3960000" cy="19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4" name="TextBox 263"/>
          <p:cNvSpPr txBox="1"/>
          <p:nvPr/>
        </p:nvSpPr>
        <p:spPr>
          <a:xfrm>
            <a:off x="5436000" y="312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Aboard the station — memorize the code</a:t>
            </a:r>
          </a:p>
        </p:txBody>
      </p:sp>
      <p:pic>
        <p:nvPicPr>
          <p:cNvPr id="265" name="Picture 264" descr="shot_stroop.png"/>
          <p:cNvPicPr>
            <a:picLocks noChangeAspect="1"/>
          </p:cNvPicPr>
          <p:nvPr/>
        </p:nvPicPr>
        <p:blipFill>
          <a:blip r:embed="rId6"/>
          <a:srcRect t="5286" b="5286"/>
          <a:stretch>
            <a:fillRect/>
          </a:stretch>
        </p:blipFill>
        <p:spPr>
          <a:xfrm>
            <a:off x="1188000" y="31908000"/>
            <a:ext cx="3960000" cy="19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6" name="TextBox 265"/>
          <p:cNvSpPr txBox="1"/>
          <p:nvPr/>
        </p:nvSpPr>
        <p:spPr>
          <a:xfrm>
            <a:off x="1188000" y="339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Stroop console — match the ink color</a:t>
            </a:r>
          </a:p>
        </p:txBody>
      </p:sp>
      <p:pic>
        <p:nvPicPr>
          <p:cNvPr id="267" name="Picture 266" descr="shot_wires.png"/>
          <p:cNvPicPr>
            <a:picLocks noChangeAspect="1"/>
          </p:cNvPicPr>
          <p:nvPr/>
        </p:nvPicPr>
        <p:blipFill>
          <a:blip r:embed="rId7"/>
          <a:srcRect t="4986" b="4986"/>
          <a:stretch>
            <a:fillRect/>
          </a:stretch>
        </p:blipFill>
        <p:spPr>
          <a:xfrm>
            <a:off x="5436000" y="31908000"/>
            <a:ext cx="3960000" cy="19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68" name="TextBox 267"/>
          <p:cNvSpPr txBox="1"/>
          <p:nvPr/>
        </p:nvSpPr>
        <p:spPr>
          <a:xfrm>
            <a:off x="5436000" y="339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Life-Support wires — planning task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1188000" y="34620000"/>
            <a:ext cx="3960000" cy="1992000"/>
          </a:xfrm>
          <a:prstGeom prst="roundRect">
            <a:avLst>
              <a:gd name="adj" fmla="val 6000"/>
            </a:avLst>
          </a:prstGeom>
          <a:solidFill>
            <a:srgbClr val="102244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0" name="Picture 269" descr="char_stand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6750" y="34728000"/>
            <a:ext cx="962500" cy="1848000"/>
          </a:xfrm>
          <a:prstGeom prst="rect">
            <a:avLst/>
          </a:prstGeom>
        </p:spPr>
      </p:pic>
      <p:sp>
        <p:nvSpPr>
          <p:cNvPr id="271" name="TextBox 270"/>
          <p:cNvSpPr txBox="1"/>
          <p:nvPr/>
        </p:nvSpPr>
        <p:spPr>
          <a:xfrm>
            <a:off x="1188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Your astronaut — playable character</a:t>
            </a:r>
          </a:p>
        </p:txBody>
      </p:sp>
      <p:pic>
        <p:nvPicPr>
          <p:cNvPr id="272" name="Picture 271" descr="shot_report.png"/>
          <p:cNvPicPr>
            <a:picLocks noChangeAspect="1"/>
          </p:cNvPicPr>
          <p:nvPr/>
        </p:nvPicPr>
        <p:blipFill>
          <a:blip r:embed="rId9"/>
          <a:srcRect t="6505" b="6505"/>
          <a:stretch>
            <a:fillRect/>
          </a:stretch>
        </p:blipFill>
        <p:spPr>
          <a:xfrm>
            <a:off x="5436000" y="34620000"/>
            <a:ext cx="3960000" cy="19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73" name="TextBox 272"/>
          <p:cNvSpPr txBox="1"/>
          <p:nvPr/>
        </p:nvSpPr>
        <p:spPr>
          <a:xfrm>
            <a:off x="5436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0" i="0" lang="en-US">
                <a:solidFill>
                  <a:srgbClr val="AABDDF"/>
                </a:solidFill>
                <a:latin typeface="Open Sans"/>
              </a:rPr>
              <a:t>Assessor HTML report — EF profile</a:t>
            </a:r>
          </a:p>
        </p:txBody>
      </p:sp>
      <p:sp>
        <p:nvSpPr>
          <p:cNvPr id="274" name="Rounded Rectangle 273"/>
          <p:cNvSpPr/>
          <p:nvPr/>
        </p:nvSpPr>
        <p:spPr>
          <a:xfrm>
            <a:off x="10152000" y="7200000"/>
            <a:ext cx="9972000" cy="1098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0548000" y="7596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SYSTEM FLOW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10872000" y="90360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548000" y="83160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10548000" y="84312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1484000" y="82800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11484000" y="86940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DFE9FB"/>
                </a:solidFill>
                <a:latin typeface="Open Sans"/>
              </a:rPr>
              <a:t>ID, age and session details collected on a station terminal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10872000" y="109008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0548000" y="101808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0548000" y="102960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1484000" y="101448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484000" y="105588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DFE9FB"/>
                </a:solidFill>
                <a:latin typeface="Open Sans"/>
              </a:rPr>
              <a:t>Movement &amp; console training — skippable for returning participants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0872000" y="127656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0548000" y="120456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10548000" y="121608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1484000" y="120096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The Mission — 10 minutes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1484000" y="124236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DFE9FB"/>
                </a:solidFill>
                <a:latin typeface="Open Sans"/>
              </a:rPr>
              <a:t>Tasks spawn at </a:t>
            </a:r>
            <a:r>
              <a:rPr sz="2200" b="1" i="0" lang="en-US">
                <a:solidFill>
                  <a:srgbClr val="9FDCFF"/>
                </a:solidFill>
                <a:latin typeface="Open Sans"/>
              </a:rPr>
              <a:t>4 stations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every </a:t>
            </a:r>
            <a:r>
              <a:rPr sz="2200" b="1" i="0" lang="en-US">
                <a:solidFill>
                  <a:srgbClr val="9FDCFF"/>
                </a:solidFill>
                <a:latin typeface="Open Sans"/>
              </a:rPr>
              <a:t>15–25 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, up to </a:t>
            </a:r>
            <a:r>
              <a:rPr sz="2200" b="1" i="0" lang="en-US">
                <a:solidFill>
                  <a:srgbClr val="9FDCFF"/>
                </a:solidFill>
                <a:latin typeface="Open Sans"/>
              </a:rPr>
              <a:t>3 concurrent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10872000" y="146304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10548000" y="139104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548000" y="14025599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1484000" y="138744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Silent Telemetry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1484000" y="142884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DFE9FB"/>
                </a:solidFill>
                <a:latin typeface="Open Sans"/>
              </a:rPr>
              <a:t>Every trial logged: </a:t>
            </a:r>
            <a:r>
              <a:rPr sz="2200" b="1" i="0" lang="en-US">
                <a:solidFill>
                  <a:srgbClr val="9FDCFF"/>
                </a:solidFill>
                <a:latin typeface="Open Sans"/>
              </a:rPr>
              <a:t>reaction time, result, omissions, false alarms</a:t>
            </a:r>
          </a:p>
        </p:txBody>
      </p:sp>
      <p:sp>
        <p:nvSpPr>
          <p:cNvPr id="296" name="Oval 295"/>
          <p:cNvSpPr/>
          <p:nvPr/>
        </p:nvSpPr>
        <p:spPr>
          <a:xfrm>
            <a:off x="10548000" y="157752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548000" y="158904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1484000" y="157392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1484000" y="161532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9FDCFF"/>
                </a:solidFill>
                <a:latin typeface="Open Sans"/>
              </a:rPr>
              <a:t>HTML profile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by domain + </a:t>
            </a:r>
            <a:r>
              <a:rPr sz="2200" b="1" i="0" lang="en-US">
                <a:solidFill>
                  <a:srgbClr val="9FDCFF"/>
                </a:solidFill>
                <a:latin typeface="Open Sans"/>
              </a:rPr>
              <a:t>Task-Summary CSV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+ raw event log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10152000" y="18882000"/>
            <a:ext cx="9972000" cy="1188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548000" y="19278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COGNITIVE TASKS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10548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10836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RADAR SCAN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836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AABDDF"/>
                </a:solidFill>
                <a:latin typeface="Open Sans"/>
              </a:rPr>
              <a:t>NAVIGATION STATION</a:t>
            </a:r>
          </a:p>
        </p:txBody>
      </p:sp>
      <p:sp>
        <p:nvSpPr>
          <p:cNvPr id="305" name="Rounded Rectangle 304"/>
          <p:cNvSpPr/>
          <p:nvPr/>
        </p:nvSpPr>
        <p:spPr>
          <a:xfrm>
            <a:off x="10836000" y="20880000"/>
            <a:ext cx="3067199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10836000" y="20948400"/>
            <a:ext cx="3067199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4FD8FF"/>
                </a:solidFill>
                <a:latin typeface="Open Sans"/>
              </a:rPr>
              <a:t>ATTENTION · TASK-MONITOR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0836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Spot rare asteroid contacts among streams of debris —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40 rapid trials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, 1-second window.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836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pen Sans"/>
              </a:rPr>
              <a:t>Hits · False alarms · d′ sensitivity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15300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15588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CODE RECALL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5588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AABDDF"/>
                </a:solidFill>
                <a:latin typeface="Open Sans"/>
              </a:rPr>
              <a:t>ENGINE STATION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15588000" y="20880000"/>
            <a:ext cx="1879199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B1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15588000" y="20948400"/>
            <a:ext cx="1879199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B18CFF"/>
                </a:solidFill>
                <a:latin typeface="Open Sans"/>
              </a:rPr>
              <a:t>WORKING MEMORY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5588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Memorize a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4-digit reactor code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, hold it while crossing the station, recall it on a keypad.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5588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pen Sans"/>
              </a:rPr>
              <a:t>Recall accuracy · Typos · Timeout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10548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10836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STROOP CONSOLE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10836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AABDDF"/>
                </a:solidFill>
                <a:latin typeface="Open Sans"/>
              </a:rPr>
              <a:t>COMMS STATION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10836000" y="26190000"/>
            <a:ext cx="1404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10836000" y="26258400"/>
            <a:ext cx="1404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FF9B42"/>
                </a:solidFill>
                <a:latin typeface="Open Sans"/>
              </a:rPr>
              <a:t>INHIBITION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0836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Word and ink color disagree — answer by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color or meaning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as the rule flips. Plus a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Go/No-Go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variant.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0836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pen Sans"/>
              </a:rPr>
              <a:t>RT mean/SD · Commissions · Post-error slowing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15300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5588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POWER CELL RUN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5588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AABDDF"/>
                </a:solidFill>
                <a:latin typeface="Open Sans"/>
              </a:rPr>
              <a:t>LIFE-SUPPORT STATION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15588000" y="26190000"/>
            <a:ext cx="1998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5EE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5588000" y="26258400"/>
            <a:ext cx="199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5EE6A8"/>
                </a:solidFill>
                <a:latin typeface="Open Sans"/>
              </a:rPr>
              <a:t>PLAN · ORGANIZE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5588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Fetch a power cell, route it across the station and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re-wire the socket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before power drains —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100 s budget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.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5588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10152000" y="31464000"/>
            <a:ext cx="9972000" cy="6048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0548000" y="31860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UNDER THE HOOD — MEASUREMENT PIPELINE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10764000" y="32508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1016000" y="32706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Consolas"/>
              </a:rPr>
              <a:t>TaskStation</a:t>
            </a:r>
            <a:r>
              <a:rPr sz="1800" b="0" i="0" lang="en-US">
                <a:solidFill>
                  <a:srgbClr val="AABDDF"/>
                </a:solidFill>
                <a:latin typeface="Open Sans"/>
              </a:rPr>
              <a:t>   spawns the task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10764000" y="33444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11016000" y="33642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Consolas"/>
              </a:rPr>
              <a:t>CognitiveTaskBase</a:t>
            </a:r>
            <a:r>
              <a:rPr sz="1800" b="0" i="0" lang="en-US">
                <a:solidFill>
                  <a:srgbClr val="AABDDF"/>
                </a:solidFill>
                <a:latin typeface="Open Sans"/>
              </a:rPr>
              <a:t>   runs timed trials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10764000" y="34380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11016000" y="34578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Consolas"/>
              </a:rPr>
              <a:t>AssessmentResults</a:t>
            </a:r>
            <a:r>
              <a:rPr sz="1800" b="0" i="0" lang="en-US">
                <a:solidFill>
                  <a:srgbClr val="AABDDF"/>
                </a:solidFill>
                <a:latin typeface="Open Sans"/>
              </a:rPr>
              <a:t>   collects metrics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10764000" y="35316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016000" y="35514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Consolas"/>
              </a:rPr>
              <a:t>SessionManager</a:t>
            </a:r>
            <a:r>
              <a:rPr sz="1800" b="0" i="0" lang="en-US">
                <a:solidFill>
                  <a:srgbClr val="AABDDF"/>
                </a:solidFill>
                <a:latin typeface="Open Sans"/>
              </a:rPr>
              <a:t>   logs every event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10764000" y="36252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11016000" y="36450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Consolas"/>
              </a:rPr>
              <a:t>Exporters</a:t>
            </a:r>
            <a:r>
              <a:rPr sz="1800" b="0" i="0" lang="en-US">
                <a:solidFill>
                  <a:srgbClr val="AABDDF"/>
                </a:solidFill>
                <a:latin typeface="Open Sans"/>
              </a:rPr>
              <a:t>   HTML · CSV · raw log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10548000" y="32580000"/>
            <a:ext cx="43200" cy="4464000"/>
          </a:xfrm>
          <a:prstGeom prst="rect">
            <a:avLst/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ounded Rectangle 342"/>
          <p:cNvSpPr/>
          <p:nvPr/>
        </p:nvSpPr>
        <p:spPr>
          <a:xfrm>
            <a:off x="20484000" y="7200000"/>
            <a:ext cx="9000000" cy="57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20880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TECHNOLOGIES &amp; TOOLS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0880000" y="8244000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ounded Rectangle 345"/>
          <p:cNvSpPr/>
          <p:nvPr/>
        </p:nvSpPr>
        <p:spPr>
          <a:xfrm>
            <a:off x="21060000" y="8371028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21456000" y="8295428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Unity 6 · URP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3D engine &amp; rendering pipeline</a:t>
            </a:r>
          </a:p>
        </p:txBody>
      </p:sp>
      <p:sp>
        <p:nvSpPr>
          <p:cNvPr id="348" name="Rounded Rectangle 347"/>
          <p:cNvSpPr/>
          <p:nvPr/>
        </p:nvSpPr>
        <p:spPr>
          <a:xfrm>
            <a:off x="20880000" y="8868857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ounded Rectangle 348"/>
          <p:cNvSpPr/>
          <p:nvPr/>
        </p:nvSpPr>
        <p:spPr>
          <a:xfrm>
            <a:off x="21060000" y="8995885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21456000" y="8920285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gameplay &amp; assessment logic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20880000" y="9493714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21060000" y="9620742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21456000" y="9545142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Unity Input System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first-person controls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20880000" y="10118571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ounded Rectangle 354"/>
          <p:cNvSpPr/>
          <p:nvPr/>
        </p:nvSpPr>
        <p:spPr>
          <a:xfrm>
            <a:off x="21060000" y="10245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21456000" y="10170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TextMeshPro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HUD &amp; console UI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20880000" y="10743428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21060000" y="10870457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1456000" y="10794857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ElevenLabs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AI mission voice-overs</a:t>
            </a:r>
          </a:p>
        </p:txBody>
      </p:sp>
      <p:sp>
        <p:nvSpPr>
          <p:cNvPr id="360" name="Rounded Rectangle 359"/>
          <p:cNvSpPr/>
          <p:nvPr/>
        </p:nvSpPr>
        <p:spPr>
          <a:xfrm>
            <a:off x="20880000" y="11368285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ounded Rectangle 360"/>
          <p:cNvSpPr/>
          <p:nvPr/>
        </p:nvSpPr>
        <p:spPr>
          <a:xfrm>
            <a:off x="21060000" y="11495314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1456000" y="11419714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Meshy AI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3D station props &amp; consoles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20880000" y="11993142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ounded Rectangle 363"/>
          <p:cNvSpPr/>
          <p:nvPr/>
        </p:nvSpPr>
        <p:spPr>
          <a:xfrm>
            <a:off x="21060000" y="12120171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21456000" y="12044571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Git · GitHub</a:t>
            </a:r>
            <a:r>
              <a:rPr sz="1750" b="0" i="0" lang="en-US">
                <a:solidFill>
                  <a:srgbClr val="AABDDF"/>
                </a:solidFill>
                <a:latin typeface="Open Sans"/>
              </a:rPr>
              <a:t>  — version control &amp; delivery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20484000" y="13269600"/>
            <a:ext cx="9000000" cy="5328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20880000" y="136656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TESTING &amp; EVALUATION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0880000" y="143136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Quick-test mode</a:t>
            </a:r>
            <a:r>
              <a:rPr sz="2050" b="0" i="0" lang="en-US">
                <a:solidFill>
                  <a:srgbClr val="DFE9FB"/>
                </a:solidFill>
                <a:latin typeface="Open Sans"/>
              </a:rPr>
              <a:t> — the full pipeline exercised in 30-second missions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Deterministic seeds</a:t>
            </a:r>
            <a:r>
              <a:rPr sz="2050" b="0" i="0" lang="en-US">
                <a:solidFill>
                  <a:srgbClr val="DFE9FB"/>
                </a:solidFill>
                <a:latin typeface="Open Sans"/>
              </a:rPr>
              <a:t> — reproducible trial sequences for debugging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Assessor console verified mid-mission</a:t>
            </a:r>
            <a:r>
              <a:rPr sz="2050" b="0" i="0" lang="en-US">
                <a:solidFill>
                  <a:srgbClr val="DFE9FB"/>
                </a:solidFill>
                <a:latin typeface="Open Sans"/>
              </a:rPr>
              <a:t> — F11 freeze, F12 live report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Locale-safe CSV</a:t>
            </a:r>
            <a:r>
              <a:rPr sz="2050" b="0" i="0" lang="en-US">
                <a:solidFill>
                  <a:srgbClr val="DFE9FB"/>
                </a:solidFill>
                <a:latin typeface="Open Sans"/>
              </a:rPr>
              <a:t> — opens clean in Excel, R and Python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Pilot playtests</a:t>
            </a:r>
            <a:r>
              <a:rPr sz="2050" b="0" i="0" lang="en-US">
                <a:solidFill>
                  <a:srgbClr val="DFE9FB"/>
                </a:solidFill>
                <a:latin typeface="Open Sans"/>
              </a:rPr>
              <a:t> + peer-examiner demo ahead of the exhibition</a:t>
            </a:r>
          </a:p>
        </p:txBody>
      </p:sp>
      <p:sp>
        <p:nvSpPr>
          <p:cNvPr id="369" name="Rounded Rectangle 368"/>
          <p:cNvSpPr/>
          <p:nvPr/>
        </p:nvSpPr>
        <p:spPr>
          <a:xfrm>
            <a:off x="20484000" y="18907200"/>
            <a:ext cx="9000000" cy="702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0880000" y="193032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CHALLENGES &amp; INSIGHTS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880000" y="19951200"/>
            <a:ext cx="8208000" cy="4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Fun vs. validity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 — free-roam play, yet strict stimulus timing inside every console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 — world-space consoles and voice guidance keep the “test” out of sight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Many paradigms, one core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 — a shared task framework: a new task is one script, metrics flow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AI asset pipeline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 — AI-generated 3D models needed URP material and scale rework</a:t>
            </a:r>
          </a:p>
        </p:txBody>
      </p:sp>
      <p:sp>
        <p:nvSpPr>
          <p:cNvPr id="372" name="Rounded Rectangle 371"/>
          <p:cNvSpPr/>
          <p:nvPr/>
        </p:nvSpPr>
        <p:spPr>
          <a:xfrm>
            <a:off x="20880000" y="24487200"/>
            <a:ext cx="8208000" cy="104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21096000" y="246312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0" i="1" lang="en-US">
                <a:solidFill>
                  <a:srgbClr val="9FDCFF"/>
                </a:solidFill>
                <a:latin typeface="Open Sans"/>
              </a:rPr>
              <a:t>Players forget they are being measured — and strict timing is exactly what keeps the data meaningful.</a:t>
            </a:r>
          </a:p>
        </p:txBody>
      </p:sp>
      <p:sp>
        <p:nvSpPr>
          <p:cNvPr id="374" name="Rounded Rectangle 373"/>
          <p:cNvSpPr/>
          <p:nvPr/>
        </p:nvSpPr>
        <p:spPr>
          <a:xfrm>
            <a:off x="20484000" y="26236800"/>
            <a:ext cx="9000000" cy="5256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20880000" y="266328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09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PROJECT REVIEW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0880000" y="27280800"/>
            <a:ext cx="8208000" cy="38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Goals met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— all four cognitive domains playable end-to-end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~26 metrics per session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exported: HTML + CSV + raw event log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Demo-ready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— stable 10-minute missions with assessor tools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FF9B42"/>
                </a:solidFill>
                <a:latin typeface="Open Sans"/>
              </a:rPr>
              <a:t>↻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In hindsight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— build the measurement core first, playtest earlier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4FD8FF"/>
                </a:solidFill>
                <a:latin typeface="Open Sans"/>
              </a:rPr>
              <a:t>→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Next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— validation study against standard BRIEF-A scores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20484000" y="31802400"/>
            <a:ext cx="9000000" cy="3312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20448000" y="31766400"/>
            <a:ext cx="9072000" cy="3384000"/>
          </a:xfrm>
          <a:prstGeom prst="roundRect">
            <a:avLst>
              <a:gd name="adj" fmla="val 6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20505600" y="31824000"/>
            <a:ext cx="8956800" cy="3268800"/>
          </a:xfrm>
          <a:prstGeom prst="roundRect">
            <a:avLst>
              <a:gd name="adj" fmla="val 6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20880000" y="321984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10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KEY TAKEAWAY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0880000" y="32846400"/>
            <a:ext cx="820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300" b="0" i="0" lang="en-US">
                <a:solidFill>
                  <a:srgbClr val="E8F0FF"/>
                </a:solidFill>
                <a:latin typeface="Open Sans"/>
              </a:rPr>
              <a:t>Assessment doesn't have to feel like a test. A </a:t>
            </a:r>
            <a:r>
              <a:rPr sz="2300" b="1" i="0" lang="en-US">
                <a:solidFill>
                  <a:srgbClr val="FF9B42"/>
                </a:solidFill>
                <a:latin typeface="Open Sans"/>
              </a:rPr>
              <a:t>10-minute space mission</a:t>
            </a:r>
            <a:r>
              <a:rPr sz="2300" b="0" i="0" lang="en-US">
                <a:solidFill>
                  <a:srgbClr val="E8F0FF"/>
                </a:solidFill>
                <a:latin typeface="Open Sans"/>
              </a:rPr>
              <a:t> can quietly produce a </a:t>
            </a:r>
            <a:r>
              <a:rPr sz="2300" b="1" i="0" lang="en-US">
                <a:solidFill>
                  <a:srgbClr val="4FD8FF"/>
                </a:solidFill>
                <a:latin typeface="Open Sans"/>
              </a:rPr>
              <a:t>full executive-function profile</a:t>
            </a:r>
            <a:r>
              <a:rPr sz="2300" b="0" i="0" lang="en-US">
                <a:solidFill>
                  <a:srgbClr val="E8F0FF"/>
                </a:solidFill>
                <a:latin typeface="Open Sans"/>
              </a:rPr>
              <a:t> — engagement and measurement in the same loop.</a:t>
            </a:r>
          </a:p>
        </p:txBody>
      </p:sp>
      <p:sp>
        <p:nvSpPr>
          <p:cNvPr id="382" name="Rounded Rectangle 381"/>
          <p:cNvSpPr/>
          <p:nvPr/>
        </p:nvSpPr>
        <p:spPr>
          <a:xfrm>
            <a:off x="20484000" y="35424000"/>
            <a:ext cx="9000000" cy="2088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ounded Rectangle 382"/>
          <p:cNvSpPr/>
          <p:nvPr/>
        </p:nvSpPr>
        <p:spPr>
          <a:xfrm>
            <a:off x="20736000" y="35640000"/>
            <a:ext cx="1728000" cy="172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4" name="Picture 383" descr="qr_githu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44000" y="35748000"/>
            <a:ext cx="1512000" cy="1512000"/>
          </a:xfrm>
          <a:prstGeom prst="rect">
            <a:avLst/>
          </a:prstGeom>
        </p:spPr>
      </p:pic>
      <p:sp>
        <p:nvSpPr>
          <p:cNvPr id="385" name="TextBox 384"/>
          <p:cNvSpPr txBox="1"/>
          <p:nvPr/>
        </p:nvSpPr>
        <p:spPr>
          <a:xfrm>
            <a:off x="22680000" y="35784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22680000" y="3621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9FDCFF"/>
                </a:solidFill>
                <a:latin typeface="Open Sans"/>
              </a:rPr>
              <a:t>github.com/lidorbenhamo26/Final-Project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22680000" y="3657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AABDDF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792000" y="38016000"/>
            <a:ext cx="28692000" cy="2448000"/>
          </a:xfrm>
          <a:prstGeom prst="roundRect">
            <a:avLst>
              <a:gd name="adj" fmla="val 8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AABDDF"/>
                </a:solidFill>
                <a:latin typeface="Open Sans"/>
              </a:rPr>
              <a:t>COGNITIVE STATIONS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68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FF9B42"/>
                </a:solidFill>
                <a:latin typeface="Orbitron"/>
              </a:rPr>
              <a:t>10 MIN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68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AABDDF"/>
                </a:solidFill>
                <a:latin typeface="Open Sans"/>
              </a:rPr>
              <a:t>ONE FULL MISSION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67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122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B18CFF"/>
                </a:solidFill>
                <a:latin typeface="Orbitron"/>
              </a:rPr>
              <a:t>~26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22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AABDDF"/>
                </a:solidFill>
                <a:latin typeface="Open Sans"/>
              </a:rPr>
              <a:t>METRICS PER SESSION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121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176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5EE6A8"/>
                </a:solidFill>
                <a:latin typeface="Orbitron"/>
              </a:rPr>
              <a:t>3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76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AABDDF"/>
                </a:solidFill>
                <a:latin typeface="Open Sans"/>
              </a:rPr>
              <a:t>EXPORT ARTIFACTS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175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0" name="Picture 399" descr="char_wa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12000" y="37512000"/>
            <a:ext cx="1642464" cy="2880000"/>
          </a:xfrm>
          <a:prstGeom prst="rect">
            <a:avLst/>
          </a:prstGeom>
        </p:spPr>
      </p:pic>
      <p:sp>
        <p:nvSpPr>
          <p:cNvPr id="401" name="Rounded Rectangle 400"/>
          <p:cNvSpPr/>
          <p:nvPr/>
        </p:nvSpPr>
        <p:spPr>
          <a:xfrm>
            <a:off x="23328000" y="38232000"/>
            <a:ext cx="3168000" cy="540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23328000" y="38354400"/>
            <a:ext cx="3168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DFE9FB"/>
                </a:solidFill>
                <a:latin typeface="Open Sans"/>
              </a:rPr>
              <a:t>Braude College of Engineering, Karmiel</a:t>
            </a:r>
            <a:r>
              <a:rPr sz="1700" b="0" i="0" lang="en-US">
                <a:solidFill>
                  <a:srgbClr val="AABDDF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700" b="1" i="0" lang="en-US">
                <a:solidFill>
                  <a:srgbClr val="DFE9FB"/>
                </a:solidFill>
                <a:latin typeface="Open San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