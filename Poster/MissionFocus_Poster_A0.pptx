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060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1882" y="13913173"/>
            <a:ext cx="28427" cy="28427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313382" y="15559948"/>
            <a:ext cx="21892" cy="21892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685956" y="41576533"/>
            <a:ext cx="29783" cy="29783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27258" y="37614686"/>
            <a:ext cx="17383" cy="1738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4502" y="17986063"/>
            <a:ext cx="31806" cy="31806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64227" y="8742686"/>
            <a:ext cx="21275" cy="2127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26929" y="38458291"/>
            <a:ext cx="16190" cy="16190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894664" y="12561952"/>
            <a:ext cx="24098" cy="240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33325" y="8637428"/>
            <a:ext cx="26670" cy="26670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557860" y="3335047"/>
            <a:ext cx="14974" cy="14974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433318" y="4903140"/>
            <a:ext cx="32206" cy="3220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85609" y="41197467"/>
            <a:ext cx="19871" cy="19871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542280" y="37381118"/>
            <a:ext cx="24653" cy="24653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24345" y="7754960"/>
            <a:ext cx="23944" cy="23944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65310" y="4105393"/>
            <a:ext cx="22928" cy="22928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754270" y="38396859"/>
            <a:ext cx="29181" cy="2918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115263" y="6024942"/>
            <a:ext cx="26634" cy="266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0417" y="9275164"/>
            <a:ext cx="12733" cy="1273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72008" y="8572951"/>
            <a:ext cx="25599" cy="25599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22931" y="41287255"/>
            <a:ext cx="15589" cy="15589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85960" y="41087768"/>
            <a:ext cx="29310" cy="29310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361734" y="3537956"/>
            <a:ext cx="20411" cy="2041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644315" y="14596077"/>
            <a:ext cx="22391" cy="223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5126" y="1228316"/>
            <a:ext cx="13662" cy="136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914166" y="18851681"/>
            <a:ext cx="20280" cy="20280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828875" y="22167820"/>
            <a:ext cx="24342" cy="24342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9077" y="11710251"/>
            <a:ext cx="23681" cy="23681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150597" y="27441047"/>
            <a:ext cx="26449" cy="2644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62359" y="16428111"/>
            <a:ext cx="14365" cy="1436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34080" y="24942614"/>
            <a:ext cx="31488" cy="31488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18481" y="4694968"/>
            <a:ext cx="28900" cy="28900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016347" y="9420476"/>
            <a:ext cx="22683" cy="2268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416516" y="20028245"/>
            <a:ext cx="22561" cy="2256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532186" y="28038640"/>
            <a:ext cx="30769" cy="30769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73693" y="36609038"/>
            <a:ext cx="17865" cy="1786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748825" y="40186480"/>
            <a:ext cx="18812" cy="188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507133" y="32749444"/>
            <a:ext cx="29998" cy="299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45459" y="34974899"/>
            <a:ext cx="19240" cy="19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084806" y="17682098"/>
            <a:ext cx="19734" cy="19734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49978" y="12306580"/>
            <a:ext cx="12623" cy="1262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9382412" y="27959112"/>
            <a:ext cx="12720" cy="12720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663205" y="27888714"/>
            <a:ext cx="22565" cy="22565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308844" y="4873931"/>
            <a:ext cx="19565" cy="1956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0428" y="37982807"/>
            <a:ext cx="14216" cy="14216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297545" y="24643948"/>
            <a:ext cx="21835" cy="21835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228966" y="13300999"/>
            <a:ext cx="19008" cy="19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8638079" y="24821788"/>
            <a:ext cx="13209" cy="13209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153197" y="36595379"/>
            <a:ext cx="22485" cy="2248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718714" y="27137719"/>
            <a:ext cx="22655" cy="2265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877812" y="24802952"/>
            <a:ext cx="23993" cy="23993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76338" y="4830410"/>
            <a:ext cx="31898" cy="31898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27929" y="23183080"/>
            <a:ext cx="13995" cy="1399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4080129" y="5237769"/>
            <a:ext cx="24045" cy="2404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5420343" y="28171996"/>
            <a:ext cx="26875" cy="26875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4513711" y="8834893"/>
            <a:ext cx="29107" cy="29107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6887152" y="10445649"/>
            <a:ext cx="17309" cy="17309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5701990" y="26848152"/>
            <a:ext cx="18154" cy="18154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6875962" y="42419656"/>
            <a:ext cx="24267" cy="24267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3448023" y="3391995"/>
            <a:ext cx="25551" cy="25551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815365" y="33132776"/>
            <a:ext cx="30249" cy="30249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5291286" y="8018740"/>
            <a:ext cx="13733" cy="1373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459009" y="38563519"/>
            <a:ext cx="18432" cy="18432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8123077" y="20964836"/>
            <a:ext cx="14251" cy="14251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4511638" y="93506"/>
            <a:ext cx="23693" cy="23693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6680513" y="27745922"/>
            <a:ext cx="25716" cy="25716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989570" y="13989478"/>
            <a:ext cx="26965" cy="269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6832425" y="1794073"/>
            <a:ext cx="29969" cy="2996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68921" y="2252048"/>
            <a:ext cx="24883" cy="2488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452287" y="18762751"/>
            <a:ext cx="13167" cy="1316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6170027" y="4230945"/>
            <a:ext cx="29282" cy="29282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3211885" y="20539936"/>
            <a:ext cx="30246" cy="30246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7235429" y="32833803"/>
            <a:ext cx="22488" cy="22488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682177" y="5558818"/>
            <a:ext cx="30389" cy="30389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9299620" y="32167106"/>
            <a:ext cx="23304" cy="23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5346007" y="7515024"/>
            <a:ext cx="28752" cy="28752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7732997" y="16683541"/>
            <a:ext cx="14091" cy="14091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3300972" y="10422411"/>
            <a:ext cx="27830" cy="27830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6575636" y="13894710"/>
            <a:ext cx="17815" cy="1781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6211138" y="13540514"/>
            <a:ext cx="26145" cy="26145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7033665" y="26429869"/>
            <a:ext cx="31705" cy="31705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114604" y="6960480"/>
            <a:ext cx="28202" cy="282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1465534" y="14716393"/>
            <a:ext cx="25571" cy="25571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987456" y="33765913"/>
            <a:ext cx="26237" cy="2623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429695" y="21578382"/>
            <a:ext cx="23503" cy="2350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96351" y="20660134"/>
            <a:ext cx="14890" cy="1489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7157561" y="20643319"/>
            <a:ext cx="31843" cy="3184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6229025" y="10504663"/>
            <a:ext cx="23155" cy="2315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37016" y="5574661"/>
            <a:ext cx="31899" cy="31899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668702" y="15222297"/>
            <a:ext cx="17394" cy="173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2506220" y="10047410"/>
            <a:ext cx="29003" cy="2900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8223633" y="4831679"/>
            <a:ext cx="22432" cy="22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3349733" y="31474204"/>
            <a:ext cx="15768" cy="15768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041114" y="2588636"/>
            <a:ext cx="17268" cy="17268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0712662" y="23034097"/>
            <a:ext cx="20686" cy="20686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8765927" y="4945753"/>
            <a:ext cx="17129" cy="171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6699013" y="20720704"/>
            <a:ext cx="24743" cy="2474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524902" y="17347122"/>
            <a:ext cx="20920" cy="20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469586" y="35012352"/>
            <a:ext cx="18682" cy="18682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9574876" y="29910726"/>
            <a:ext cx="23100" cy="23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231595" y="28734624"/>
            <a:ext cx="26810" cy="2681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709425" y="25398456"/>
            <a:ext cx="13671" cy="13671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7565591" y="26491189"/>
            <a:ext cx="24140" cy="24140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3284907" y="33909512"/>
            <a:ext cx="18205" cy="1820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290508" y="26546349"/>
            <a:ext cx="19669" cy="19669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0538141" y="3507770"/>
            <a:ext cx="21923" cy="2192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6731964" y="40858950"/>
            <a:ext cx="17925" cy="17925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2023160" y="19728640"/>
            <a:ext cx="29460" cy="294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260017" y="31046396"/>
            <a:ext cx="26506" cy="26506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0743866" y="27169148"/>
            <a:ext cx="16613" cy="1661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5793408" y="41052821"/>
            <a:ext cx="23278" cy="232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4418384" y="4192335"/>
            <a:ext cx="24976" cy="24976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8034972" y="11124516"/>
            <a:ext cx="15180" cy="15180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7062846" y="1783078"/>
            <a:ext cx="30824" cy="30824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510929" y="25132936"/>
            <a:ext cx="27512" cy="27512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404848" y="28662771"/>
            <a:ext cx="25484" cy="254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159398" y="29598314"/>
            <a:ext cx="27623" cy="27623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959437" y="39517535"/>
            <a:ext cx="27143" cy="2714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9739150" y="4017154"/>
            <a:ext cx="20551" cy="20551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998609" y="33368809"/>
            <a:ext cx="17203" cy="1720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4088845" y="17109041"/>
            <a:ext cx="24415" cy="24415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198486" y="21478379"/>
            <a:ext cx="13220" cy="132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7049330" y="37318941"/>
            <a:ext cx="22656" cy="226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3960151" y="9560490"/>
            <a:ext cx="22261" cy="22261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7031403" y="8319502"/>
            <a:ext cx="32158" cy="32158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0019598" y="4827053"/>
            <a:ext cx="22597" cy="2259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838941" y="42372265"/>
            <a:ext cx="28129" cy="28129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7954382" y="26487346"/>
            <a:ext cx="23121" cy="23121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4815309" y="11618016"/>
            <a:ext cx="14631" cy="14631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0082201" y="37693710"/>
            <a:ext cx="12819" cy="128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23906803" y="19509492"/>
            <a:ext cx="20089" cy="2008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075550" y="33785413"/>
            <a:ext cx="26153" cy="26153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8359296" y="42153139"/>
            <a:ext cx="27249" cy="2724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3397163" y="40856148"/>
            <a:ext cx="26953" cy="26953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3087894" y="5814493"/>
            <a:ext cx="21705" cy="2170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9210957" y="39487967"/>
            <a:ext cx="16025" cy="1602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4946922" y="16644712"/>
            <a:ext cx="14711" cy="14711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184861" y="32836796"/>
            <a:ext cx="31922" cy="3192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644550" y="34532744"/>
            <a:ext cx="28693" cy="2869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8062837" y="20209077"/>
            <a:ext cx="26482" cy="2648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20143006" y="4722334"/>
            <a:ext cx="17933" cy="1793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35848" y="12247763"/>
            <a:ext cx="19805" cy="1980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998013" y="2737329"/>
            <a:ext cx="18940" cy="189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825954" y="27870509"/>
            <a:ext cx="13172" cy="13172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25740809" y="42465433"/>
            <a:ext cx="18375" cy="18375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026697" y="9591212"/>
            <a:ext cx="17163" cy="1716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329950" y="8375409"/>
            <a:ext cx="24023" cy="2402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9565208" y="30963033"/>
            <a:ext cx="22216" cy="22216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3725115" y="21181036"/>
            <a:ext cx="12872" cy="12872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4182725" y="6076591"/>
            <a:ext cx="13759" cy="13759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7057204" y="17051470"/>
            <a:ext cx="20814" cy="2081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5978965" y="34065288"/>
            <a:ext cx="30339" cy="30339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20550191" y="28240222"/>
            <a:ext cx="30459" cy="30459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29656216" y="28685004"/>
            <a:ext cx="19371" cy="19371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870909" y="27020913"/>
            <a:ext cx="25144" cy="25144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2318012" y="2692393"/>
            <a:ext cx="13356" cy="13356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068342" y="21415337"/>
            <a:ext cx="32252" cy="32252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2437775" y="25917421"/>
            <a:ext cx="23416" cy="23416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733518" y="15692947"/>
            <a:ext cx="27649" cy="27649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4994554" y="41134122"/>
            <a:ext cx="22548" cy="225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493844" y="35428279"/>
            <a:ext cx="25477" cy="25477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6731533" y="39834052"/>
            <a:ext cx="17300" cy="17300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6241580" y="41126402"/>
            <a:ext cx="31005" cy="3100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24319657" y="8561976"/>
            <a:ext cx="12803" cy="1280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7666389" y="4081734"/>
            <a:ext cx="12678" cy="126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6405865" y="28812436"/>
            <a:ext cx="32056" cy="320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9712419" y="2261651"/>
            <a:ext cx="16297" cy="16297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2869133" y="8717889"/>
            <a:ext cx="13337" cy="13337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7906747" y="26325165"/>
            <a:ext cx="23730" cy="2373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724970" y="3336572"/>
            <a:ext cx="12901" cy="12901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8334275" y="28587140"/>
            <a:ext cx="15861" cy="1586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687676" y="41535803"/>
            <a:ext cx="29552" cy="29552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1577016" y="730350"/>
            <a:ext cx="31555" cy="315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430880" y="24504051"/>
            <a:ext cx="26223" cy="2622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5534453" y="6670610"/>
            <a:ext cx="26161" cy="26161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94501" y="10518577"/>
            <a:ext cx="19291" cy="192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0395780" y="12174245"/>
            <a:ext cx="19499" cy="19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1010828" y="9389910"/>
            <a:ext cx="12674" cy="126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657244" y="2761437"/>
            <a:ext cx="22984" cy="22984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9554830" y="1181629"/>
            <a:ext cx="20234" cy="202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4066401" y="28590930"/>
            <a:ext cx="20865" cy="208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5675300" y="13949691"/>
            <a:ext cx="21991" cy="21991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9934379" y="26499645"/>
            <a:ext cx="28255" cy="28255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378662" y="18471123"/>
            <a:ext cx="16374" cy="16374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9823108" y="8306275"/>
            <a:ext cx="31748" cy="317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6911802" y="11605439"/>
            <a:ext cx="17696" cy="17696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28131" y="41629384"/>
            <a:ext cx="24292" cy="24292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88339" y="26476523"/>
            <a:ext cx="23975" cy="2397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5154630" y="42250453"/>
            <a:ext cx="19958" cy="1995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793819" y="21188031"/>
            <a:ext cx="26716" cy="26716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6782150" y="26428788"/>
            <a:ext cx="30537" cy="30537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797135" y="18583468"/>
            <a:ext cx="21248" cy="21248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6000936" y="9474479"/>
            <a:ext cx="23592" cy="23592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804081" y="30099823"/>
            <a:ext cx="29728" cy="29728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23012459" y="38439927"/>
            <a:ext cx="20254" cy="2025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5413797" y="6329959"/>
            <a:ext cx="13009" cy="13009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4447902" y="36182608"/>
            <a:ext cx="12943" cy="12943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21731219" y="39927955"/>
            <a:ext cx="20090" cy="2009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5326389" y="9490650"/>
            <a:ext cx="23987" cy="23987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5407268" y="32035158"/>
            <a:ext cx="26537" cy="26537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110952" y="23707269"/>
            <a:ext cx="29158" cy="29158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196956" y="4856603"/>
            <a:ext cx="26141" cy="2614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888949" y="40982967"/>
            <a:ext cx="14373" cy="14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936917" y="4697817"/>
            <a:ext cx="15728" cy="15728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919412" y="38235567"/>
            <a:ext cx="20001" cy="20001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2477865" y="8684490"/>
            <a:ext cx="15814" cy="1581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5172336" y="2564889"/>
            <a:ext cx="30974" cy="30974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015655" y="35393574"/>
            <a:ext cx="19527" cy="19527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2437858" y="19974467"/>
            <a:ext cx="18703" cy="1870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2158387" y="29753884"/>
            <a:ext cx="24475" cy="2447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4935671" y="29709244"/>
            <a:ext cx="25670" cy="25670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8432970" y="16737011"/>
            <a:ext cx="31349" cy="3134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6405482" y="25290893"/>
            <a:ext cx="28545" cy="28545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0347040" y="2663702"/>
            <a:ext cx="32285" cy="32285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3205039" y="36291214"/>
            <a:ext cx="17453" cy="17453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21217162" y="2362819"/>
            <a:ext cx="29283" cy="29283"/>
          </a:xfrm>
          <a:prstGeom prst="ellipse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29434043" y="868546"/>
            <a:ext cx="19439" cy="194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23301173" y="20614619"/>
            <a:ext cx="30300" cy="30300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22071318" y="18451553"/>
            <a:ext cx="32238" cy="32238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20926441" y="39377309"/>
            <a:ext cx="21748" cy="217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7723982" y="24356171"/>
            <a:ext cx="30399" cy="30399"/>
          </a:xfrm>
          <a:prstGeom prst="ellipse">
            <a:avLst/>
          </a:prstGeom>
          <a:solidFill>
            <a:srgbClr val="9F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792000" y="576000"/>
            <a:ext cx="3456000" cy="144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4" name="Picture 223" descr="brau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" y="756000"/>
            <a:ext cx="3257963" cy="1080000"/>
          </a:xfrm>
          <a:prstGeom prst="rect">
            <a:avLst/>
          </a:prstGeom>
        </p:spPr>
      </p:pic>
      <p:sp>
        <p:nvSpPr>
          <p:cNvPr id="225" name="Rounded Rectangle 224"/>
          <p:cNvSpPr/>
          <p:nvPr/>
        </p:nvSpPr>
        <p:spPr>
          <a:xfrm>
            <a:off x="19728000" y="648000"/>
            <a:ext cx="5832000" cy="558000"/>
          </a:xfrm>
          <a:prstGeom prst="roundRect">
            <a:avLst>
              <a:gd name="adj" fmla="val 500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9728000" y="770400"/>
            <a:ext cx="583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 i="0" lang="en-US">
                <a:solidFill>
                  <a:srgbClr val="9FDCFF"/>
                </a:solidFill>
                <a:latin typeface="Orbitron"/>
              </a:rPr>
              <a:t>CAPSTONE PROJECT — PHASE B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25776000" y="648000"/>
            <a:ext cx="3708000" cy="558000"/>
          </a:xfrm>
          <a:prstGeom prst="roundRect">
            <a:avLst>
              <a:gd name="adj" fmla="val 50000"/>
            </a:avLst>
          </a:prstGeom>
          <a:solidFill>
            <a:srgbClr val="4F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25776000" y="770400"/>
            <a:ext cx="370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 i="0" lang="en-US">
                <a:solidFill>
                  <a:srgbClr val="06121F"/>
                </a:solidFill>
                <a:latin typeface="Orbitron"/>
              </a:rPr>
              <a:t>TEAM 26-1-D-17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92000" y="2304000"/>
            <a:ext cx="2160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800" b="1" i="0" lang="en-US">
                <a:solidFill>
                  <a:srgbClr val="FFFFFF"/>
                </a:solidFill>
                <a:latin typeface="Orbitron"/>
              </a:rPr>
              <a:t>MISSION </a:t>
            </a:r>
            <a:r>
              <a:rPr sz="12800" b="1" i="0" lang="en-US">
                <a:solidFill>
                  <a:srgbClr val="4FD8FF"/>
                </a:solidFill>
                <a:latin typeface="Orbitron"/>
              </a:rPr>
              <a:t>FOCUS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92000" y="4320000"/>
            <a:ext cx="2160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3700" b="1" i="0" lang="en-US">
                <a:solidFill>
                  <a:srgbClr val="9FDCFF"/>
                </a:solidFill>
                <a:latin typeface="Open Sans"/>
              </a:rPr>
              <a:t>A SPACE-STATION COGNITIVE ASSESSMENT GAME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2000" y="5256000"/>
            <a:ext cx="2160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3300" b="1" i="0" lang="en-US">
                <a:solidFill>
                  <a:srgbClr val="E8F0FF"/>
                </a:solidFill>
                <a:latin typeface="Open Sans"/>
              </a:rPr>
              <a:t>Lidor Ben Hamo </a:t>
            </a:r>
            <a:r>
              <a:rPr sz="3300" b="1" i="0" lang="en-US">
                <a:solidFill>
                  <a:srgbClr val="FF9B42"/>
                </a:solidFill>
                <a:latin typeface="Open Sans"/>
              </a:rPr>
              <a:t>&amp; </a:t>
            </a:r>
            <a:r>
              <a:rPr sz="3300" b="1" i="0" lang="en-US">
                <a:solidFill>
                  <a:srgbClr val="E8F0FF"/>
                </a:solidFill>
                <a:latin typeface="Open Sans"/>
              </a:rPr>
              <a:t>Yahli Rapaport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92000" y="5940000"/>
            <a:ext cx="25200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0" i="0" lang="en-US">
                <a:solidFill>
                  <a:srgbClr val="DFE9FB"/>
                </a:solidFill>
                <a:latin typeface="Open Sans"/>
              </a:rPr>
              <a:t>Advisor: </a:t>
            </a:r>
            <a:r>
              <a:rPr sz="2400" b="1" i="0" lang="en-US">
                <a:solidFill>
                  <a:srgbClr val="FFFFFF"/>
                </a:solidFill>
                <a:latin typeface="Open Sans"/>
              </a:rPr>
              <a:t>Dr. Moshe Sulamy</a:t>
            </a:r>
            <a:r>
              <a:rPr sz="2400" b="0" i="0" lang="en-US">
                <a:solidFill>
                  <a:srgbClr val="DFE9FB"/>
                </a:solidFill>
                <a:latin typeface="Open Sans"/>
              </a:rPr>
              <a:t>   ·   Department of Software Engineering &amp; Information Systems</a:t>
            </a:r>
          </a:p>
        </p:txBody>
      </p:sp>
      <p:sp>
        <p:nvSpPr>
          <p:cNvPr id="233" name="Oval 232"/>
          <p:cNvSpPr/>
          <p:nvPr/>
        </p:nvSpPr>
        <p:spPr>
          <a:xfrm>
            <a:off x="23328000" y="1008000"/>
            <a:ext cx="4968000" cy="4968000"/>
          </a:xfrm>
          <a:prstGeom prst="ellipse">
            <a:avLst/>
          </a:prstGeom>
          <a:solidFill>
            <a:srgbClr val="0B1E3E"/>
          </a:solidFill>
          <a:ln w="2540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4" name="Picture 233" descr="char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2000" y="1440000"/>
            <a:ext cx="2710294" cy="5328000"/>
          </a:xfrm>
          <a:prstGeom prst="rect">
            <a:avLst/>
          </a:prstGeom>
        </p:spPr>
      </p:pic>
      <p:sp>
        <p:nvSpPr>
          <p:cNvPr id="235" name="Rounded Rectangle 234"/>
          <p:cNvSpPr/>
          <p:nvPr/>
        </p:nvSpPr>
        <p:spPr>
          <a:xfrm>
            <a:off x="792000" y="7200000"/>
            <a:ext cx="9000000" cy="594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188000" y="7596000"/>
            <a:ext cx="90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4FD8FF"/>
                </a:solidFill>
                <a:latin typeface="Orbitron"/>
              </a:rPr>
              <a:t>01  </a:t>
            </a:r>
            <a:r>
              <a:rPr sz="2700" b="1" i="0" lang="en-US">
                <a:solidFill>
                  <a:srgbClr val="FFFFFF"/>
                </a:solidFill>
                <a:latin typeface="Orbitron"/>
              </a:rPr>
              <a:t>BACKGROUND &amp; NEED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188000" y="8208000"/>
            <a:ext cx="8208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0" i="0" lang="en-US">
                <a:solidFill>
                  <a:srgbClr val="DFE9FB"/>
                </a:solidFill>
                <a:latin typeface="Open Sans"/>
              </a:rPr>
              <a:t>Executive-function assessment still leans on </a:t>
            </a:r>
            <a:r>
              <a:rPr sz="2400" b="1" i="0" lang="en-US">
                <a:solidFill>
                  <a:srgbClr val="FFFFFF"/>
                </a:solidFill>
                <a:latin typeface="Open Sans"/>
              </a:rPr>
              <a:t>questionnaires (BRIEF-A)</a:t>
            </a:r>
            <a:r>
              <a:rPr sz="2400" b="0" i="0" lang="en-US">
                <a:solidFill>
                  <a:srgbClr val="DFE9FB"/>
                </a:solidFill>
                <a:latin typeface="Open Sans"/>
              </a:rPr>
              <a:t> and dry lab drills: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188000" y="9252000"/>
            <a:ext cx="8208000" cy="7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400" b="1" i="0" lang="en-US">
                <a:solidFill>
                  <a:srgbClr val="4FD8FF"/>
                </a:solidFill>
                <a:latin typeface="Open Sans"/>
              </a:rPr>
              <a:t>◆  </a:t>
            </a:r>
            <a:r>
              <a:rPr sz="2400" b="1" i="0" lang="en-US">
                <a:solidFill>
                  <a:srgbClr val="FFFFFF"/>
                </a:solidFill>
                <a:latin typeface="Open Sans"/>
              </a:rPr>
              <a:t>Stressful &amp; repetitive</a:t>
            </a:r>
            <a:r>
              <a:rPr sz="2400" b="0" i="0" lang="en-US">
                <a:solidFill>
                  <a:srgbClr val="DFE9FB"/>
                </a:solidFill>
                <a:latin typeface="Open Sans"/>
              </a:rPr>
              <a:t> — scores drop with motivation, not ability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400" b="1" i="0" lang="en-US">
                <a:solidFill>
                  <a:srgbClr val="4FD8FF"/>
                </a:solidFill>
                <a:latin typeface="Open Sans"/>
              </a:rPr>
              <a:t>◆  </a:t>
            </a:r>
            <a:r>
              <a:rPr sz="2400" b="1" i="0" lang="en-US">
                <a:solidFill>
                  <a:srgbClr val="FFFFFF"/>
                </a:solidFill>
                <a:latin typeface="Open Sans"/>
              </a:rPr>
              <a:t>Low engagement</a:t>
            </a:r>
            <a:r>
              <a:rPr sz="2400" b="0" i="0" lang="en-US">
                <a:solidFill>
                  <a:srgbClr val="DFE9FB"/>
                </a:solidFill>
                <a:latin typeface="Open Sans"/>
              </a:rPr>
              <a:t>, especially for children and young adults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400" b="1" i="0" lang="en-US">
                <a:solidFill>
                  <a:srgbClr val="4FD8FF"/>
                </a:solidFill>
                <a:latin typeface="Open Sans"/>
              </a:rPr>
              <a:t>◆  </a:t>
            </a:r>
            <a:r>
              <a:rPr sz="2400" b="1" i="0" lang="en-US">
                <a:solidFill>
                  <a:srgbClr val="FFFFFF"/>
                </a:solidFill>
                <a:latin typeface="Open Sans"/>
              </a:rPr>
              <a:t>Subjective ratings</a:t>
            </a:r>
            <a:r>
              <a:rPr sz="2400" b="0" i="0" lang="en-US">
                <a:solidFill>
                  <a:srgbClr val="DFE9FB"/>
                </a:solidFill>
                <a:latin typeface="Open Sans"/>
              </a:rPr>
              <a:t> — no objective behavioral data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188000" y="11628000"/>
            <a:ext cx="8208000" cy="1080000"/>
          </a:xfrm>
          <a:prstGeom prst="roundRect">
            <a:avLst>
              <a:gd name="adj" fmla="val 12000"/>
            </a:avLst>
          </a:prstGeom>
          <a:solidFill>
            <a:srgbClr val="33241A"/>
          </a:solidFill>
          <a:ln w="19050">
            <a:solidFill>
              <a:srgbClr val="FF9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404000" y="11772000"/>
            <a:ext cx="7776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 lang="en-US">
                <a:solidFill>
                  <a:srgbClr val="FFD9B3"/>
                </a:solidFill>
                <a:latin typeface="Open Sans"/>
              </a:rPr>
              <a:t>The need: measurement that is objective, repeatable — and actually fun to take.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792000" y="13428000"/>
            <a:ext cx="9000000" cy="702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188000" y="13824000"/>
            <a:ext cx="90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4FD8FF"/>
                </a:solidFill>
                <a:latin typeface="Orbitron"/>
              </a:rPr>
              <a:t>02  </a:t>
            </a:r>
            <a:r>
              <a:rPr sz="2700" b="1" i="0" lang="en-US">
                <a:solidFill>
                  <a:srgbClr val="FFFFFF"/>
                </a:solidFill>
                <a:latin typeface="Orbitron"/>
              </a:rPr>
              <a:t>THE SOLUTION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188000" y="14436000"/>
            <a:ext cx="8208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 i="0" lang="en-US">
                <a:solidFill>
                  <a:srgbClr val="FFFFFF"/>
                </a:solidFill>
                <a:latin typeface="Open Sans"/>
              </a:rPr>
              <a:t>Mission Focus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embeds the assessment inside a 10-minute space mission — each problem above gets a built-in answer: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1188000" y="15444000"/>
            <a:ext cx="1584000" cy="450000"/>
          </a:xfrm>
          <a:prstGeom prst="roundRect">
            <a:avLst>
              <a:gd name="adj" fmla="val 18000"/>
            </a:avLst>
          </a:prstGeom>
          <a:solidFill>
            <a:srgbClr val="33241A"/>
          </a:solidFill>
          <a:ln w="15240">
            <a:solidFill>
              <a:srgbClr val="FF9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188000" y="15543000"/>
            <a:ext cx="1584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 lang="en-US">
                <a:solidFill>
                  <a:srgbClr val="FFC08A"/>
                </a:solidFill>
                <a:latin typeface="Orbitron"/>
              </a:rPr>
              <a:t>STRESS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988000" y="15408000"/>
            <a:ext cx="64080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0" i="0" lang="en-US">
                <a:solidFill>
                  <a:srgbClr val="E8F0FF"/>
                </a:solidFill>
                <a:latin typeface="Open Sans"/>
              </a:rPr>
              <a:t>Assessment is embedded inside </a:t>
            </a:r>
            <a:r>
              <a:rPr sz="2100" b="1" i="0" lang="en-US">
                <a:solidFill>
                  <a:srgbClr val="FFFFFF"/>
                </a:solidFill>
                <a:latin typeface="Open Sans"/>
              </a:rPr>
              <a:t>meaningful repair tasks</a:t>
            </a:r>
            <a:r>
              <a:rPr sz="2100" b="0" i="0" lang="en-US">
                <a:solidFill>
                  <a:srgbClr val="E8F0FF"/>
                </a:solidFill>
                <a:latin typeface="Open Sans"/>
              </a:rPr>
              <a:t> — participants play rather than feel tested, so performance is </a:t>
            </a:r>
            <a:r>
              <a:rPr sz="2100" b="1" i="0" lang="en-US">
                <a:solidFill>
                  <a:srgbClr val="FFFFFF"/>
                </a:solidFill>
                <a:latin typeface="Open Sans"/>
              </a:rPr>
              <a:t>less distorted by test anxiety</a:t>
            </a:r>
            <a:r>
              <a:rPr sz="2100" b="0" i="0" lang="en-US">
                <a:solidFill>
                  <a:srgbClr val="E8F0FF"/>
                </a:solidFill>
                <a:latin typeface="Open Sans"/>
              </a:rPr>
              <a:t>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188000" y="16596000"/>
            <a:ext cx="1584000" cy="450000"/>
          </a:xfrm>
          <a:prstGeom prst="roundRect">
            <a:avLst>
              <a:gd name="adj" fmla="val 18000"/>
            </a:avLst>
          </a:prstGeom>
          <a:solidFill>
            <a:srgbClr val="33241A"/>
          </a:solidFill>
          <a:ln w="15240">
            <a:solidFill>
              <a:srgbClr val="FF9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188000" y="16695000"/>
            <a:ext cx="1584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 lang="en-US">
                <a:solidFill>
                  <a:srgbClr val="FFC08A"/>
                </a:solidFill>
                <a:latin typeface="Orbitron"/>
              </a:rPr>
              <a:t>BOREDOM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2988000" y="16560000"/>
            <a:ext cx="64080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0" i="0" lang="en-US">
                <a:solidFill>
                  <a:srgbClr val="E8F0FF"/>
                </a:solidFill>
                <a:latin typeface="Open Sans"/>
              </a:rPr>
              <a:t>A live mission with a real goal — keep the station alive — </a:t>
            </a:r>
            <a:r>
              <a:rPr sz="2100" b="1" i="0" lang="en-US">
                <a:solidFill>
                  <a:srgbClr val="FFFFFF"/>
                </a:solidFill>
                <a:latin typeface="Open Sans"/>
              </a:rPr>
              <a:t>sustains motivation</a:t>
            </a:r>
            <a:r>
              <a:rPr sz="2100" b="0" i="0" lang="en-US">
                <a:solidFill>
                  <a:srgbClr val="E8F0FF"/>
                </a:solidFill>
                <a:latin typeface="Open Sans"/>
              </a:rPr>
              <a:t> for the full session, for kids and adults.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188000" y="17748000"/>
            <a:ext cx="1584000" cy="684000"/>
          </a:xfrm>
          <a:prstGeom prst="roundRect">
            <a:avLst>
              <a:gd name="adj" fmla="val 18000"/>
            </a:avLst>
          </a:prstGeom>
          <a:solidFill>
            <a:srgbClr val="33241A"/>
          </a:solidFill>
          <a:ln w="15240">
            <a:solidFill>
              <a:srgbClr val="FF9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188000" y="17859600"/>
            <a:ext cx="1584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 lang="en-US">
                <a:solidFill>
                  <a:srgbClr val="FFC08A"/>
                </a:solidFill>
                <a:latin typeface="Orbitron"/>
              </a:rPr>
              <a:t>SUBJECTIVE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 lang="en-US">
                <a:solidFill>
                  <a:srgbClr val="FFC08A"/>
                </a:solidFill>
                <a:latin typeface="Orbitron"/>
              </a:rPr>
              <a:t>DATA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988000" y="17712000"/>
            <a:ext cx="6408000" cy="16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0" i="0" lang="en-US">
                <a:solidFill>
                  <a:srgbClr val="E8F0FF"/>
                </a:solidFill>
                <a:latin typeface="Open Sans"/>
              </a:rPr>
              <a:t>The scientific core: a silent </a:t>
            </a:r>
            <a:r>
              <a:rPr sz="2100" b="1" i="0" lang="en-US">
                <a:solidFill>
                  <a:srgbClr val="FFFFFF"/>
                </a:solidFill>
                <a:latin typeface="Open Sans"/>
              </a:rPr>
              <a:t>behavioral log</a:t>
            </a:r>
            <a:r>
              <a:rPr sz="2100" b="0" i="0" lang="en-US">
                <a:solidFill>
                  <a:srgbClr val="E8F0FF"/>
                </a:solidFill>
                <a:latin typeface="Open Sans"/>
              </a:rPr>
              <a:t> of what participants actually do — </a:t>
            </a:r>
            <a:r>
              <a:rPr sz="2100" b="1" i="0" lang="en-US">
                <a:solidFill>
                  <a:srgbClr val="FFFFFF"/>
                </a:solidFill>
                <a:latin typeface="Open Sans"/>
              </a:rPr>
              <a:t>RT, accuracy, omissions, impulsive actions, task completion</a:t>
            </a:r>
            <a:r>
              <a:rPr sz="2100" b="0" i="0" lang="en-US">
                <a:solidFill>
                  <a:srgbClr val="E8F0FF"/>
                </a:solidFill>
                <a:latin typeface="Open Sans"/>
              </a:rPr>
              <a:t> — objective evidence that </a:t>
            </a:r>
            <a:r>
              <a:rPr sz="2100" b="1" i="0" lang="en-US">
                <a:solidFill>
                  <a:srgbClr val="FFFFFF"/>
                </a:solidFill>
                <a:latin typeface="Open Sans"/>
              </a:rPr>
              <a:t>complements</a:t>
            </a:r>
            <a:r>
              <a:rPr sz="2100" b="0" i="0" lang="en-US">
                <a:solidFill>
                  <a:srgbClr val="E8F0FF"/>
                </a:solidFill>
                <a:latin typeface="Open Sans"/>
              </a:rPr>
              <a:t> BRIEF-style ratings and clinical judgment, not replaces them.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1188000" y="19584000"/>
            <a:ext cx="1584000" cy="450000"/>
          </a:xfrm>
          <a:prstGeom prst="roundRect">
            <a:avLst>
              <a:gd name="adj" fmla="val 18000"/>
            </a:avLst>
          </a:prstGeom>
          <a:solidFill>
            <a:srgbClr val="33241A"/>
          </a:solidFill>
          <a:ln w="15240">
            <a:solidFill>
              <a:srgbClr val="FF9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188000" y="19683000"/>
            <a:ext cx="1584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 lang="en-US">
                <a:solidFill>
                  <a:srgbClr val="FFC08A"/>
                </a:solidFill>
                <a:latin typeface="Orbitron"/>
              </a:rPr>
              <a:t>PAPERWORK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88000" y="19548000"/>
            <a:ext cx="640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0" i="0" lang="en-US">
                <a:solidFill>
                  <a:srgbClr val="E8F0FF"/>
                </a:solidFill>
                <a:latin typeface="Open Sans"/>
              </a:rPr>
              <a:t>One click → </a:t>
            </a:r>
            <a:r>
              <a:rPr sz="2100" b="1" i="0" lang="en-US">
                <a:solidFill>
                  <a:srgbClr val="FFFFFF"/>
                </a:solidFill>
                <a:latin typeface="Open Sans"/>
              </a:rPr>
              <a:t>assessor-ready HTML report</a:t>
            </a:r>
            <a:r>
              <a:rPr sz="2100" b="0" i="0" lang="en-US">
                <a:solidFill>
                  <a:srgbClr val="E8F0FF"/>
                </a:solidFill>
                <a:latin typeface="Open Sans"/>
              </a:rPr>
              <a:t> + analysis-ready </a:t>
            </a:r>
            <a:r>
              <a:rPr sz="2100" b="1" i="0" lang="en-US">
                <a:solidFill>
                  <a:srgbClr val="FFFFFF"/>
                </a:solidFill>
                <a:latin typeface="Open Sans"/>
              </a:rPr>
              <a:t>CSV</a:t>
            </a:r>
            <a:r>
              <a:rPr sz="2100" b="0" i="0" lang="en-US">
                <a:solidFill>
                  <a:srgbClr val="E8F0FF"/>
                </a:solidFill>
                <a:latin typeface="Open Sans"/>
              </a:rPr>
              <a:t> — no manual scoring.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792000" y="20736000"/>
            <a:ext cx="9000000" cy="468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188000" y="21132000"/>
            <a:ext cx="90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4FD8FF"/>
                </a:solidFill>
                <a:latin typeface="Orbitron"/>
              </a:rPr>
              <a:t>03  </a:t>
            </a:r>
            <a:r>
              <a:rPr sz="2700" b="1" i="0" lang="en-US">
                <a:solidFill>
                  <a:srgbClr val="FFFFFF"/>
                </a:solidFill>
                <a:latin typeface="Orbitron"/>
              </a:rPr>
              <a:t>MAIN REQUIREMENTS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188000" y="21780000"/>
            <a:ext cx="8208000" cy="7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400" b="1" i="0" lang="en-US">
                <a:solidFill>
                  <a:srgbClr val="5EE6A8"/>
                </a:solidFill>
                <a:latin typeface="Open Sans"/>
              </a:rPr>
              <a:t>✓  </a:t>
            </a:r>
            <a:r>
              <a:rPr sz="2400" b="1" i="0" lang="en-US">
                <a:solidFill>
                  <a:srgbClr val="FFFFFF"/>
                </a:solidFill>
                <a:latin typeface="Open Sans"/>
              </a:rPr>
              <a:t>Playable 10-minute mission</a:t>
            </a:r>
            <a:r>
              <a:rPr sz="2400" b="0" i="0" lang="en-US">
                <a:solidFill>
                  <a:srgbClr val="DFE9FB"/>
                </a:solidFill>
                <a:latin typeface="Open Sans"/>
              </a:rPr>
              <a:t> — a game, not a quiz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400" b="1" i="0" lang="en-US">
                <a:solidFill>
                  <a:srgbClr val="5EE6A8"/>
                </a:solidFill>
                <a:latin typeface="Open Sans"/>
              </a:rPr>
              <a:t>✓  </a:t>
            </a:r>
            <a:r>
              <a:rPr sz="2400" b="0" i="0" lang="en-US">
                <a:solidFill>
                  <a:srgbClr val="DFE9FB"/>
                </a:solidFill>
                <a:latin typeface="Open Sans"/>
              </a:rPr>
              <a:t>Measure </a:t>
            </a:r>
            <a:r>
              <a:rPr sz="2400" b="1" i="0" lang="en-US">
                <a:solidFill>
                  <a:srgbClr val="FFFFFF"/>
                </a:solidFill>
                <a:latin typeface="Open Sans"/>
              </a:rPr>
              <a:t>attention, working memory, inhibition &amp; planning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400" b="1" i="0" lang="en-US">
                <a:solidFill>
                  <a:srgbClr val="5EE6A8"/>
                </a:solidFill>
                <a:latin typeface="Open Sans"/>
              </a:rPr>
              <a:t>✓  </a:t>
            </a:r>
            <a:r>
              <a:rPr sz="2400" b="1" i="0" lang="en-US">
                <a:solidFill>
                  <a:srgbClr val="FFFFFF"/>
                </a:solidFill>
                <a:latin typeface="Open Sans"/>
              </a:rPr>
              <a:t>Every action logged automatically</a:t>
            </a:r>
            <a:r>
              <a:rPr sz="2400" b="0" i="0" lang="en-US">
                <a:solidFill>
                  <a:srgbClr val="DFE9FB"/>
                </a:solidFill>
                <a:latin typeface="Open Sans"/>
              </a:rPr>
              <a:t> during play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400" b="1" i="0" lang="en-US">
                <a:solidFill>
                  <a:srgbClr val="5EE6A8"/>
                </a:solidFill>
                <a:latin typeface="Open Sans"/>
              </a:rPr>
              <a:t>✓  </a:t>
            </a:r>
            <a:r>
              <a:rPr sz="2400" b="1" i="0" lang="en-US">
                <a:solidFill>
                  <a:srgbClr val="FFFFFF"/>
                </a:solidFill>
                <a:latin typeface="Open Sans"/>
              </a:rPr>
              <a:t>One-click HTML report + CSV</a:t>
            </a:r>
            <a:r>
              <a:rPr sz="2400" b="0" i="0" lang="en-US">
                <a:solidFill>
                  <a:srgbClr val="DFE9FB"/>
                </a:solidFill>
                <a:latin typeface="Open Sans"/>
              </a:rPr>
              <a:t> for the assessor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400" b="1" i="0" lang="en-US">
                <a:solidFill>
                  <a:srgbClr val="5EE6A8"/>
                </a:solidFill>
                <a:latin typeface="Open Sans"/>
              </a:rPr>
              <a:t>✓  </a:t>
            </a:r>
            <a:r>
              <a:rPr sz="2400" b="1" i="0" lang="en-US">
                <a:solidFill>
                  <a:srgbClr val="FFFFFF"/>
                </a:solidFill>
                <a:latin typeface="Open Sans"/>
              </a:rPr>
              <a:t>All data stays on the device</a:t>
            </a:r>
            <a:r>
              <a:rPr sz="2400" b="0" i="0" lang="en-US">
                <a:solidFill>
                  <a:srgbClr val="DFE9FB"/>
                </a:solidFill>
                <a:latin typeface="Open Sans"/>
              </a:rPr>
              <a:t> — privacy by design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792000" y="25704000"/>
            <a:ext cx="9000000" cy="11808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188000" y="26100000"/>
            <a:ext cx="90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i="0" lang="en-US">
                <a:solidFill>
                  <a:srgbClr val="FFFFFF"/>
                </a:solidFill>
                <a:latin typeface="Orbitron"/>
              </a:rPr>
              <a:t>MISSION SNAPSHOTS</a:t>
            </a:r>
          </a:p>
        </p:txBody>
      </p:sp>
      <p:pic>
        <p:nvPicPr>
          <p:cNvPr id="261" name="Picture 260" descr="shot_radar.png"/>
          <p:cNvPicPr>
            <a:picLocks noChangeAspect="1"/>
          </p:cNvPicPr>
          <p:nvPr/>
        </p:nvPicPr>
        <p:blipFill>
          <a:blip r:embed="rId4"/>
          <a:srcRect l="10689" r="10689"/>
          <a:stretch>
            <a:fillRect/>
          </a:stretch>
        </p:blipFill>
        <p:spPr>
          <a:xfrm>
            <a:off x="1188000" y="26748000"/>
            <a:ext cx="3960000" cy="2808000"/>
          </a:xfrm>
          <a:prstGeom prst="rect">
            <a:avLst/>
          </a:prstGeom>
          <a:ln w="12700">
            <a:solidFill>
              <a:srgbClr val="3E6FA0"/>
            </a:solidFill>
          </a:ln>
        </p:spPr>
      </p:pic>
      <p:sp>
        <p:nvSpPr>
          <p:cNvPr id="262" name="TextBox 261"/>
          <p:cNvSpPr txBox="1"/>
          <p:nvPr/>
        </p:nvSpPr>
        <p:spPr>
          <a:xfrm>
            <a:off x="1188000" y="29628000"/>
            <a:ext cx="39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 lang="en-US">
                <a:solidFill>
                  <a:srgbClr val="DFE9FB"/>
                </a:solidFill>
                <a:latin typeface="Open Sans"/>
              </a:rPr>
              <a:t>Radar Scan console — attention trials</a:t>
            </a:r>
          </a:p>
        </p:txBody>
      </p:sp>
      <p:pic>
        <p:nvPicPr>
          <p:cNvPr id="263" name="Picture 262" descr="shot_station.png"/>
          <p:cNvPicPr>
            <a:picLocks noChangeAspect="1"/>
          </p:cNvPicPr>
          <p:nvPr/>
        </p:nvPicPr>
        <p:blipFill>
          <a:blip r:embed="rId5"/>
          <a:srcRect l="10826" r="10826"/>
          <a:stretch>
            <a:fillRect/>
          </a:stretch>
        </p:blipFill>
        <p:spPr>
          <a:xfrm>
            <a:off x="5436000" y="26748000"/>
            <a:ext cx="3960000" cy="2808000"/>
          </a:xfrm>
          <a:prstGeom prst="rect">
            <a:avLst/>
          </a:prstGeom>
          <a:ln w="12700">
            <a:solidFill>
              <a:srgbClr val="3E6FA0"/>
            </a:solidFill>
          </a:ln>
        </p:spPr>
      </p:pic>
      <p:sp>
        <p:nvSpPr>
          <p:cNvPr id="264" name="TextBox 263"/>
          <p:cNvSpPr txBox="1"/>
          <p:nvPr/>
        </p:nvSpPr>
        <p:spPr>
          <a:xfrm>
            <a:off x="5436000" y="29628000"/>
            <a:ext cx="39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 lang="en-US">
                <a:solidFill>
                  <a:srgbClr val="DFE9FB"/>
                </a:solidFill>
                <a:latin typeface="Open Sans"/>
              </a:rPr>
              <a:t>Aboard the station — memorize the code</a:t>
            </a:r>
          </a:p>
        </p:txBody>
      </p:sp>
      <p:pic>
        <p:nvPicPr>
          <p:cNvPr id="265" name="Picture 264" descr="shot_stroop.png"/>
          <p:cNvPicPr>
            <a:picLocks noChangeAspect="1"/>
          </p:cNvPicPr>
          <p:nvPr/>
        </p:nvPicPr>
        <p:blipFill>
          <a:blip r:embed="rId6"/>
          <a:srcRect l="10337" r="10337"/>
          <a:stretch>
            <a:fillRect/>
          </a:stretch>
        </p:blipFill>
        <p:spPr>
          <a:xfrm>
            <a:off x="1188000" y="30276000"/>
            <a:ext cx="3960000" cy="2808000"/>
          </a:xfrm>
          <a:prstGeom prst="rect">
            <a:avLst/>
          </a:prstGeom>
          <a:ln w="12700">
            <a:solidFill>
              <a:srgbClr val="3E6FA0"/>
            </a:solidFill>
          </a:ln>
        </p:spPr>
      </p:pic>
      <p:sp>
        <p:nvSpPr>
          <p:cNvPr id="266" name="TextBox 265"/>
          <p:cNvSpPr txBox="1"/>
          <p:nvPr/>
        </p:nvSpPr>
        <p:spPr>
          <a:xfrm>
            <a:off x="1188000" y="33156000"/>
            <a:ext cx="39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 lang="en-US">
                <a:solidFill>
                  <a:srgbClr val="DFE9FB"/>
                </a:solidFill>
                <a:latin typeface="Open Sans"/>
              </a:rPr>
              <a:t>Stroop console — match the ink color</a:t>
            </a:r>
          </a:p>
        </p:txBody>
      </p:sp>
      <p:pic>
        <p:nvPicPr>
          <p:cNvPr id="267" name="Picture 266" descr="shot_wires.png"/>
          <p:cNvPicPr>
            <a:picLocks noChangeAspect="1"/>
          </p:cNvPicPr>
          <p:nvPr/>
        </p:nvPicPr>
        <p:blipFill>
          <a:blip r:embed="rId7"/>
          <a:srcRect l="10601" r="10601"/>
          <a:stretch>
            <a:fillRect/>
          </a:stretch>
        </p:blipFill>
        <p:spPr>
          <a:xfrm>
            <a:off x="5436000" y="30276000"/>
            <a:ext cx="3960000" cy="2808000"/>
          </a:xfrm>
          <a:prstGeom prst="rect">
            <a:avLst/>
          </a:prstGeom>
          <a:ln w="12700">
            <a:solidFill>
              <a:srgbClr val="3E6FA0"/>
            </a:solidFill>
          </a:ln>
        </p:spPr>
      </p:pic>
      <p:sp>
        <p:nvSpPr>
          <p:cNvPr id="268" name="TextBox 267"/>
          <p:cNvSpPr txBox="1"/>
          <p:nvPr/>
        </p:nvSpPr>
        <p:spPr>
          <a:xfrm>
            <a:off x="5436000" y="33156000"/>
            <a:ext cx="39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 lang="en-US">
                <a:solidFill>
                  <a:srgbClr val="DFE9FB"/>
                </a:solidFill>
                <a:latin typeface="Open Sans"/>
              </a:rPr>
              <a:t>Life-Support wires — planning task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1188000" y="33804000"/>
            <a:ext cx="3960000" cy="2808000"/>
          </a:xfrm>
          <a:prstGeom prst="roundRect">
            <a:avLst>
              <a:gd name="adj" fmla="val 6000"/>
            </a:avLst>
          </a:prstGeom>
          <a:solidFill>
            <a:srgbClr val="102244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0" name="Picture 269" descr="char_stand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4250" y="33912000"/>
            <a:ext cx="1387500" cy="2664000"/>
          </a:xfrm>
          <a:prstGeom prst="rect">
            <a:avLst/>
          </a:prstGeom>
        </p:spPr>
      </p:pic>
      <p:sp>
        <p:nvSpPr>
          <p:cNvPr id="271" name="TextBox 270"/>
          <p:cNvSpPr txBox="1"/>
          <p:nvPr/>
        </p:nvSpPr>
        <p:spPr>
          <a:xfrm>
            <a:off x="1188000" y="36684000"/>
            <a:ext cx="39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 lang="en-US">
                <a:solidFill>
                  <a:srgbClr val="DFE9FB"/>
                </a:solidFill>
                <a:latin typeface="Open Sans"/>
              </a:rPr>
              <a:t>Your astronaut — playable character</a:t>
            </a:r>
          </a:p>
        </p:txBody>
      </p:sp>
      <p:pic>
        <p:nvPicPr>
          <p:cNvPr id="272" name="Picture 271" descr="shot_report.png"/>
          <p:cNvPicPr>
            <a:picLocks noChangeAspect="1"/>
          </p:cNvPicPr>
          <p:nvPr/>
        </p:nvPicPr>
        <p:blipFill>
          <a:blip r:embed="rId9"/>
          <a:srcRect l="9225" r="9225"/>
          <a:stretch>
            <a:fillRect/>
          </a:stretch>
        </p:blipFill>
        <p:spPr>
          <a:xfrm>
            <a:off x="5436000" y="33804000"/>
            <a:ext cx="3960000" cy="2808000"/>
          </a:xfrm>
          <a:prstGeom prst="rect">
            <a:avLst/>
          </a:prstGeom>
          <a:ln w="12700">
            <a:solidFill>
              <a:srgbClr val="3E6FA0"/>
            </a:solidFill>
          </a:ln>
        </p:spPr>
      </p:pic>
      <p:sp>
        <p:nvSpPr>
          <p:cNvPr id="273" name="TextBox 272"/>
          <p:cNvSpPr txBox="1"/>
          <p:nvPr/>
        </p:nvSpPr>
        <p:spPr>
          <a:xfrm>
            <a:off x="5436000" y="36684000"/>
            <a:ext cx="39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 lang="en-US">
                <a:solidFill>
                  <a:srgbClr val="DFE9FB"/>
                </a:solidFill>
                <a:latin typeface="Open Sans"/>
              </a:rPr>
              <a:t>Assessor HTML report — EF profile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10152000" y="7200000"/>
            <a:ext cx="9972000" cy="1098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0548000" y="7596000"/>
            <a:ext cx="9972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4FD8FF"/>
                </a:solidFill>
                <a:latin typeface="Orbitron"/>
              </a:rPr>
              <a:t>04  </a:t>
            </a:r>
            <a:r>
              <a:rPr sz="2700" b="1" i="0" lang="en-US">
                <a:solidFill>
                  <a:srgbClr val="FFFFFF"/>
                </a:solidFill>
                <a:latin typeface="Orbitron"/>
              </a:rPr>
              <a:t>SYSTEM FLOW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0872000" y="9036000"/>
            <a:ext cx="36000" cy="1216800"/>
          </a:xfrm>
          <a:prstGeom prst="rect">
            <a:avLst/>
          </a:prstGeom>
          <a:solidFill>
            <a:srgbClr val="4F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548000" y="8316000"/>
            <a:ext cx="684000" cy="684000"/>
          </a:xfrm>
          <a:prstGeom prst="ellipse">
            <a:avLst/>
          </a:prstGeom>
          <a:solidFill>
            <a:srgbClr val="14305C"/>
          </a:solidFill>
          <a:ln w="25400">
            <a:solidFill>
              <a:srgbClr val="4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548000" y="8431200"/>
            <a:ext cx="6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4FD8FF"/>
                </a:solidFill>
                <a:latin typeface="Orbitron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1484000" y="8280000"/>
            <a:ext cx="824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 i="0" lang="en-US">
                <a:solidFill>
                  <a:srgbClr val="FFFFFF"/>
                </a:solidFill>
                <a:latin typeface="Open Sans"/>
              </a:rPr>
              <a:t>Participant Onboarding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1484000" y="8694000"/>
            <a:ext cx="8244000" cy="15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300" b="0" i="0" lang="en-US">
                <a:solidFill>
                  <a:srgbClr val="DFE9FB"/>
                </a:solidFill>
                <a:latin typeface="Open Sans"/>
              </a:rPr>
              <a:t>ID and age entered on a station terminal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0872000" y="10900800"/>
            <a:ext cx="36000" cy="1216800"/>
          </a:xfrm>
          <a:prstGeom prst="rect">
            <a:avLst/>
          </a:prstGeom>
          <a:solidFill>
            <a:srgbClr val="4F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0548000" y="10180800"/>
            <a:ext cx="684000" cy="684000"/>
          </a:xfrm>
          <a:prstGeom prst="ellipse">
            <a:avLst/>
          </a:prstGeom>
          <a:solidFill>
            <a:srgbClr val="14305C"/>
          </a:solidFill>
          <a:ln w="25400">
            <a:solidFill>
              <a:srgbClr val="4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10548000" y="10296000"/>
            <a:ext cx="6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4FD8FF"/>
                </a:solidFill>
                <a:latin typeface="Orbitron"/>
              </a:rPr>
              <a:t>2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1484000" y="10144800"/>
            <a:ext cx="824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 i="0" lang="en-US">
                <a:solidFill>
                  <a:srgbClr val="FFFFFF"/>
                </a:solidFill>
                <a:latin typeface="Open Sans"/>
              </a:rPr>
              <a:t>Interactive Tutorial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1484000" y="10558800"/>
            <a:ext cx="8244000" cy="15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300" b="0" i="0" lang="en-US">
                <a:solidFill>
                  <a:srgbClr val="DFE9FB"/>
                </a:solidFill>
                <a:latin typeface="Open Sans"/>
              </a:rPr>
              <a:t>Movement &amp; console training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10872000" y="12765600"/>
            <a:ext cx="36000" cy="1216800"/>
          </a:xfrm>
          <a:prstGeom prst="rect">
            <a:avLst/>
          </a:prstGeom>
          <a:solidFill>
            <a:srgbClr val="4F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0548000" y="12045600"/>
            <a:ext cx="684000" cy="684000"/>
          </a:xfrm>
          <a:prstGeom prst="ellipse">
            <a:avLst/>
          </a:prstGeom>
          <a:solidFill>
            <a:srgbClr val="14305C"/>
          </a:solidFill>
          <a:ln w="25400">
            <a:solidFill>
              <a:srgbClr val="4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0548000" y="12160800"/>
            <a:ext cx="6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4FD8FF"/>
                </a:solidFill>
                <a:latin typeface="Orbitron"/>
              </a:rPr>
              <a:t>3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1484000" y="12009600"/>
            <a:ext cx="824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 i="0" lang="en-US">
                <a:solidFill>
                  <a:srgbClr val="FFFFFF"/>
                </a:solidFill>
                <a:latin typeface="Open Sans"/>
              </a:rPr>
              <a:t>The Mission — 10 minutes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1484000" y="12423600"/>
            <a:ext cx="8244000" cy="15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300" b="0" i="0" lang="en-US">
                <a:solidFill>
                  <a:srgbClr val="DFE9FB"/>
                </a:solidFill>
                <a:latin typeface="Open Sans"/>
              </a:rPr>
              <a:t>Repair tasks appear across </a:t>
            </a:r>
            <a:r>
              <a:rPr sz="2300" b="1" i="0" lang="en-US">
                <a:solidFill>
                  <a:srgbClr val="FFFFFF"/>
                </a:solidFill>
                <a:latin typeface="Open Sans"/>
              </a:rPr>
              <a:t>4 stations</a:t>
            </a:r>
            <a:r>
              <a:rPr sz="2300" b="0" i="0" lang="en-US">
                <a:solidFill>
                  <a:srgbClr val="DFE9FB"/>
                </a:solidFill>
                <a:latin typeface="Open Sans"/>
              </a:rPr>
              <a:t> — the player chooses what to handle first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0872000" y="14630400"/>
            <a:ext cx="36000" cy="1216800"/>
          </a:xfrm>
          <a:prstGeom prst="rect">
            <a:avLst/>
          </a:prstGeom>
          <a:solidFill>
            <a:srgbClr val="4F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548000" y="13910400"/>
            <a:ext cx="684000" cy="684000"/>
          </a:xfrm>
          <a:prstGeom prst="ellipse">
            <a:avLst/>
          </a:prstGeom>
          <a:solidFill>
            <a:srgbClr val="14305C"/>
          </a:solidFill>
          <a:ln w="25400">
            <a:solidFill>
              <a:srgbClr val="4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548000" y="14025599"/>
            <a:ext cx="6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4FD8FF"/>
                </a:solidFill>
                <a:latin typeface="Orbitron"/>
              </a:rPr>
              <a:t>4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1484000" y="13874400"/>
            <a:ext cx="824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 i="0" lang="en-US">
                <a:solidFill>
                  <a:srgbClr val="FFFFFF"/>
                </a:solidFill>
                <a:latin typeface="Open Sans"/>
              </a:rPr>
              <a:t>Silent Telemetry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1484000" y="14288400"/>
            <a:ext cx="8244000" cy="15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300" b="0" i="0" lang="en-US">
                <a:solidFill>
                  <a:srgbClr val="DFE9FB"/>
                </a:solidFill>
                <a:latin typeface="Open Sans"/>
              </a:rPr>
              <a:t>Every reaction recorded in the background</a:t>
            </a:r>
          </a:p>
        </p:txBody>
      </p:sp>
      <p:sp>
        <p:nvSpPr>
          <p:cNvPr id="296" name="Oval 295"/>
          <p:cNvSpPr/>
          <p:nvPr/>
        </p:nvSpPr>
        <p:spPr>
          <a:xfrm>
            <a:off x="10548000" y="15775200"/>
            <a:ext cx="684000" cy="684000"/>
          </a:xfrm>
          <a:prstGeom prst="ellipse">
            <a:avLst/>
          </a:prstGeom>
          <a:solidFill>
            <a:srgbClr val="14305C"/>
          </a:solidFill>
          <a:ln w="25400">
            <a:solidFill>
              <a:srgbClr val="4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0548000" y="15890400"/>
            <a:ext cx="6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4FD8FF"/>
                </a:solidFill>
                <a:latin typeface="Orbitron"/>
              </a:rPr>
              <a:t>5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1484000" y="15739200"/>
            <a:ext cx="824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 i="0" lang="en-US">
                <a:solidFill>
                  <a:srgbClr val="FFFFFF"/>
                </a:solidFill>
                <a:latin typeface="Open Sans"/>
              </a:rPr>
              <a:t>Assessor Report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1484000" y="16153200"/>
            <a:ext cx="8244000" cy="15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300" b="1" i="0" lang="en-US">
                <a:solidFill>
                  <a:srgbClr val="FFFFFF"/>
                </a:solidFill>
                <a:latin typeface="Open Sans"/>
              </a:rPr>
              <a:t>Executive-function profile + CSV</a:t>
            </a:r>
            <a:r>
              <a:rPr sz="2300" b="0" i="0" lang="en-US">
                <a:solidFill>
                  <a:srgbClr val="DFE9FB"/>
                </a:solidFill>
                <a:latin typeface="Open Sans"/>
              </a:rPr>
              <a:t>, generated instantly</a:t>
            </a:r>
          </a:p>
        </p:txBody>
      </p:sp>
      <p:sp>
        <p:nvSpPr>
          <p:cNvPr id="300" name="Rounded Rectangle 299"/>
          <p:cNvSpPr/>
          <p:nvPr/>
        </p:nvSpPr>
        <p:spPr>
          <a:xfrm>
            <a:off x="10152000" y="18882000"/>
            <a:ext cx="9972000" cy="1188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0548000" y="19278000"/>
            <a:ext cx="9972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4FD8FF"/>
                </a:solidFill>
                <a:latin typeface="Orbitron"/>
              </a:rPr>
              <a:t>05  </a:t>
            </a:r>
            <a:r>
              <a:rPr sz="2700" b="1" i="0" lang="en-US">
                <a:solidFill>
                  <a:srgbClr val="FFFFFF"/>
                </a:solidFill>
                <a:latin typeface="Orbitron"/>
              </a:rPr>
              <a:t>COGNITIVE TASKS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10548000" y="19926000"/>
            <a:ext cx="4428000" cy="4986000"/>
          </a:xfrm>
          <a:prstGeom prst="roundRect">
            <a:avLst>
              <a:gd name="adj" fmla="val 5500"/>
            </a:avLst>
          </a:prstGeom>
          <a:solidFill>
            <a:srgbClr val="122448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10836000" y="20178000"/>
            <a:ext cx="38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i="0" lang="en-US">
                <a:solidFill>
                  <a:srgbClr val="FFFFFF"/>
                </a:solidFill>
                <a:latin typeface="Orbitron"/>
              </a:rPr>
              <a:t>RADAR SCAN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836000" y="20556000"/>
            <a:ext cx="385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1" i="0" lang="en-US">
                <a:solidFill>
                  <a:srgbClr val="DFE9FB"/>
                </a:solidFill>
                <a:latin typeface="Open Sans"/>
              </a:rPr>
              <a:t>NAVIGATION STATION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10836000" y="20880000"/>
            <a:ext cx="3240000" cy="3960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4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10836000" y="20955600"/>
            <a:ext cx="324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 i="0" lang="en-US">
                <a:solidFill>
                  <a:srgbClr val="4FD8FF"/>
                </a:solidFill>
                <a:latin typeface="Open Sans"/>
              </a:rPr>
              <a:t>ATTENTION · TASK-MONITOR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0836000" y="21438000"/>
            <a:ext cx="3852000" cy="282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0" i="0" lang="en-US">
                <a:solidFill>
                  <a:srgbClr val="DFE9FB"/>
                </a:solidFill>
                <a:latin typeface="Open Sans"/>
              </a:rPr>
              <a:t>Spot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rare asteroid contacts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among streams of debris.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0836000" y="24444000"/>
            <a:ext cx="38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1" i="0" lang="en-US">
                <a:solidFill>
                  <a:srgbClr val="EEF6FF"/>
                </a:solidFill>
                <a:latin typeface="Open Sans"/>
              </a:rPr>
              <a:t>Hits · False alarms · d′ sensitivity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15300000" y="19926000"/>
            <a:ext cx="4428000" cy="4986000"/>
          </a:xfrm>
          <a:prstGeom prst="roundRect">
            <a:avLst>
              <a:gd name="adj" fmla="val 5500"/>
            </a:avLst>
          </a:prstGeom>
          <a:solidFill>
            <a:srgbClr val="122448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5588000" y="20178000"/>
            <a:ext cx="38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i="0" lang="en-US">
                <a:solidFill>
                  <a:srgbClr val="FFFFFF"/>
                </a:solidFill>
                <a:latin typeface="Orbitron"/>
              </a:rPr>
              <a:t>CODE RECALL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5588000" y="20556000"/>
            <a:ext cx="385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1" i="0" lang="en-US">
                <a:solidFill>
                  <a:srgbClr val="DFE9FB"/>
                </a:solidFill>
                <a:latin typeface="Open Sans"/>
              </a:rPr>
              <a:t>ENGINE STATION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15588000" y="20880000"/>
            <a:ext cx="1980000" cy="3960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B1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15588000" y="20955600"/>
            <a:ext cx="198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 i="0" lang="en-US">
                <a:solidFill>
                  <a:srgbClr val="B18CFF"/>
                </a:solidFill>
                <a:latin typeface="Open Sans"/>
              </a:rPr>
              <a:t>WORKING MEMORY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5588000" y="21438000"/>
            <a:ext cx="3852000" cy="282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0" i="0" lang="en-US">
                <a:solidFill>
                  <a:srgbClr val="DFE9FB"/>
                </a:solidFill>
                <a:latin typeface="Open Sans"/>
              </a:rPr>
              <a:t>Memorize a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4-digit reactor code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, recall it across the station.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5588000" y="24444000"/>
            <a:ext cx="38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1" i="0" lang="en-US">
                <a:solidFill>
                  <a:srgbClr val="EEF6FF"/>
                </a:solidFill>
                <a:latin typeface="Open Sans"/>
              </a:rPr>
              <a:t>Recall accuracy · Typos · Timeout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10548000" y="25236000"/>
            <a:ext cx="4428000" cy="4986000"/>
          </a:xfrm>
          <a:prstGeom prst="roundRect">
            <a:avLst>
              <a:gd name="adj" fmla="val 5500"/>
            </a:avLst>
          </a:prstGeom>
          <a:solidFill>
            <a:srgbClr val="122448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10836000" y="25488000"/>
            <a:ext cx="38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i="0" lang="en-US">
                <a:solidFill>
                  <a:srgbClr val="FFFFFF"/>
                </a:solidFill>
                <a:latin typeface="Orbitron"/>
              </a:rPr>
              <a:t>STROOP CONSOLE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0836000" y="25866000"/>
            <a:ext cx="385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1" i="0" lang="en-US">
                <a:solidFill>
                  <a:srgbClr val="DFE9FB"/>
                </a:solidFill>
                <a:latin typeface="Open Sans"/>
              </a:rPr>
              <a:t>COMMS STATION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10836000" y="26190000"/>
            <a:ext cx="1476000" cy="3960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FF9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10836000" y="26265600"/>
            <a:ext cx="1476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 i="0" lang="en-US">
                <a:solidFill>
                  <a:srgbClr val="FF9B42"/>
                </a:solidFill>
                <a:latin typeface="Open Sans"/>
              </a:rPr>
              <a:t>INHIBITION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0836000" y="26748000"/>
            <a:ext cx="3852000" cy="282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0" i="0" lang="en-US">
                <a:solidFill>
                  <a:srgbClr val="DFE9FB"/>
                </a:solidFill>
                <a:latin typeface="Open Sans"/>
              </a:rPr>
              <a:t>The word and its ink color disagree — answer the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color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, not the word.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0836000" y="29754000"/>
            <a:ext cx="38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1" i="0" lang="en-US">
                <a:solidFill>
                  <a:srgbClr val="EEF6FF"/>
                </a:solidFill>
                <a:latin typeface="Open Sans"/>
              </a:rPr>
              <a:t>RT mean/SD · Commissions · Post-error slowing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15300000" y="25236000"/>
            <a:ext cx="4428000" cy="4986000"/>
          </a:xfrm>
          <a:prstGeom prst="roundRect">
            <a:avLst>
              <a:gd name="adj" fmla="val 5500"/>
            </a:avLst>
          </a:prstGeom>
          <a:solidFill>
            <a:srgbClr val="122448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15588000" y="25488000"/>
            <a:ext cx="38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i="0" lang="en-US">
                <a:solidFill>
                  <a:srgbClr val="FFFFFF"/>
                </a:solidFill>
                <a:latin typeface="Orbitron"/>
              </a:rPr>
              <a:t>POWER CELL RUN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5588000" y="25866000"/>
            <a:ext cx="385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1" i="0" lang="en-US">
                <a:solidFill>
                  <a:srgbClr val="DFE9FB"/>
                </a:solidFill>
                <a:latin typeface="Open Sans"/>
              </a:rPr>
              <a:t>LIFE-SUPPORT STATION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15588000" y="26190000"/>
            <a:ext cx="2106000" cy="3960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5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15588000" y="26265600"/>
            <a:ext cx="2106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 i="0" lang="en-US">
                <a:solidFill>
                  <a:srgbClr val="5EE6A8"/>
                </a:solidFill>
                <a:latin typeface="Open Sans"/>
              </a:rPr>
              <a:t>PLAN · ORGANIZE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5588000" y="26748000"/>
            <a:ext cx="3852000" cy="282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0" i="0" lang="en-US">
                <a:solidFill>
                  <a:srgbClr val="DFE9FB"/>
                </a:solidFill>
                <a:latin typeface="Open Sans"/>
              </a:rPr>
              <a:t>Find a power cell, route it across the station,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re-wire the socket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in time.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5588000" y="29754000"/>
            <a:ext cx="38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1" i="0" lang="en-US">
                <a:solidFill>
                  <a:srgbClr val="EEF6FF"/>
                </a:solidFill>
                <a:latin typeface="Open Sans"/>
              </a:rPr>
              <a:t>Pickup latency · Wiring errors · Completion time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10152000" y="31464000"/>
            <a:ext cx="9972000" cy="6048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10548000" y="31860000"/>
            <a:ext cx="9972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i="0" lang="en-US">
                <a:solidFill>
                  <a:srgbClr val="FFFFFF"/>
                </a:solidFill>
                <a:latin typeface="Orbitron"/>
              </a:rPr>
              <a:t>UNDER THE HOOD — MEASUREMENT PIPELINE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10764000" y="32508000"/>
            <a:ext cx="8964000" cy="999000"/>
          </a:xfrm>
          <a:prstGeom prst="roundRect">
            <a:avLst>
              <a:gd name="adj" fmla="val 18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11016000" y="32809500"/>
            <a:ext cx="84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Consolas"/>
              </a:rPr>
              <a:t>Mission console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 runs timed trials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10764000" y="33687000"/>
            <a:ext cx="8964000" cy="999000"/>
          </a:xfrm>
          <a:prstGeom prst="roundRect">
            <a:avLst>
              <a:gd name="adj" fmla="val 18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11016000" y="33988500"/>
            <a:ext cx="84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Consolas"/>
              </a:rPr>
              <a:t>Telemetry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 every action time-stamped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10764000" y="34866000"/>
            <a:ext cx="8964000" cy="999000"/>
          </a:xfrm>
          <a:prstGeom prst="roundRect">
            <a:avLst>
              <a:gd name="adj" fmla="val 18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11016000" y="35167500"/>
            <a:ext cx="84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Consolas"/>
              </a:rPr>
              <a:t>Metrics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 accuracy, speed, errors per task</a:t>
            </a:r>
          </a:p>
        </p:txBody>
      </p:sp>
      <p:sp>
        <p:nvSpPr>
          <p:cNvPr id="338" name="Rounded Rectangle 337"/>
          <p:cNvSpPr/>
          <p:nvPr/>
        </p:nvSpPr>
        <p:spPr>
          <a:xfrm>
            <a:off x="10764000" y="36045000"/>
            <a:ext cx="8964000" cy="999000"/>
          </a:xfrm>
          <a:prstGeom prst="roundRect">
            <a:avLst>
              <a:gd name="adj" fmla="val 18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11016000" y="36346500"/>
            <a:ext cx="84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Consolas"/>
              </a:rPr>
              <a:t>Report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 HTML profile · CSV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0548000" y="32580000"/>
            <a:ext cx="43200" cy="4464000"/>
          </a:xfrm>
          <a:prstGeom prst="rect">
            <a:avLst/>
          </a:prstGeom>
          <a:solidFill>
            <a:srgbClr val="FF9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ounded Rectangle 340"/>
          <p:cNvSpPr/>
          <p:nvPr/>
        </p:nvSpPr>
        <p:spPr>
          <a:xfrm>
            <a:off x="20484000" y="7200000"/>
            <a:ext cx="9000000" cy="666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20880000" y="7596000"/>
            <a:ext cx="90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4FD8FF"/>
                </a:solidFill>
                <a:latin typeface="Orbitron"/>
              </a:rPr>
              <a:t>06  </a:t>
            </a:r>
            <a:r>
              <a:rPr sz="2700" b="1" i="0" lang="en-US">
                <a:solidFill>
                  <a:srgbClr val="FFFFFF"/>
                </a:solidFill>
                <a:latin typeface="Orbitron"/>
              </a:rPr>
              <a:t>TECHNOLOGIES &amp; TOOLS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20880000" y="8244000"/>
            <a:ext cx="8208000" cy="627428"/>
          </a:xfrm>
          <a:prstGeom prst="roundRect">
            <a:avLst>
              <a:gd name="adj" fmla="val 22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ounded Rectangle 343"/>
          <p:cNvSpPr/>
          <p:nvPr/>
        </p:nvSpPr>
        <p:spPr>
          <a:xfrm>
            <a:off x="21060000" y="8435314"/>
            <a:ext cx="244800" cy="244800"/>
          </a:xfrm>
          <a:prstGeom prst="roundRect">
            <a:avLst>
              <a:gd name="adj" fmla="val 30000"/>
            </a:avLst>
          </a:prstGeom>
          <a:solidFill>
            <a:srgbClr val="4F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21456000" y="8359714"/>
            <a:ext cx="74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Open Sans"/>
              </a:rPr>
              <a:t>Unity 6 · URP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— 3D engine &amp; rendering pipeline</a:t>
            </a:r>
          </a:p>
        </p:txBody>
      </p:sp>
      <p:sp>
        <p:nvSpPr>
          <p:cNvPr id="346" name="Rounded Rectangle 345"/>
          <p:cNvSpPr/>
          <p:nvPr/>
        </p:nvSpPr>
        <p:spPr>
          <a:xfrm>
            <a:off x="20880000" y="8997428"/>
            <a:ext cx="8208000" cy="627428"/>
          </a:xfrm>
          <a:prstGeom prst="roundRect">
            <a:avLst>
              <a:gd name="adj" fmla="val 22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ounded Rectangle 346"/>
          <p:cNvSpPr/>
          <p:nvPr/>
        </p:nvSpPr>
        <p:spPr>
          <a:xfrm>
            <a:off x="21060000" y="9188742"/>
            <a:ext cx="244800" cy="244800"/>
          </a:xfrm>
          <a:prstGeom prst="roundRect">
            <a:avLst>
              <a:gd name="adj" fmla="val 30000"/>
            </a:avLst>
          </a:prstGeom>
          <a:solidFill>
            <a:srgbClr val="B1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21456000" y="9113142"/>
            <a:ext cx="74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Open Sans"/>
              </a:rPr>
              <a:t>C#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— gameplay &amp; assessment logic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20880000" y="9750857"/>
            <a:ext cx="8208000" cy="627428"/>
          </a:xfrm>
          <a:prstGeom prst="roundRect">
            <a:avLst>
              <a:gd name="adj" fmla="val 22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ounded Rectangle 349"/>
          <p:cNvSpPr/>
          <p:nvPr/>
        </p:nvSpPr>
        <p:spPr>
          <a:xfrm>
            <a:off x="21060000" y="9942171"/>
            <a:ext cx="244800" cy="244800"/>
          </a:xfrm>
          <a:prstGeom prst="roundRect">
            <a:avLst>
              <a:gd name="adj" fmla="val 30000"/>
            </a:avLst>
          </a:prstGeom>
          <a:solidFill>
            <a:srgbClr val="5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21456000" y="9866571"/>
            <a:ext cx="74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Open Sans"/>
              </a:rPr>
              <a:t>Unity Input System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— first-person controls</a:t>
            </a:r>
          </a:p>
        </p:txBody>
      </p:sp>
      <p:sp>
        <p:nvSpPr>
          <p:cNvPr id="352" name="Rounded Rectangle 351"/>
          <p:cNvSpPr/>
          <p:nvPr/>
        </p:nvSpPr>
        <p:spPr>
          <a:xfrm>
            <a:off x="20880000" y="10504285"/>
            <a:ext cx="8208000" cy="627428"/>
          </a:xfrm>
          <a:prstGeom prst="roundRect">
            <a:avLst>
              <a:gd name="adj" fmla="val 22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ounded Rectangle 352"/>
          <p:cNvSpPr/>
          <p:nvPr/>
        </p:nvSpPr>
        <p:spPr>
          <a:xfrm>
            <a:off x="21060000" y="10695600"/>
            <a:ext cx="244800" cy="244800"/>
          </a:xfrm>
          <a:prstGeom prst="roundRect">
            <a:avLst>
              <a:gd name="adj" fmla="val 30000"/>
            </a:avLst>
          </a:prstGeom>
          <a:solidFill>
            <a:srgbClr val="FF9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21456000" y="10620000"/>
            <a:ext cx="74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Open Sans"/>
              </a:rPr>
              <a:t>TextMeshPro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— HUD &amp; console UI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20880000" y="11257714"/>
            <a:ext cx="8208000" cy="627428"/>
          </a:xfrm>
          <a:prstGeom prst="roundRect">
            <a:avLst>
              <a:gd name="adj" fmla="val 22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ounded Rectangle 355"/>
          <p:cNvSpPr/>
          <p:nvPr/>
        </p:nvSpPr>
        <p:spPr>
          <a:xfrm>
            <a:off x="21060000" y="11449028"/>
            <a:ext cx="244800" cy="244800"/>
          </a:xfrm>
          <a:prstGeom prst="roundRect">
            <a:avLst>
              <a:gd name="adj" fmla="val 30000"/>
            </a:avLst>
          </a:prstGeom>
          <a:solidFill>
            <a:srgbClr val="4F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21456000" y="11373428"/>
            <a:ext cx="74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Open Sans"/>
              </a:rPr>
              <a:t>ElevenLabs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— AI mission voice-overs</a:t>
            </a:r>
          </a:p>
        </p:txBody>
      </p:sp>
      <p:sp>
        <p:nvSpPr>
          <p:cNvPr id="358" name="Rounded Rectangle 357"/>
          <p:cNvSpPr/>
          <p:nvPr/>
        </p:nvSpPr>
        <p:spPr>
          <a:xfrm>
            <a:off x="20880000" y="12011142"/>
            <a:ext cx="8208000" cy="627428"/>
          </a:xfrm>
          <a:prstGeom prst="roundRect">
            <a:avLst>
              <a:gd name="adj" fmla="val 22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ounded Rectangle 358"/>
          <p:cNvSpPr/>
          <p:nvPr/>
        </p:nvSpPr>
        <p:spPr>
          <a:xfrm>
            <a:off x="21060000" y="12202457"/>
            <a:ext cx="244800" cy="244800"/>
          </a:xfrm>
          <a:prstGeom prst="roundRect">
            <a:avLst>
              <a:gd name="adj" fmla="val 30000"/>
            </a:avLst>
          </a:prstGeom>
          <a:solidFill>
            <a:srgbClr val="B1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21456000" y="12126857"/>
            <a:ext cx="74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Open Sans"/>
              </a:rPr>
              <a:t>Meshy AI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— 3D station props &amp; consoles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20880000" y="12764571"/>
            <a:ext cx="8208000" cy="627428"/>
          </a:xfrm>
          <a:prstGeom prst="roundRect">
            <a:avLst>
              <a:gd name="adj" fmla="val 22000"/>
            </a:avLst>
          </a:prstGeom>
          <a:solidFill>
            <a:srgbClr val="0A152E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ounded Rectangle 361"/>
          <p:cNvSpPr/>
          <p:nvPr/>
        </p:nvSpPr>
        <p:spPr>
          <a:xfrm>
            <a:off x="21060000" y="12955885"/>
            <a:ext cx="244800" cy="244800"/>
          </a:xfrm>
          <a:prstGeom prst="roundRect">
            <a:avLst>
              <a:gd name="adj" fmla="val 30000"/>
            </a:avLst>
          </a:prstGeom>
          <a:solidFill>
            <a:srgbClr val="5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21456000" y="12880285"/>
            <a:ext cx="74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 i="0" lang="en-US">
                <a:solidFill>
                  <a:srgbClr val="FFFFFF"/>
                </a:solidFill>
                <a:latin typeface="Open Sans"/>
              </a:rPr>
              <a:t>Git · GitHub</a:t>
            </a:r>
            <a:r>
              <a:rPr sz="1900" b="0" i="0" lang="en-US">
                <a:solidFill>
                  <a:srgbClr val="DFE9FB"/>
                </a:solidFill>
                <a:latin typeface="Open Sans"/>
              </a:rPr>
              <a:t>  — version control &amp; delivery</a:t>
            </a:r>
          </a:p>
        </p:txBody>
      </p:sp>
      <p:sp>
        <p:nvSpPr>
          <p:cNvPr id="364" name="Rounded Rectangle 363"/>
          <p:cNvSpPr/>
          <p:nvPr/>
        </p:nvSpPr>
        <p:spPr>
          <a:xfrm>
            <a:off x="20484000" y="14198400"/>
            <a:ext cx="9000000" cy="414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20880000" y="14594400"/>
            <a:ext cx="90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4FD8FF"/>
                </a:solidFill>
                <a:latin typeface="Orbitron"/>
              </a:rPr>
              <a:t>07  </a:t>
            </a:r>
            <a:r>
              <a:rPr sz="2700" b="1" i="0" lang="en-US">
                <a:solidFill>
                  <a:srgbClr val="FFFFFF"/>
                </a:solidFill>
                <a:latin typeface="Orbitron"/>
              </a:rPr>
              <a:t>TESTING &amp; EVALUATION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20880000" y="15242400"/>
            <a:ext cx="8208000" cy="7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200" b="1" i="0" lang="en-US">
                <a:solidFill>
                  <a:srgbClr val="4FD8FF"/>
                </a:solidFill>
                <a:latin typeface="Open Sans"/>
              </a:rPr>
              <a:t>◆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Rapid test missions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— full pipeline checked end-to-end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200" b="1" i="0" lang="en-US">
                <a:solidFill>
                  <a:srgbClr val="4FD8FF"/>
                </a:solidFill>
                <a:latin typeface="Open Sans"/>
              </a:rPr>
              <a:t>◆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Live assessor view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verified during real missions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2200" b="1" i="0" lang="en-US">
                <a:solidFill>
                  <a:srgbClr val="4FD8FF"/>
                </a:solidFill>
                <a:latin typeface="Open Sans"/>
              </a:rPr>
              <a:t>◆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Pilot playtests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with peers ahead of the exhibition</a:t>
            </a:r>
          </a:p>
        </p:txBody>
      </p:sp>
      <p:sp>
        <p:nvSpPr>
          <p:cNvPr id="367" name="Rounded Rectangle 366"/>
          <p:cNvSpPr/>
          <p:nvPr/>
        </p:nvSpPr>
        <p:spPr>
          <a:xfrm>
            <a:off x="20484000" y="18676800"/>
            <a:ext cx="9000000" cy="666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20880000" y="19072800"/>
            <a:ext cx="90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4FD8FF"/>
                </a:solidFill>
                <a:latin typeface="Orbitron"/>
              </a:rPr>
              <a:t>08  </a:t>
            </a:r>
            <a:r>
              <a:rPr sz="2700" b="1" i="0" lang="en-US">
                <a:solidFill>
                  <a:srgbClr val="FFFFFF"/>
                </a:solidFill>
                <a:latin typeface="Orbitron"/>
              </a:rPr>
              <a:t>CHALLENGES &amp; INSIGHTS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20880000" y="19720800"/>
            <a:ext cx="8208000" cy="4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800" b="1" i="0" lang="en-US">
                <a:solidFill>
                  <a:srgbClr val="FF9B42"/>
                </a:solidFill>
                <a:latin typeface="Orbitron"/>
              </a:rPr>
              <a:t>01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Fun vs. validity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— free play outside, strict timing inside every console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800" b="1" i="0" lang="en-US">
                <a:solidFill>
                  <a:srgbClr val="FF9B42"/>
                </a:solidFill>
                <a:latin typeface="Orbitron"/>
              </a:rPr>
              <a:t>02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Invisible measurement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— the “test” stays out of sight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800" b="1" i="0" lang="en-US">
                <a:solidFill>
                  <a:srgbClr val="FF9B42"/>
                </a:solidFill>
                <a:latin typeface="Orbitron"/>
              </a:rPr>
              <a:t>03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One shared core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— a new cognitive task is a single script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800" b="1" i="0" lang="en-US">
                <a:solidFill>
                  <a:srgbClr val="FF9B42"/>
                </a:solidFill>
                <a:latin typeface="Orbitron"/>
              </a:rPr>
              <a:t>04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AI assets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— generated 3D props needed Unity rework</a:t>
            </a:r>
          </a:p>
        </p:txBody>
      </p:sp>
      <p:sp>
        <p:nvSpPr>
          <p:cNvPr id="370" name="Rounded Rectangle 369"/>
          <p:cNvSpPr/>
          <p:nvPr/>
        </p:nvSpPr>
        <p:spPr>
          <a:xfrm>
            <a:off x="20880000" y="23824800"/>
            <a:ext cx="8208000" cy="1080000"/>
          </a:xfrm>
          <a:prstGeom prst="roundRect">
            <a:avLst>
              <a:gd name="adj" fmla="val 10000"/>
            </a:avLst>
          </a:prstGeom>
          <a:solidFill>
            <a:srgbClr val="102A44"/>
          </a:solidFill>
          <a:ln w="19050">
            <a:solidFill>
              <a:srgbClr val="4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21096000" y="23968800"/>
            <a:ext cx="7776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1" lang="en-US">
                <a:solidFill>
                  <a:srgbClr val="E8F0FF"/>
                </a:solidFill>
                <a:latin typeface="Open Sans"/>
              </a:rPr>
              <a:t>Players forget they are being measured — and strict timing is exactly what keeps the data meaningful.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20484000" y="25675199"/>
            <a:ext cx="9000000" cy="504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20880000" y="26071199"/>
            <a:ext cx="90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4FD8FF"/>
                </a:solidFill>
                <a:latin typeface="Orbitron"/>
              </a:rPr>
              <a:t>09  </a:t>
            </a:r>
            <a:r>
              <a:rPr sz="2700" b="1" i="0" lang="en-US">
                <a:solidFill>
                  <a:srgbClr val="FFFFFF"/>
                </a:solidFill>
                <a:latin typeface="Orbitron"/>
              </a:rPr>
              <a:t>PROJECT REVIEW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20880000" y="26719199"/>
            <a:ext cx="8208000" cy="3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2200" b="1" i="0" lang="en-US">
                <a:solidFill>
                  <a:srgbClr val="5EE6A8"/>
                </a:solidFill>
                <a:latin typeface="Open Sans"/>
              </a:rPr>
              <a:t>✔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Goals met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— all four cognitive domains playable end-to-end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2200" b="1" i="0" lang="en-US">
                <a:solidFill>
                  <a:srgbClr val="5EE6A8"/>
                </a:solidFill>
                <a:latin typeface="Open Sans"/>
              </a:rPr>
              <a:t>✔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~26 metrics per session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— HTML + CSV + raw log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2200" b="1" i="0" lang="en-US">
                <a:solidFill>
                  <a:srgbClr val="5EE6A8"/>
                </a:solidFill>
                <a:latin typeface="Open Sans"/>
              </a:rPr>
              <a:t>✔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Demo-ready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— stable 10-minute missions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2200" b="1" i="0" lang="en-US">
                <a:solidFill>
                  <a:srgbClr val="FF9B42"/>
                </a:solidFill>
                <a:latin typeface="Open Sans"/>
              </a:rPr>
              <a:t>↻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In hindsight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— playtest earlier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2200" b="1" i="0" lang="en-US">
                <a:solidFill>
                  <a:srgbClr val="4FD8FF"/>
                </a:solidFill>
                <a:latin typeface="Open Sans"/>
              </a:rPr>
              <a:t>→  </a:t>
            </a:r>
            <a:r>
              <a:rPr sz="2200" b="1" i="0" lang="en-US">
                <a:solidFill>
                  <a:srgbClr val="FFFFFF"/>
                </a:solidFill>
                <a:latin typeface="Open Sans"/>
              </a:rPr>
              <a:t>Next</a:t>
            </a:r>
            <a:r>
              <a:rPr sz="2200" b="0" i="0" lang="en-US">
                <a:solidFill>
                  <a:srgbClr val="DFE9FB"/>
                </a:solidFill>
                <a:latin typeface="Open Sans"/>
              </a:rPr>
              <a:t> — validation study against standard BRIEF-A scores</a:t>
            </a:r>
          </a:p>
        </p:txBody>
      </p:sp>
      <p:sp>
        <p:nvSpPr>
          <p:cNvPr id="375" name="Rounded Rectangle 374"/>
          <p:cNvSpPr/>
          <p:nvPr/>
        </p:nvSpPr>
        <p:spPr>
          <a:xfrm>
            <a:off x="20484000" y="31053599"/>
            <a:ext cx="9000000" cy="396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ounded Rectangle 375"/>
          <p:cNvSpPr/>
          <p:nvPr/>
        </p:nvSpPr>
        <p:spPr>
          <a:xfrm>
            <a:off x="20448000" y="31017599"/>
            <a:ext cx="9072000" cy="4032000"/>
          </a:xfrm>
          <a:prstGeom prst="roundRect">
            <a:avLst>
              <a:gd name="adj" fmla="val 6000"/>
            </a:avLst>
          </a:prstGeom>
          <a:solidFill>
            <a:srgbClr val="4F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ounded Rectangle 376"/>
          <p:cNvSpPr/>
          <p:nvPr/>
        </p:nvSpPr>
        <p:spPr>
          <a:xfrm>
            <a:off x="20505600" y="31075199"/>
            <a:ext cx="8956800" cy="3916800"/>
          </a:xfrm>
          <a:prstGeom prst="roundRect">
            <a:avLst>
              <a:gd name="adj" fmla="val 6000"/>
            </a:avLst>
          </a:prstGeom>
          <a:solidFill>
            <a:srgbClr val="0B1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20880000" y="31449599"/>
            <a:ext cx="90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4FD8FF"/>
                </a:solidFill>
                <a:latin typeface="Orbitron"/>
              </a:rPr>
              <a:t>10  </a:t>
            </a:r>
            <a:r>
              <a:rPr sz="2700" b="1" i="0" lang="en-US">
                <a:solidFill>
                  <a:srgbClr val="FFFFFF"/>
                </a:solidFill>
                <a:latin typeface="Orbitron"/>
              </a:rPr>
              <a:t>KEY TAKEAWAY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20880000" y="32097599"/>
            <a:ext cx="8208000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450" b="0" i="0" lang="en-US">
                <a:solidFill>
                  <a:srgbClr val="E8F0FF"/>
                </a:solidFill>
                <a:latin typeface="Open Sans"/>
              </a:rPr>
              <a:t>Assessment doesn't have to feel like a test. A </a:t>
            </a:r>
            <a:r>
              <a:rPr sz="2450" b="1" i="0" lang="en-US">
                <a:solidFill>
                  <a:srgbClr val="FF9B42"/>
                </a:solidFill>
                <a:latin typeface="Open Sans"/>
              </a:rPr>
              <a:t>10-minute space mission</a:t>
            </a:r>
            <a:r>
              <a:rPr sz="2450" b="0" i="0" lang="en-US">
                <a:solidFill>
                  <a:srgbClr val="E8F0FF"/>
                </a:solidFill>
                <a:latin typeface="Open Sans"/>
              </a:rPr>
              <a:t> can quietly produce a </a:t>
            </a:r>
            <a:r>
              <a:rPr sz="2450" b="1" i="0" lang="en-US">
                <a:solidFill>
                  <a:srgbClr val="4FD8FF"/>
                </a:solidFill>
                <a:latin typeface="Open Sans"/>
              </a:rPr>
              <a:t>full executive-function profile</a:t>
            </a:r>
            <a:r>
              <a:rPr sz="2450" b="0" i="0" lang="en-US">
                <a:solidFill>
                  <a:srgbClr val="E8F0FF"/>
                </a:solidFill>
                <a:latin typeface="Open Sans"/>
              </a:rPr>
              <a:t> — engagement and measurement in the same loop.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20484000" y="35351999"/>
            <a:ext cx="9000000" cy="2160000"/>
          </a:xfrm>
          <a:prstGeom prst="roundRect">
            <a:avLst>
              <a:gd name="adj" fmla="val 45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ounded Rectangle 380"/>
          <p:cNvSpPr/>
          <p:nvPr/>
        </p:nvSpPr>
        <p:spPr>
          <a:xfrm>
            <a:off x="20736000" y="35567999"/>
            <a:ext cx="1728000" cy="172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2" name="Picture 381" descr="qr_githu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44000" y="35675999"/>
            <a:ext cx="1512000" cy="1512000"/>
          </a:xfrm>
          <a:prstGeom prst="rect">
            <a:avLst/>
          </a:prstGeom>
        </p:spPr>
      </p:pic>
      <p:sp>
        <p:nvSpPr>
          <p:cNvPr id="383" name="TextBox 382"/>
          <p:cNvSpPr txBox="1"/>
          <p:nvPr/>
        </p:nvSpPr>
        <p:spPr>
          <a:xfrm>
            <a:off x="22680000" y="35711999"/>
            <a:ext cx="644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1" i="0" lang="en-US">
                <a:solidFill>
                  <a:srgbClr val="FFFFFF"/>
                </a:solidFill>
                <a:latin typeface="Orbitron"/>
              </a:rPr>
              <a:t>FULL CODE &amp; DOCS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22680000" y="36143999"/>
            <a:ext cx="644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 lang="en-US">
                <a:solidFill>
                  <a:srgbClr val="FFFFFF"/>
                </a:solidFill>
                <a:latin typeface="Open Sans"/>
              </a:rPr>
              <a:t>github.com/lidorbenhamo26/Final-Project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22680000" y="36503999"/>
            <a:ext cx="644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0" i="0" lang="en-US">
                <a:solidFill>
                  <a:srgbClr val="DFE9FB"/>
                </a:solidFill>
                <a:latin typeface="Open Sans"/>
              </a:rPr>
              <a:t>Unity project · project book · demo video</a:t>
            </a:r>
          </a:p>
        </p:txBody>
      </p:sp>
      <p:sp>
        <p:nvSpPr>
          <p:cNvPr id="386" name="Rounded Rectangle 385"/>
          <p:cNvSpPr/>
          <p:nvPr/>
        </p:nvSpPr>
        <p:spPr>
          <a:xfrm>
            <a:off x="792000" y="38016000"/>
            <a:ext cx="28692000" cy="2448000"/>
          </a:xfrm>
          <a:prstGeom prst="roundRect">
            <a:avLst>
              <a:gd name="adj" fmla="val 8000"/>
            </a:avLst>
          </a:prstGeom>
          <a:solidFill>
            <a:srgbClr val="0A142C"/>
          </a:solidFill>
          <a:ln w="8890">
            <a:solidFill>
              <a:srgbClr val="3E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1440000" y="38376000"/>
            <a:ext cx="540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4400" b="1" i="0" lang="en-US">
                <a:solidFill>
                  <a:srgbClr val="4FD8FF"/>
                </a:solidFill>
                <a:latin typeface="Orbitron"/>
              </a:rPr>
              <a:t>4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440000" y="39456000"/>
            <a:ext cx="54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800" b="1" i="0" lang="en-US">
                <a:solidFill>
                  <a:srgbClr val="DFE9FB"/>
                </a:solidFill>
                <a:latin typeface="Open Sans"/>
              </a:rPr>
              <a:t>COGNITIVE STATIONS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6840000" y="38376000"/>
            <a:ext cx="540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4400" b="1" i="0" lang="en-US">
                <a:solidFill>
                  <a:srgbClr val="FF9B42"/>
                </a:solidFill>
                <a:latin typeface="Orbitron"/>
              </a:rPr>
              <a:t>10 MIN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6840000" y="39456000"/>
            <a:ext cx="54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800" b="1" i="0" lang="en-US">
                <a:solidFill>
                  <a:srgbClr val="DFE9FB"/>
                </a:solidFill>
                <a:latin typeface="Open Sans"/>
              </a:rPr>
              <a:t>ONE FULL MISSION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6768000" y="38448000"/>
            <a:ext cx="18000" cy="1584000"/>
          </a:xfrm>
          <a:prstGeom prst="rect">
            <a:avLst/>
          </a:prstGeom>
          <a:solidFill>
            <a:srgbClr val="3E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12240000" y="38376000"/>
            <a:ext cx="540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4400" b="1" i="0" lang="en-US">
                <a:solidFill>
                  <a:srgbClr val="B18CFF"/>
                </a:solidFill>
                <a:latin typeface="Orbitron"/>
              </a:rPr>
              <a:t>~26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2240000" y="39456000"/>
            <a:ext cx="54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800" b="1" i="0" lang="en-US">
                <a:solidFill>
                  <a:srgbClr val="DFE9FB"/>
                </a:solidFill>
                <a:latin typeface="Open Sans"/>
              </a:rPr>
              <a:t>METRICS PER SESSION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12168000" y="38448000"/>
            <a:ext cx="18000" cy="1584000"/>
          </a:xfrm>
          <a:prstGeom prst="rect">
            <a:avLst/>
          </a:prstGeom>
          <a:solidFill>
            <a:srgbClr val="3E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17640000" y="38376000"/>
            <a:ext cx="540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4400" b="1" i="0" lang="en-US">
                <a:solidFill>
                  <a:srgbClr val="5EE6A8"/>
                </a:solidFill>
                <a:latin typeface="Orbitron"/>
              </a:rPr>
              <a:t>3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7640000" y="39456000"/>
            <a:ext cx="54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800" b="1" i="0" lang="en-US">
                <a:solidFill>
                  <a:srgbClr val="DFE9FB"/>
                </a:solidFill>
                <a:latin typeface="Open Sans"/>
              </a:rPr>
              <a:t>EXPORT ARTIFACTS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17568000" y="38448000"/>
            <a:ext cx="18000" cy="1584000"/>
          </a:xfrm>
          <a:prstGeom prst="rect">
            <a:avLst/>
          </a:prstGeom>
          <a:solidFill>
            <a:srgbClr val="3E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8" name="Picture 397" descr="char_wav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12000" y="37512000"/>
            <a:ext cx="1642464" cy="2880000"/>
          </a:xfrm>
          <a:prstGeom prst="rect">
            <a:avLst/>
          </a:prstGeom>
        </p:spPr>
      </p:pic>
      <p:sp>
        <p:nvSpPr>
          <p:cNvPr id="399" name="Rounded Rectangle 398"/>
          <p:cNvSpPr/>
          <p:nvPr/>
        </p:nvSpPr>
        <p:spPr>
          <a:xfrm>
            <a:off x="23328000" y="38232000"/>
            <a:ext cx="3168000" cy="540000"/>
          </a:xfrm>
          <a:prstGeom prst="roundRect">
            <a:avLst>
              <a:gd name="adj" fmla="val 50000"/>
            </a:avLst>
          </a:prstGeom>
          <a:solidFill>
            <a:srgbClr val="102A44"/>
          </a:solidFill>
          <a:ln w="8890">
            <a:solidFill>
              <a:srgbClr val="9F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23328000" y="38354400"/>
            <a:ext cx="316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600" b="1" i="0" lang="en-US">
                <a:solidFill>
                  <a:srgbClr val="9FDCFF"/>
                </a:solidFill>
                <a:latin typeface="Open Sans"/>
              </a:rPr>
              <a:t>Ready for launch!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0" y="42048000"/>
            <a:ext cx="30276000" cy="756000"/>
          </a:xfrm>
          <a:prstGeom prst="rect">
            <a:avLst/>
          </a:prstGeom>
          <a:solidFill>
            <a:srgbClr val="050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0" y="42048000"/>
            <a:ext cx="30276000" cy="28800"/>
          </a:xfrm>
          <a:prstGeom prst="rect">
            <a:avLst/>
          </a:prstGeom>
          <a:solidFill>
            <a:srgbClr val="3E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0" y="42246000"/>
            <a:ext cx="3027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750" b="1" i="0" lang="en-US">
                <a:solidFill>
                  <a:srgbClr val="FFFFFF"/>
                </a:solidFill>
                <a:latin typeface="Open Sans"/>
              </a:rPr>
              <a:t>Braude College of Engineering, Karmiel</a:t>
            </a:r>
            <a:r>
              <a:rPr sz="1750" b="0" i="0" lang="en-US">
                <a:solidFill>
                  <a:srgbClr val="DFE9FB"/>
                </a:solidFill>
                <a:latin typeface="Open Sans"/>
              </a:rPr>
              <a:t>   ◆   Department of Software Engineering &amp; Information Systems   ◆   Capstone Project 61999 — Phase B   ◆   </a:t>
            </a:r>
            <a:r>
              <a:rPr sz="1750" b="1" i="0" lang="en-US">
                <a:solidFill>
                  <a:srgbClr val="FFFFFF"/>
                </a:solidFill>
                <a:latin typeface="Open Sans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