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060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61882" y="13913173"/>
            <a:ext cx="28427" cy="2842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313382" y="15559948"/>
            <a:ext cx="21892" cy="2189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8685956" y="41576533"/>
            <a:ext cx="29783" cy="2978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427258" y="37614686"/>
            <a:ext cx="17383" cy="1738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84502" y="17986063"/>
            <a:ext cx="31806" cy="3180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64227" y="8742686"/>
            <a:ext cx="21275" cy="2127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226929" y="38458291"/>
            <a:ext cx="16190" cy="1619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894664" y="12561952"/>
            <a:ext cx="24098" cy="2409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33325" y="8637428"/>
            <a:ext cx="26670" cy="2667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557860" y="3335047"/>
            <a:ext cx="14974" cy="1497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433318" y="4903140"/>
            <a:ext cx="32206" cy="3220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485609" y="41197467"/>
            <a:ext cx="19871" cy="1987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8542280" y="37381118"/>
            <a:ext cx="24653" cy="2465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624345" y="7754960"/>
            <a:ext cx="23944" cy="2394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65310" y="4105393"/>
            <a:ext cx="22928" cy="2292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754270" y="38396859"/>
            <a:ext cx="29181" cy="2918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6115263" y="6024942"/>
            <a:ext cx="26634" cy="2663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960417" y="9275164"/>
            <a:ext cx="12733" cy="1273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72008" y="8572951"/>
            <a:ext cx="25599" cy="2559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22931" y="41287255"/>
            <a:ext cx="15589" cy="1558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85960" y="41087768"/>
            <a:ext cx="29310" cy="2931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2361734" y="3537956"/>
            <a:ext cx="20411" cy="2041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644315" y="14596077"/>
            <a:ext cx="22391" cy="2239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5126" y="1228316"/>
            <a:ext cx="13662" cy="136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7914166" y="18851681"/>
            <a:ext cx="20280" cy="2028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4828875" y="22167820"/>
            <a:ext cx="24342" cy="2434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9077" y="11710251"/>
            <a:ext cx="23681" cy="2368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150597" y="27441047"/>
            <a:ext cx="26449" cy="2644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62359" y="16428111"/>
            <a:ext cx="14365" cy="1436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234080" y="24942614"/>
            <a:ext cx="31488" cy="3148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18481" y="4694968"/>
            <a:ext cx="28900" cy="2890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016347" y="9420476"/>
            <a:ext cx="22683" cy="2268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1416516" y="20028245"/>
            <a:ext cx="22561" cy="2256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532186" y="28038640"/>
            <a:ext cx="30769" cy="3076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73693" y="36609038"/>
            <a:ext cx="17865" cy="1786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748825" y="40186480"/>
            <a:ext cx="18812" cy="1881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507133" y="32749444"/>
            <a:ext cx="29998" cy="2999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45459" y="34974899"/>
            <a:ext cx="19240" cy="19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0084806" y="17682098"/>
            <a:ext cx="19734" cy="1973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749978" y="12306580"/>
            <a:ext cx="12623" cy="1262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9382412" y="27959112"/>
            <a:ext cx="12720" cy="1272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663205" y="27888714"/>
            <a:ext cx="22565" cy="2256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308844" y="4873931"/>
            <a:ext cx="19565" cy="1956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70428" y="37982807"/>
            <a:ext cx="14216" cy="142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297545" y="24643948"/>
            <a:ext cx="21835" cy="2183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3228966" y="13300999"/>
            <a:ext cx="19008" cy="190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8638079" y="24821788"/>
            <a:ext cx="13209" cy="1320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0153197" y="36595379"/>
            <a:ext cx="22485" cy="2248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0718714" y="27137719"/>
            <a:ext cx="22655" cy="2265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877812" y="24802952"/>
            <a:ext cx="23993" cy="2399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776338" y="4830410"/>
            <a:ext cx="31898" cy="3189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427929" y="23183080"/>
            <a:ext cx="13995" cy="1399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24080129" y="5237769"/>
            <a:ext cx="24045" cy="2404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5420343" y="28171996"/>
            <a:ext cx="26875" cy="2687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4513711" y="8834893"/>
            <a:ext cx="29107" cy="2910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6887152" y="10445649"/>
            <a:ext cx="17309" cy="1730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5701990" y="26848152"/>
            <a:ext cx="18154" cy="1815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6875962" y="42419656"/>
            <a:ext cx="24267" cy="2426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3448023" y="3391995"/>
            <a:ext cx="25551" cy="2555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815365" y="33132776"/>
            <a:ext cx="30249" cy="3024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5291286" y="8018740"/>
            <a:ext cx="13733" cy="1373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459009" y="38563519"/>
            <a:ext cx="18432" cy="1843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8123077" y="20964836"/>
            <a:ext cx="14251" cy="1425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4511638" y="93506"/>
            <a:ext cx="23693" cy="2369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6680513" y="27745922"/>
            <a:ext cx="25716" cy="257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989570" y="13989478"/>
            <a:ext cx="26965" cy="2696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6832425" y="1794073"/>
            <a:ext cx="29969" cy="2996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68921" y="2252048"/>
            <a:ext cx="24883" cy="2488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452287" y="18762751"/>
            <a:ext cx="13167" cy="1316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6170027" y="4230945"/>
            <a:ext cx="29282" cy="2928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3211885" y="20539936"/>
            <a:ext cx="30246" cy="3024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7235429" y="32833803"/>
            <a:ext cx="22488" cy="2248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682177" y="5558818"/>
            <a:ext cx="30389" cy="3038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9299620" y="32167106"/>
            <a:ext cx="23304" cy="23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5346007" y="7515024"/>
            <a:ext cx="28752" cy="28752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7732997" y="16683541"/>
            <a:ext cx="14091" cy="1409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3300972" y="10422411"/>
            <a:ext cx="27830" cy="2783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6575636" y="13894710"/>
            <a:ext cx="17815" cy="1781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6211138" y="13540514"/>
            <a:ext cx="26145" cy="2614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7033665" y="26429869"/>
            <a:ext cx="31705" cy="3170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7114604" y="6960480"/>
            <a:ext cx="28202" cy="2820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1465534" y="14716393"/>
            <a:ext cx="25571" cy="2557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987456" y="33765913"/>
            <a:ext cx="26237" cy="2623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429695" y="21578382"/>
            <a:ext cx="23503" cy="235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96351" y="20660134"/>
            <a:ext cx="14890" cy="1489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27157561" y="20643319"/>
            <a:ext cx="31843" cy="3184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6229025" y="10504663"/>
            <a:ext cx="23155" cy="2315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237016" y="5574661"/>
            <a:ext cx="31899" cy="3189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668702" y="15222297"/>
            <a:ext cx="17394" cy="1739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2506220" y="10047410"/>
            <a:ext cx="29003" cy="290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8223633" y="4831679"/>
            <a:ext cx="22432" cy="224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3349733" y="31474204"/>
            <a:ext cx="15768" cy="1576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041114" y="2588636"/>
            <a:ext cx="17268" cy="1726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20712662" y="23034097"/>
            <a:ext cx="20686" cy="2068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8765927" y="4945753"/>
            <a:ext cx="17129" cy="1712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26699013" y="20720704"/>
            <a:ext cx="24743" cy="2474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1524902" y="17347122"/>
            <a:ext cx="20920" cy="20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9469586" y="35012352"/>
            <a:ext cx="18682" cy="1868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9574876" y="29910726"/>
            <a:ext cx="23100" cy="231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31595" y="28734624"/>
            <a:ext cx="26810" cy="2681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709425" y="25398456"/>
            <a:ext cx="13671" cy="1367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7565591" y="26491189"/>
            <a:ext cx="24140" cy="2414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23284907" y="33909512"/>
            <a:ext cx="18205" cy="1820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290508" y="26546349"/>
            <a:ext cx="19669" cy="1966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0538141" y="3507770"/>
            <a:ext cx="21923" cy="2192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6731964" y="40858950"/>
            <a:ext cx="17925" cy="1792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2023160" y="19728640"/>
            <a:ext cx="29460" cy="294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1260017" y="31046396"/>
            <a:ext cx="26506" cy="2650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20743866" y="27169148"/>
            <a:ext cx="16613" cy="1661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25793408" y="41052821"/>
            <a:ext cx="23278" cy="2327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4418384" y="4192335"/>
            <a:ext cx="24976" cy="2497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8034972" y="11124516"/>
            <a:ext cx="15180" cy="1518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7062846" y="1783078"/>
            <a:ext cx="30824" cy="3082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510929" y="25132936"/>
            <a:ext cx="27512" cy="2751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0404848" y="28662771"/>
            <a:ext cx="25484" cy="254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2159398" y="29598314"/>
            <a:ext cx="27623" cy="2762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959437" y="39517535"/>
            <a:ext cx="27143" cy="2714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9739150" y="4017154"/>
            <a:ext cx="20551" cy="2055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998609" y="33368809"/>
            <a:ext cx="17203" cy="172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24088845" y="17109041"/>
            <a:ext cx="24415" cy="2441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9198486" y="21478379"/>
            <a:ext cx="13220" cy="132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7049330" y="37318941"/>
            <a:ext cx="22656" cy="2265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3960151" y="9560490"/>
            <a:ext cx="22261" cy="2226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27031403" y="8319502"/>
            <a:ext cx="32158" cy="3215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20019598" y="4827053"/>
            <a:ext cx="22597" cy="2259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3838941" y="42372265"/>
            <a:ext cx="28129" cy="2812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7954382" y="26487346"/>
            <a:ext cx="23121" cy="2312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24815309" y="11618016"/>
            <a:ext cx="14631" cy="1463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30082201" y="37693710"/>
            <a:ext cx="12819" cy="1281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3906803" y="19509492"/>
            <a:ext cx="20089" cy="2008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075550" y="33785413"/>
            <a:ext cx="26153" cy="2615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8359296" y="42153139"/>
            <a:ext cx="27249" cy="2724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3397163" y="40856148"/>
            <a:ext cx="26953" cy="2695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3087894" y="5814493"/>
            <a:ext cx="21705" cy="2170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9210957" y="39487967"/>
            <a:ext cx="16025" cy="1602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4946922" y="16644712"/>
            <a:ext cx="14711" cy="1471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8184861" y="32836796"/>
            <a:ext cx="31922" cy="3192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8644550" y="34532744"/>
            <a:ext cx="28693" cy="2869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8062837" y="20209077"/>
            <a:ext cx="26482" cy="264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20143006" y="4722334"/>
            <a:ext cx="17933" cy="1793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35848" y="12247763"/>
            <a:ext cx="19805" cy="1980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998013" y="2737329"/>
            <a:ext cx="18940" cy="189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4825954" y="27870509"/>
            <a:ext cx="13172" cy="1317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25740809" y="42465433"/>
            <a:ext cx="18375" cy="1837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026697" y="9591212"/>
            <a:ext cx="17163" cy="1716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7329950" y="8375409"/>
            <a:ext cx="24023" cy="2402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9565208" y="30963033"/>
            <a:ext cx="22216" cy="222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3725115" y="21181036"/>
            <a:ext cx="12872" cy="12872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4182725" y="6076591"/>
            <a:ext cx="13759" cy="1375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7057204" y="17051470"/>
            <a:ext cx="20814" cy="2081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5978965" y="34065288"/>
            <a:ext cx="30339" cy="3033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20550191" y="28240222"/>
            <a:ext cx="30459" cy="3045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29656216" y="28685004"/>
            <a:ext cx="19371" cy="1937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870909" y="27020913"/>
            <a:ext cx="25144" cy="2514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2318012" y="2692393"/>
            <a:ext cx="13356" cy="1335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068342" y="21415337"/>
            <a:ext cx="32252" cy="32252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22437775" y="25917421"/>
            <a:ext cx="23416" cy="234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6733518" y="15692947"/>
            <a:ext cx="27649" cy="2764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4994554" y="41134122"/>
            <a:ext cx="22548" cy="225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7493844" y="35428279"/>
            <a:ext cx="25477" cy="2547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6731533" y="39834052"/>
            <a:ext cx="17300" cy="1730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26241580" y="41126402"/>
            <a:ext cx="31005" cy="3100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24319657" y="8561976"/>
            <a:ext cx="12803" cy="128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7666389" y="4081734"/>
            <a:ext cx="12678" cy="1267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6405865" y="28812436"/>
            <a:ext cx="32056" cy="3205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9712419" y="2261651"/>
            <a:ext cx="16297" cy="1629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22869133" y="8717889"/>
            <a:ext cx="13337" cy="1333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7906747" y="26325165"/>
            <a:ext cx="23730" cy="2373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0724970" y="3336572"/>
            <a:ext cx="12901" cy="1290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28334275" y="28587140"/>
            <a:ext cx="15861" cy="1586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5687676" y="41535803"/>
            <a:ext cx="29552" cy="2955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21577016" y="730350"/>
            <a:ext cx="31555" cy="3155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5430880" y="24504051"/>
            <a:ext cx="26223" cy="2622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5534453" y="6670610"/>
            <a:ext cx="26161" cy="2616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7994501" y="10518577"/>
            <a:ext cx="19291" cy="1929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0395780" y="12174245"/>
            <a:ext cx="19499" cy="19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1010828" y="9389910"/>
            <a:ext cx="12674" cy="1267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657244" y="2761437"/>
            <a:ext cx="22984" cy="2298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9554830" y="1181629"/>
            <a:ext cx="20234" cy="2023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4066401" y="28590930"/>
            <a:ext cx="20865" cy="2086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25675300" y="13949691"/>
            <a:ext cx="21991" cy="2199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29934379" y="26499645"/>
            <a:ext cx="28255" cy="2825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4378662" y="18471123"/>
            <a:ext cx="16374" cy="1637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9823108" y="8306275"/>
            <a:ext cx="31748" cy="317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6911802" y="11605439"/>
            <a:ext cx="17696" cy="1769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4028131" y="41629384"/>
            <a:ext cx="24292" cy="2429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288339" y="26476523"/>
            <a:ext cx="23975" cy="2397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5154630" y="42250453"/>
            <a:ext cx="19958" cy="1995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7793819" y="21188031"/>
            <a:ext cx="26716" cy="2671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6782150" y="26428788"/>
            <a:ext cx="30537" cy="3053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7797135" y="18583468"/>
            <a:ext cx="21248" cy="2124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26000936" y="9474479"/>
            <a:ext cx="23592" cy="2359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5804081" y="30099823"/>
            <a:ext cx="29728" cy="2972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23012459" y="38439927"/>
            <a:ext cx="20254" cy="2025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5413797" y="6329959"/>
            <a:ext cx="13009" cy="1300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4447902" y="36182608"/>
            <a:ext cx="12943" cy="1294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21731219" y="39927955"/>
            <a:ext cx="20090" cy="2009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5326389" y="9490650"/>
            <a:ext cx="23987" cy="23987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5407268" y="32035158"/>
            <a:ext cx="26537" cy="2653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8110952" y="23707269"/>
            <a:ext cx="29158" cy="2915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196956" y="4856603"/>
            <a:ext cx="26141" cy="2614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27888949" y="40982967"/>
            <a:ext cx="14373" cy="1437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936917" y="4697817"/>
            <a:ext cx="15728" cy="1572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919412" y="38235567"/>
            <a:ext cx="20001" cy="2000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2477865" y="8684490"/>
            <a:ext cx="15814" cy="1581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5172336" y="2564889"/>
            <a:ext cx="30974" cy="3097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4015655" y="35393574"/>
            <a:ext cx="19527" cy="19527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2437858" y="19974467"/>
            <a:ext cx="18703" cy="187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2158387" y="29753884"/>
            <a:ext cx="24475" cy="2447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4935671" y="29709244"/>
            <a:ext cx="25670" cy="2567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8432970" y="16737011"/>
            <a:ext cx="31349" cy="3134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6405482" y="25290893"/>
            <a:ext cx="28545" cy="2854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20347040" y="2663702"/>
            <a:ext cx="32285" cy="3228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3205039" y="36291214"/>
            <a:ext cx="17453" cy="1745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21217162" y="2362819"/>
            <a:ext cx="29283" cy="2928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29434043" y="868546"/>
            <a:ext cx="19439" cy="1943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23301173" y="20614619"/>
            <a:ext cx="30300" cy="3030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22071318" y="18451553"/>
            <a:ext cx="32238" cy="3223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20926441" y="39377309"/>
            <a:ext cx="21748" cy="217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7723982" y="24356171"/>
            <a:ext cx="30399" cy="3039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ounded Rectangle 222"/>
          <p:cNvSpPr/>
          <p:nvPr/>
        </p:nvSpPr>
        <p:spPr>
          <a:xfrm>
            <a:off x="792000" y="576000"/>
            <a:ext cx="3456000" cy="1440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4" name="Picture 223" descr="braud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000" y="756000"/>
            <a:ext cx="3257963" cy="1080000"/>
          </a:xfrm>
          <a:prstGeom prst="rect">
            <a:avLst/>
          </a:prstGeom>
        </p:spPr>
      </p:pic>
      <p:sp>
        <p:nvSpPr>
          <p:cNvPr id="225" name="Rounded Rectangle 224"/>
          <p:cNvSpPr/>
          <p:nvPr/>
        </p:nvSpPr>
        <p:spPr>
          <a:xfrm>
            <a:off x="19728000" y="648000"/>
            <a:ext cx="5832000" cy="558000"/>
          </a:xfrm>
          <a:prstGeom prst="roundRect">
            <a:avLst>
              <a:gd name="adj" fmla="val 500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19728000" y="770400"/>
            <a:ext cx="583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500" b="1" i="0" lang="en-US">
                <a:solidFill>
                  <a:srgbClr val="9FDCFF"/>
                </a:solidFill>
                <a:latin typeface="Orbitron"/>
              </a:rPr>
              <a:t>CAPSTONE PROJECT — PHASE B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25776000" y="648000"/>
            <a:ext cx="3708000" cy="558000"/>
          </a:xfrm>
          <a:prstGeom prst="roundRect">
            <a:avLst>
              <a:gd name="adj" fmla="val 50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25776000" y="770400"/>
            <a:ext cx="370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500" b="1" i="0" lang="en-US">
                <a:solidFill>
                  <a:srgbClr val="06121F"/>
                </a:solidFill>
                <a:latin typeface="Orbitron"/>
              </a:rPr>
              <a:t>TEAM 26-1-D-17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92000" y="2304000"/>
            <a:ext cx="21600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800" b="1" i="0" lang="en-US">
                <a:solidFill>
                  <a:srgbClr val="FFFFFF"/>
                </a:solidFill>
                <a:latin typeface="Orbitron"/>
              </a:rPr>
              <a:t>MISSION </a:t>
            </a:r>
            <a:r>
              <a:rPr sz="12800" b="1" i="0" lang="en-US">
                <a:solidFill>
                  <a:srgbClr val="4FD8FF"/>
                </a:solidFill>
                <a:latin typeface="Orbitron"/>
              </a:rPr>
              <a:t>FOCUS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792000" y="4320000"/>
            <a:ext cx="2160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3700" b="1" i="0" lang="en-US">
                <a:solidFill>
                  <a:srgbClr val="9FDCFF"/>
                </a:solidFill>
                <a:latin typeface="Open Sans"/>
              </a:rPr>
              <a:t>A SPACE-STATION COGNITIVE ASSESSMENT GAME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2000" y="5256000"/>
            <a:ext cx="216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3300" b="1" i="0" lang="en-US">
                <a:solidFill>
                  <a:srgbClr val="E8F0FF"/>
                </a:solidFill>
                <a:latin typeface="Open Sans"/>
              </a:rPr>
              <a:t>Lidor Ben Hamo </a:t>
            </a:r>
            <a:r>
              <a:rPr sz="3300" b="1" i="0" lang="en-US">
                <a:solidFill>
                  <a:srgbClr val="FF9B42"/>
                </a:solidFill>
                <a:latin typeface="Open Sans"/>
              </a:rPr>
              <a:t>&amp; </a:t>
            </a:r>
            <a:r>
              <a:rPr sz="3300" b="1" i="0" lang="en-US">
                <a:solidFill>
                  <a:srgbClr val="E8F0FF"/>
                </a:solidFill>
                <a:latin typeface="Open Sans"/>
              </a:rPr>
              <a:t>Yahli Rapaport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92000" y="5940000"/>
            <a:ext cx="2520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0" i="0" lang="en-US">
                <a:solidFill>
                  <a:srgbClr val="C2D2EF"/>
                </a:solidFill>
                <a:latin typeface="Open Sans"/>
              </a:rPr>
              <a:t>Advisor: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Dr. Moshe Sulamy</a:t>
            </a:r>
            <a:r>
              <a:rPr sz="2400" b="0" i="0" lang="en-US">
                <a:solidFill>
                  <a:srgbClr val="C2D2EF"/>
                </a:solidFill>
                <a:latin typeface="Open Sans"/>
              </a:rPr>
              <a:t>   ·   Department of Software Engineering &amp; Information Systems</a:t>
            </a:r>
          </a:p>
        </p:txBody>
      </p:sp>
      <p:sp>
        <p:nvSpPr>
          <p:cNvPr id="233" name="Oval 232"/>
          <p:cNvSpPr/>
          <p:nvPr/>
        </p:nvSpPr>
        <p:spPr>
          <a:xfrm>
            <a:off x="23328000" y="1008000"/>
            <a:ext cx="4968000" cy="4968000"/>
          </a:xfrm>
          <a:prstGeom prst="ellipse">
            <a:avLst/>
          </a:prstGeom>
          <a:solidFill>
            <a:srgbClr val="0B1E3E"/>
          </a:solidFill>
          <a:ln w="2540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4" name="Picture 233" descr="char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12000" y="1440000"/>
            <a:ext cx="2710294" cy="5328000"/>
          </a:xfrm>
          <a:prstGeom prst="rect">
            <a:avLst/>
          </a:prstGeom>
        </p:spPr>
      </p:pic>
      <p:sp>
        <p:nvSpPr>
          <p:cNvPr id="235" name="Rounded Rectangle 234"/>
          <p:cNvSpPr/>
          <p:nvPr/>
        </p:nvSpPr>
        <p:spPr>
          <a:xfrm>
            <a:off x="792000" y="7200000"/>
            <a:ext cx="9000000" cy="5688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1188000" y="75960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01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BACKGROUND &amp; NEED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1188000" y="8208000"/>
            <a:ext cx="8208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00" b="0" i="0" lang="en-US">
                <a:solidFill>
                  <a:srgbClr val="C2D2EF"/>
                </a:solidFill>
                <a:latin typeface="Open Sans"/>
              </a:rPr>
              <a:t>Executive-function assessment still leans on </a:t>
            </a:r>
            <a:r>
              <a:rPr sz="2100" b="1" i="0" lang="en-US">
                <a:solidFill>
                  <a:srgbClr val="FFFFFF"/>
                </a:solidFill>
                <a:latin typeface="Open Sans"/>
              </a:rPr>
              <a:t>questionnaires (BRIEF-A)</a:t>
            </a:r>
            <a:r>
              <a:rPr sz="2100" b="0" i="0" lang="en-US">
                <a:solidFill>
                  <a:srgbClr val="C2D2EF"/>
                </a:solidFill>
                <a:latin typeface="Open Sans"/>
              </a:rPr>
              <a:t> and dry lab drills: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1188000" y="9108000"/>
            <a:ext cx="8208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Stressful &amp; repetitive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— scores drop with motivation, not ability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Low engagement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, especially for children and young adults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Subjective ratings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— little objective, trial-level data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1188000" y="11520000"/>
            <a:ext cx="8208000" cy="972000"/>
          </a:xfrm>
          <a:prstGeom prst="roundRect">
            <a:avLst>
              <a:gd name="adj" fmla="val 12000"/>
            </a:avLst>
          </a:prstGeom>
          <a:solidFill>
            <a:srgbClr val="33241A"/>
          </a:solidFill>
          <a:ln w="19050">
            <a:solidFill>
              <a:srgbClr val="FF9B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1404000" y="11646000"/>
            <a:ext cx="777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FFD9B3"/>
                </a:solidFill>
                <a:latin typeface="Open Sans"/>
              </a:rPr>
              <a:t>The need: measurement that is objective, repeatable — and actually fun to take.</a:t>
            </a:r>
          </a:p>
        </p:txBody>
      </p:sp>
      <p:sp>
        <p:nvSpPr>
          <p:cNvPr id="241" name="Rounded Rectangle 240"/>
          <p:cNvSpPr/>
          <p:nvPr/>
        </p:nvSpPr>
        <p:spPr>
          <a:xfrm>
            <a:off x="792000" y="13332000"/>
            <a:ext cx="9000000" cy="5472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1188000" y="137280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02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THE SOLUTION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1188000" y="14340000"/>
            <a:ext cx="8208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FFFFFF"/>
                </a:solidFill>
                <a:latin typeface="Open Sans"/>
              </a:rPr>
              <a:t>Mission Focus</a:t>
            </a:r>
            <a:r>
              <a:rPr sz="2100" b="0" i="0" lang="en-US">
                <a:solidFill>
                  <a:srgbClr val="C2D2EF"/>
                </a:solidFill>
                <a:latin typeface="Open Sans"/>
              </a:rPr>
              <a:t> turns assessment into a 10-minute space mission: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1188000" y="14880000"/>
            <a:ext cx="8208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A first-person astronaut keeps a failing station alive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Every repair console is a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cognitive paradigm in disguise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Every reaction is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silently logged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— no test anxiety, no clipboards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One click: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assessor-ready HTML report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+ analysis-ready CSV</a:t>
            </a:r>
          </a:p>
        </p:txBody>
      </p:sp>
      <p:sp>
        <p:nvSpPr>
          <p:cNvPr id="245" name="Rounded Rectangle 244"/>
          <p:cNvSpPr/>
          <p:nvPr/>
        </p:nvSpPr>
        <p:spPr>
          <a:xfrm>
            <a:off x="792000" y="19248000"/>
            <a:ext cx="9000000" cy="6660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1188000" y="196440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03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MAIN REQUIREMENTS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188000" y="20292000"/>
            <a:ext cx="8208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Playable 10-min mission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— tutorial + voice guidance, not a quiz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Measure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attention, working memory, inhibition, planning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and response accuracy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Per-trial logging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: reaction time, accuracy, omissions, false alarms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Assessor tools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: freeze (F11) and live report overlay (F12)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Export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HTML report + per-task CSV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per participant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Local-only data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— privacy by design, no network</a:t>
            </a:r>
          </a:p>
        </p:txBody>
      </p:sp>
      <p:sp>
        <p:nvSpPr>
          <p:cNvPr id="248" name="Rounded Rectangle 247"/>
          <p:cNvSpPr/>
          <p:nvPr/>
        </p:nvSpPr>
        <p:spPr>
          <a:xfrm>
            <a:off x="792000" y="26352000"/>
            <a:ext cx="9000000" cy="11160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1188000" y="267480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i="0" lang="en-US">
                <a:solidFill>
                  <a:srgbClr val="FFFFFF"/>
                </a:solidFill>
                <a:latin typeface="Orbitron"/>
              </a:rPr>
              <a:t>MISSION SNAPSHOTS</a:t>
            </a:r>
          </a:p>
        </p:txBody>
      </p:sp>
      <p:pic>
        <p:nvPicPr>
          <p:cNvPr id="250" name="Picture 249" descr="shot_radar.png"/>
          <p:cNvPicPr>
            <a:picLocks noChangeAspect="1"/>
          </p:cNvPicPr>
          <p:nvPr/>
        </p:nvPicPr>
        <p:blipFill>
          <a:blip r:embed="rId4"/>
          <a:srcRect l="7413" r="7413"/>
          <a:stretch>
            <a:fillRect/>
          </a:stretch>
        </p:blipFill>
        <p:spPr>
          <a:xfrm>
            <a:off x="1188000" y="27396000"/>
            <a:ext cx="3960000" cy="2592000"/>
          </a:xfrm>
          <a:prstGeom prst="rect">
            <a:avLst/>
          </a:prstGeom>
          <a:ln w="12700">
            <a:solidFill>
              <a:srgbClr val="3E6FA0"/>
            </a:solidFill>
          </a:ln>
        </p:spPr>
      </p:pic>
      <p:sp>
        <p:nvSpPr>
          <p:cNvPr id="251" name="TextBox 250"/>
          <p:cNvSpPr txBox="1"/>
          <p:nvPr/>
        </p:nvSpPr>
        <p:spPr>
          <a:xfrm>
            <a:off x="1188000" y="30060000"/>
            <a:ext cx="39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 lang="en-US">
                <a:solidFill>
                  <a:srgbClr val="8DA3C9"/>
                </a:solidFill>
                <a:latin typeface="Open Sans"/>
              </a:rPr>
              <a:t>Radar Scan console — attention trials</a:t>
            </a:r>
          </a:p>
        </p:txBody>
      </p:sp>
      <p:pic>
        <p:nvPicPr>
          <p:cNvPr id="252" name="Picture 251" descr="shot_station.png"/>
          <p:cNvPicPr>
            <a:picLocks noChangeAspect="1"/>
          </p:cNvPicPr>
          <p:nvPr/>
        </p:nvPicPr>
        <p:blipFill>
          <a:blip r:embed="rId5"/>
          <a:srcRect l="7562" r="7562"/>
          <a:stretch>
            <a:fillRect/>
          </a:stretch>
        </p:blipFill>
        <p:spPr>
          <a:xfrm>
            <a:off x="5436000" y="27396000"/>
            <a:ext cx="3960000" cy="2592000"/>
          </a:xfrm>
          <a:prstGeom prst="rect">
            <a:avLst/>
          </a:prstGeom>
          <a:ln w="12700">
            <a:solidFill>
              <a:srgbClr val="3E6FA0"/>
            </a:solidFill>
          </a:ln>
        </p:spPr>
      </p:pic>
      <p:sp>
        <p:nvSpPr>
          <p:cNvPr id="253" name="TextBox 252"/>
          <p:cNvSpPr txBox="1"/>
          <p:nvPr/>
        </p:nvSpPr>
        <p:spPr>
          <a:xfrm>
            <a:off x="5436000" y="30060000"/>
            <a:ext cx="39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 lang="en-US">
                <a:solidFill>
                  <a:srgbClr val="8DA3C9"/>
                </a:solidFill>
                <a:latin typeface="Open Sans"/>
              </a:rPr>
              <a:t>Aboard the station — memorize the code</a:t>
            </a:r>
          </a:p>
        </p:txBody>
      </p:sp>
      <p:pic>
        <p:nvPicPr>
          <p:cNvPr id="254" name="Picture 253" descr="shot_stroop.png"/>
          <p:cNvPicPr>
            <a:picLocks noChangeAspect="1"/>
          </p:cNvPicPr>
          <p:nvPr/>
        </p:nvPicPr>
        <p:blipFill>
          <a:blip r:embed="rId6"/>
          <a:srcRect l="7031" r="7031"/>
          <a:stretch>
            <a:fillRect/>
          </a:stretch>
        </p:blipFill>
        <p:spPr>
          <a:xfrm>
            <a:off x="1188000" y="30708000"/>
            <a:ext cx="3960000" cy="2592000"/>
          </a:xfrm>
          <a:prstGeom prst="rect">
            <a:avLst/>
          </a:prstGeom>
          <a:ln w="12700">
            <a:solidFill>
              <a:srgbClr val="3E6FA0"/>
            </a:solidFill>
          </a:ln>
        </p:spPr>
      </p:pic>
      <p:sp>
        <p:nvSpPr>
          <p:cNvPr id="255" name="TextBox 254"/>
          <p:cNvSpPr txBox="1"/>
          <p:nvPr/>
        </p:nvSpPr>
        <p:spPr>
          <a:xfrm>
            <a:off x="1188000" y="33372000"/>
            <a:ext cx="39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 lang="en-US">
                <a:solidFill>
                  <a:srgbClr val="8DA3C9"/>
                </a:solidFill>
                <a:latin typeface="Open Sans"/>
              </a:rPr>
              <a:t>Stroop console — match the ink color</a:t>
            </a:r>
          </a:p>
        </p:txBody>
      </p:sp>
      <p:pic>
        <p:nvPicPr>
          <p:cNvPr id="256" name="Picture 255" descr="shot_wires.png"/>
          <p:cNvPicPr>
            <a:picLocks noChangeAspect="1"/>
          </p:cNvPicPr>
          <p:nvPr/>
        </p:nvPicPr>
        <p:blipFill>
          <a:blip r:embed="rId7"/>
          <a:srcRect l="7318" r="7318"/>
          <a:stretch>
            <a:fillRect/>
          </a:stretch>
        </p:blipFill>
        <p:spPr>
          <a:xfrm>
            <a:off x="5436000" y="30708000"/>
            <a:ext cx="3960000" cy="2592000"/>
          </a:xfrm>
          <a:prstGeom prst="rect">
            <a:avLst/>
          </a:prstGeom>
          <a:ln w="12700">
            <a:solidFill>
              <a:srgbClr val="3E6FA0"/>
            </a:solidFill>
          </a:ln>
        </p:spPr>
      </p:pic>
      <p:sp>
        <p:nvSpPr>
          <p:cNvPr id="257" name="TextBox 256"/>
          <p:cNvSpPr txBox="1"/>
          <p:nvPr/>
        </p:nvSpPr>
        <p:spPr>
          <a:xfrm>
            <a:off x="5436000" y="33372000"/>
            <a:ext cx="39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 lang="en-US">
                <a:solidFill>
                  <a:srgbClr val="8DA3C9"/>
                </a:solidFill>
                <a:latin typeface="Open Sans"/>
              </a:rPr>
              <a:t>Life-Support wires — planning task</a:t>
            </a:r>
          </a:p>
        </p:txBody>
      </p:sp>
      <p:sp>
        <p:nvSpPr>
          <p:cNvPr id="258" name="Rounded Rectangle 257"/>
          <p:cNvSpPr/>
          <p:nvPr/>
        </p:nvSpPr>
        <p:spPr>
          <a:xfrm>
            <a:off x="1188000" y="34020000"/>
            <a:ext cx="3960000" cy="2592000"/>
          </a:xfrm>
          <a:prstGeom prst="roundRect">
            <a:avLst>
              <a:gd name="adj" fmla="val 6000"/>
            </a:avLst>
          </a:prstGeom>
          <a:solidFill>
            <a:srgbClr val="102244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9" name="Picture 258" descr="char_standin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30500" y="34128000"/>
            <a:ext cx="1275000" cy="2448000"/>
          </a:xfrm>
          <a:prstGeom prst="rect">
            <a:avLst/>
          </a:prstGeom>
        </p:spPr>
      </p:pic>
      <p:sp>
        <p:nvSpPr>
          <p:cNvPr id="260" name="TextBox 259"/>
          <p:cNvSpPr txBox="1"/>
          <p:nvPr/>
        </p:nvSpPr>
        <p:spPr>
          <a:xfrm>
            <a:off x="1188000" y="36684000"/>
            <a:ext cx="39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 lang="en-US">
                <a:solidFill>
                  <a:srgbClr val="8DA3C9"/>
                </a:solidFill>
                <a:latin typeface="Open Sans"/>
              </a:rPr>
              <a:t>Your astronaut — playable character</a:t>
            </a:r>
          </a:p>
        </p:txBody>
      </p:sp>
      <p:sp>
        <p:nvSpPr>
          <p:cNvPr id="261" name="Rounded Rectangle 260"/>
          <p:cNvSpPr/>
          <p:nvPr/>
        </p:nvSpPr>
        <p:spPr>
          <a:xfrm>
            <a:off x="5436000" y="34020000"/>
            <a:ext cx="3960000" cy="2592000"/>
          </a:xfrm>
          <a:prstGeom prst="roundRect">
            <a:avLst>
              <a:gd name="adj" fmla="val 6000"/>
            </a:avLst>
          </a:prstGeom>
          <a:solidFill>
            <a:srgbClr val="09142C"/>
          </a:solidFill>
          <a:ln w="17780">
            <a:solidFill>
              <a:srgbClr val="9FDC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5436000" y="35136000"/>
            <a:ext cx="39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200" b="0" i="0" lang="en-US">
                <a:solidFill>
                  <a:srgbClr val="9FDCFF"/>
                </a:solidFill>
                <a:latin typeface="Orbitron"/>
              </a:rPr>
              <a:t>SCREENSHOT SLOT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5436000" y="36684000"/>
            <a:ext cx="396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 lang="en-US">
                <a:solidFill>
                  <a:srgbClr val="8DA3C9"/>
                </a:solidFill>
                <a:latin typeface="Open Sans"/>
              </a:rPr>
              <a:t>Assessor HTML report — EF profile</a:t>
            </a:r>
          </a:p>
        </p:txBody>
      </p:sp>
      <p:sp>
        <p:nvSpPr>
          <p:cNvPr id="264" name="Rounded Rectangle 263"/>
          <p:cNvSpPr/>
          <p:nvPr/>
        </p:nvSpPr>
        <p:spPr>
          <a:xfrm>
            <a:off x="10152000" y="7200000"/>
            <a:ext cx="9972000" cy="10980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10548000" y="7596000"/>
            <a:ext cx="9972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04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SYSTEM FLOW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10872000" y="9036000"/>
            <a:ext cx="36000" cy="1216800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0548000" y="8316000"/>
            <a:ext cx="684000" cy="684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10548000" y="8431200"/>
            <a:ext cx="68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4FD8FF"/>
                </a:solidFill>
                <a:latin typeface="Orbitron"/>
              </a:rPr>
              <a:t>1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11484000" y="8280000"/>
            <a:ext cx="82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00" b="1" i="0" lang="en-US">
                <a:solidFill>
                  <a:srgbClr val="FFFFFF"/>
                </a:solidFill>
                <a:latin typeface="Open Sans"/>
              </a:rPr>
              <a:t>Participant Onboarding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11484000" y="8694000"/>
            <a:ext cx="8244000" cy="15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 i="0" lang="en-US">
                <a:solidFill>
                  <a:srgbClr val="C2D2EF"/>
                </a:solidFill>
                <a:latin typeface="Open Sans"/>
              </a:rPr>
              <a:t>ID, age and session details collected on a station terminal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10872000" y="10900800"/>
            <a:ext cx="36000" cy="1216800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0548000" y="10180800"/>
            <a:ext cx="684000" cy="684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10548000" y="10296000"/>
            <a:ext cx="68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4FD8FF"/>
                </a:solidFill>
                <a:latin typeface="Orbitron"/>
              </a:rPr>
              <a:t>2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11484000" y="10144800"/>
            <a:ext cx="82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00" b="1" i="0" lang="en-US">
                <a:solidFill>
                  <a:srgbClr val="FFFFFF"/>
                </a:solidFill>
                <a:latin typeface="Open Sans"/>
              </a:rPr>
              <a:t>Interactive Tutorial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11484000" y="10558800"/>
            <a:ext cx="8244000" cy="15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 i="0" lang="en-US">
                <a:solidFill>
                  <a:srgbClr val="C2D2EF"/>
                </a:solidFill>
                <a:latin typeface="Open Sans"/>
              </a:rPr>
              <a:t>Movement &amp; console training — skippable for returning participants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10872000" y="12765600"/>
            <a:ext cx="36000" cy="1216800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0548000" y="12045600"/>
            <a:ext cx="684000" cy="684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10548000" y="12160800"/>
            <a:ext cx="68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4FD8FF"/>
                </a:solidFill>
                <a:latin typeface="Orbitron"/>
              </a:rPr>
              <a:t>3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11484000" y="12009600"/>
            <a:ext cx="82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00" b="1" i="0" lang="en-US">
                <a:solidFill>
                  <a:srgbClr val="FFFFFF"/>
                </a:solidFill>
                <a:latin typeface="Open Sans"/>
              </a:rPr>
              <a:t>The Mission — 10 minutes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11484000" y="12423600"/>
            <a:ext cx="8244000" cy="15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 i="0" lang="en-US">
                <a:solidFill>
                  <a:srgbClr val="C2D2EF"/>
                </a:solidFill>
                <a:latin typeface="Open Sans"/>
              </a:rPr>
              <a:t>Tasks spawn at </a:t>
            </a:r>
            <a:r>
              <a:rPr sz="2000" b="1" i="0" lang="en-US">
                <a:solidFill>
                  <a:srgbClr val="9FDCFF"/>
                </a:solidFill>
                <a:latin typeface="Open Sans"/>
              </a:rPr>
              <a:t>4 stations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every </a:t>
            </a:r>
            <a:r>
              <a:rPr sz="2000" b="1" i="0" lang="en-US">
                <a:solidFill>
                  <a:srgbClr val="9FDCFF"/>
                </a:solidFill>
                <a:latin typeface="Open Sans"/>
              </a:rPr>
              <a:t>15–25 s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, up to </a:t>
            </a:r>
            <a:r>
              <a:rPr sz="2000" b="1" i="0" lang="en-US">
                <a:solidFill>
                  <a:srgbClr val="9FDCFF"/>
                </a:solidFill>
                <a:latin typeface="Open Sans"/>
              </a:rPr>
              <a:t>3 concurrent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10872000" y="14630400"/>
            <a:ext cx="36000" cy="1216800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0548000" y="13910400"/>
            <a:ext cx="684000" cy="684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10548000" y="14025599"/>
            <a:ext cx="68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4FD8FF"/>
                </a:solidFill>
                <a:latin typeface="Orbitron"/>
              </a:rPr>
              <a:t>4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11484000" y="13874400"/>
            <a:ext cx="82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00" b="1" i="0" lang="en-US">
                <a:solidFill>
                  <a:srgbClr val="FFFFFF"/>
                </a:solidFill>
                <a:latin typeface="Open Sans"/>
              </a:rPr>
              <a:t>Silent Telemetry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1484000" y="14288400"/>
            <a:ext cx="8244000" cy="15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 i="0" lang="en-US">
                <a:solidFill>
                  <a:srgbClr val="C2D2EF"/>
                </a:solidFill>
                <a:latin typeface="Open Sans"/>
              </a:rPr>
              <a:t>Every trial logged: </a:t>
            </a:r>
            <a:r>
              <a:rPr sz="2000" b="1" i="0" lang="en-US">
                <a:solidFill>
                  <a:srgbClr val="9FDCFF"/>
                </a:solidFill>
                <a:latin typeface="Open Sans"/>
              </a:rPr>
              <a:t>reaction time, result, omissions, false alarms</a:t>
            </a:r>
          </a:p>
        </p:txBody>
      </p:sp>
      <p:sp>
        <p:nvSpPr>
          <p:cNvPr id="286" name="Oval 285"/>
          <p:cNvSpPr/>
          <p:nvPr/>
        </p:nvSpPr>
        <p:spPr>
          <a:xfrm>
            <a:off x="10548000" y="15775200"/>
            <a:ext cx="684000" cy="684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10548000" y="15890400"/>
            <a:ext cx="68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2100" b="1" i="0" lang="en-US">
                <a:solidFill>
                  <a:srgbClr val="4FD8FF"/>
                </a:solidFill>
                <a:latin typeface="Orbitron"/>
              </a:rPr>
              <a:t>5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11484000" y="15739200"/>
            <a:ext cx="82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300" b="1" i="0" lang="en-US">
                <a:solidFill>
                  <a:srgbClr val="FFFFFF"/>
                </a:solidFill>
                <a:latin typeface="Open Sans"/>
              </a:rPr>
              <a:t>Assessor Report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1484000" y="16153200"/>
            <a:ext cx="8244000" cy="15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9FDCFF"/>
                </a:solidFill>
                <a:latin typeface="Open Sans"/>
              </a:rPr>
              <a:t>HTML profile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by domain + </a:t>
            </a:r>
            <a:r>
              <a:rPr sz="2000" b="1" i="0" lang="en-US">
                <a:solidFill>
                  <a:srgbClr val="9FDCFF"/>
                </a:solidFill>
                <a:latin typeface="Open Sans"/>
              </a:rPr>
              <a:t>Task-Summary CSV</a:t>
            </a:r>
            <a:r>
              <a:rPr sz="2000" b="0" i="0" lang="en-US">
                <a:solidFill>
                  <a:srgbClr val="C2D2EF"/>
                </a:solidFill>
                <a:latin typeface="Open Sans"/>
              </a:rPr>
              <a:t> + raw event log</a:t>
            </a:r>
          </a:p>
        </p:txBody>
      </p:sp>
      <p:sp>
        <p:nvSpPr>
          <p:cNvPr id="290" name="Rounded Rectangle 289"/>
          <p:cNvSpPr/>
          <p:nvPr/>
        </p:nvSpPr>
        <p:spPr>
          <a:xfrm>
            <a:off x="10152000" y="18882000"/>
            <a:ext cx="9972000" cy="11880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TextBox 290"/>
          <p:cNvSpPr txBox="1"/>
          <p:nvPr/>
        </p:nvSpPr>
        <p:spPr>
          <a:xfrm>
            <a:off x="10548000" y="19278000"/>
            <a:ext cx="9972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05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COGNITIVE TASKS</a:t>
            </a:r>
          </a:p>
        </p:txBody>
      </p:sp>
      <p:sp>
        <p:nvSpPr>
          <p:cNvPr id="292" name="Rounded Rectangle 291"/>
          <p:cNvSpPr/>
          <p:nvPr/>
        </p:nvSpPr>
        <p:spPr>
          <a:xfrm>
            <a:off x="10548000" y="19926000"/>
            <a:ext cx="4428000" cy="4986000"/>
          </a:xfrm>
          <a:prstGeom prst="roundRect">
            <a:avLst>
              <a:gd name="adj" fmla="val 5500"/>
            </a:avLst>
          </a:prstGeom>
          <a:solidFill>
            <a:srgbClr val="12244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10836000" y="20178000"/>
            <a:ext cx="38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FFFFFF"/>
                </a:solidFill>
                <a:latin typeface="Orbitron"/>
              </a:rPr>
              <a:t>RADAR SCAN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10836000" y="20556000"/>
            <a:ext cx="385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1" i="0" lang="en-US">
                <a:solidFill>
                  <a:srgbClr val="8DA3C9"/>
                </a:solidFill>
                <a:latin typeface="Open Sans"/>
              </a:rPr>
              <a:t>NAVIGATION STATION</a:t>
            </a:r>
          </a:p>
        </p:txBody>
      </p:sp>
      <p:sp>
        <p:nvSpPr>
          <p:cNvPr id="295" name="Rounded Rectangle 294"/>
          <p:cNvSpPr/>
          <p:nvPr/>
        </p:nvSpPr>
        <p:spPr>
          <a:xfrm>
            <a:off x="10836000" y="20880000"/>
            <a:ext cx="2894400" cy="37800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10836000" y="20955600"/>
            <a:ext cx="28944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1" i="0" lang="en-US">
                <a:solidFill>
                  <a:srgbClr val="4FD8FF"/>
                </a:solidFill>
                <a:latin typeface="Open Sans"/>
              </a:rPr>
              <a:t>ATTENTION · TASK-MONITOR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10836000" y="21402000"/>
            <a:ext cx="3852000" cy="28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900" b="0" i="0" lang="en-US">
                <a:solidFill>
                  <a:srgbClr val="C2D2EF"/>
                </a:solidFill>
                <a:latin typeface="Open Sans"/>
              </a:rPr>
              <a:t>Spot rare asteroid contacts among streams of debris —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40 rapid trials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, 1-second window.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10836000" y="24462000"/>
            <a:ext cx="38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1" i="0" lang="en-US">
                <a:solidFill>
                  <a:srgbClr val="9FDCFF"/>
                </a:solidFill>
                <a:latin typeface="Open Sans"/>
              </a:rPr>
              <a:t>Hits · False alarms · d′ sensitivity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15300000" y="19926000"/>
            <a:ext cx="4428000" cy="4986000"/>
          </a:xfrm>
          <a:prstGeom prst="roundRect">
            <a:avLst>
              <a:gd name="adj" fmla="val 5500"/>
            </a:avLst>
          </a:prstGeom>
          <a:solidFill>
            <a:srgbClr val="12244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15588000" y="20178000"/>
            <a:ext cx="38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FFFFFF"/>
                </a:solidFill>
                <a:latin typeface="Orbitron"/>
              </a:rPr>
              <a:t>CODE RECALL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15588000" y="20556000"/>
            <a:ext cx="385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1" i="0" lang="en-US">
                <a:solidFill>
                  <a:srgbClr val="8DA3C9"/>
                </a:solidFill>
                <a:latin typeface="Open Sans"/>
              </a:rPr>
              <a:t>ENGINE STATION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15588000" y="20880000"/>
            <a:ext cx="1778400" cy="37800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B1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15588000" y="20955600"/>
            <a:ext cx="17784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1" i="0" lang="en-US">
                <a:solidFill>
                  <a:srgbClr val="B18CFF"/>
                </a:solidFill>
                <a:latin typeface="Open Sans"/>
              </a:rPr>
              <a:t>WORKING MEMORY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15588000" y="21402000"/>
            <a:ext cx="3852000" cy="28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900" b="0" i="0" lang="en-US">
                <a:solidFill>
                  <a:srgbClr val="C2D2EF"/>
                </a:solidFill>
                <a:latin typeface="Open Sans"/>
              </a:rPr>
              <a:t>Memorize a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4-digit reactor code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, hold it while crossing the station, recall it on a keypad.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15588000" y="24462000"/>
            <a:ext cx="38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1" i="0" lang="en-US">
                <a:solidFill>
                  <a:srgbClr val="9FDCFF"/>
                </a:solidFill>
                <a:latin typeface="Open Sans"/>
              </a:rPr>
              <a:t>Recall accuracy · Typos · Timeout</a:t>
            </a:r>
          </a:p>
        </p:txBody>
      </p:sp>
      <p:sp>
        <p:nvSpPr>
          <p:cNvPr id="306" name="Rounded Rectangle 305"/>
          <p:cNvSpPr/>
          <p:nvPr/>
        </p:nvSpPr>
        <p:spPr>
          <a:xfrm>
            <a:off x="10548000" y="25236000"/>
            <a:ext cx="4428000" cy="4986000"/>
          </a:xfrm>
          <a:prstGeom prst="roundRect">
            <a:avLst>
              <a:gd name="adj" fmla="val 5500"/>
            </a:avLst>
          </a:prstGeom>
          <a:solidFill>
            <a:srgbClr val="12244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10836000" y="25488000"/>
            <a:ext cx="38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FFFFFF"/>
                </a:solidFill>
                <a:latin typeface="Orbitron"/>
              </a:rPr>
              <a:t>STROOP CONSOLE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10836000" y="25866000"/>
            <a:ext cx="385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1" i="0" lang="en-US">
                <a:solidFill>
                  <a:srgbClr val="8DA3C9"/>
                </a:solidFill>
                <a:latin typeface="Open Sans"/>
              </a:rPr>
              <a:t>COMMS STATION</a:t>
            </a:r>
          </a:p>
        </p:txBody>
      </p:sp>
      <p:sp>
        <p:nvSpPr>
          <p:cNvPr id="309" name="Rounded Rectangle 308"/>
          <p:cNvSpPr/>
          <p:nvPr/>
        </p:nvSpPr>
        <p:spPr>
          <a:xfrm>
            <a:off x="10836000" y="26190000"/>
            <a:ext cx="1332000" cy="37800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FF9B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10836000" y="26265600"/>
            <a:ext cx="1332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1" i="0" lang="en-US">
                <a:solidFill>
                  <a:srgbClr val="FF9B42"/>
                </a:solidFill>
                <a:latin typeface="Open Sans"/>
              </a:rPr>
              <a:t>INHIBITION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0836000" y="26712000"/>
            <a:ext cx="3852000" cy="28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900" b="0" i="0" lang="en-US">
                <a:solidFill>
                  <a:srgbClr val="C2D2EF"/>
                </a:solidFill>
                <a:latin typeface="Open Sans"/>
              </a:rPr>
              <a:t>Word and ink color disagree — answer by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color or meaning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as the rule flips. Plus a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Go/No-Go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variant.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10836000" y="29772000"/>
            <a:ext cx="38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1" i="0" lang="en-US">
                <a:solidFill>
                  <a:srgbClr val="9FDCFF"/>
                </a:solidFill>
                <a:latin typeface="Open Sans"/>
              </a:rPr>
              <a:t>RT mean/SD · Commissions · Post-error slowing</a:t>
            </a:r>
          </a:p>
        </p:txBody>
      </p:sp>
      <p:sp>
        <p:nvSpPr>
          <p:cNvPr id="313" name="Rounded Rectangle 312"/>
          <p:cNvSpPr/>
          <p:nvPr/>
        </p:nvSpPr>
        <p:spPr>
          <a:xfrm>
            <a:off x="15300000" y="25236000"/>
            <a:ext cx="4428000" cy="4986000"/>
          </a:xfrm>
          <a:prstGeom prst="roundRect">
            <a:avLst>
              <a:gd name="adj" fmla="val 5500"/>
            </a:avLst>
          </a:prstGeom>
          <a:solidFill>
            <a:srgbClr val="12244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15588000" y="25488000"/>
            <a:ext cx="385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FFFFFF"/>
                </a:solidFill>
                <a:latin typeface="Orbitron"/>
              </a:rPr>
              <a:t>POWER CELL RUN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15588000" y="25866000"/>
            <a:ext cx="385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1" i="0" lang="en-US">
                <a:solidFill>
                  <a:srgbClr val="8DA3C9"/>
                </a:solidFill>
                <a:latin typeface="Open Sans"/>
              </a:rPr>
              <a:t>LIFE-SUPPORT STATION</a:t>
            </a:r>
          </a:p>
        </p:txBody>
      </p:sp>
      <p:sp>
        <p:nvSpPr>
          <p:cNvPr id="316" name="Rounded Rectangle 315"/>
          <p:cNvSpPr/>
          <p:nvPr/>
        </p:nvSpPr>
        <p:spPr>
          <a:xfrm>
            <a:off x="15588000" y="26190000"/>
            <a:ext cx="1890000" cy="378000"/>
          </a:xfrm>
          <a:prstGeom prst="roundRect">
            <a:avLst>
              <a:gd name="adj" fmla="val 50000"/>
            </a:avLst>
          </a:prstGeom>
          <a:noFill/>
          <a:ln w="15240">
            <a:solidFill>
              <a:srgbClr val="5EE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15588000" y="26265600"/>
            <a:ext cx="189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300" b="1" i="0" lang="en-US">
                <a:solidFill>
                  <a:srgbClr val="5EE6A8"/>
                </a:solidFill>
                <a:latin typeface="Open Sans"/>
              </a:rPr>
              <a:t>PLAN · ORGANIZE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15588000" y="26712000"/>
            <a:ext cx="3852000" cy="28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900" b="0" i="0" lang="en-US">
                <a:solidFill>
                  <a:srgbClr val="C2D2EF"/>
                </a:solidFill>
                <a:latin typeface="Open Sans"/>
              </a:rPr>
              <a:t>Fetch a power cell, route it across the station and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re-wire the socket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before power drains —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100 s budget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.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15588000" y="29772000"/>
            <a:ext cx="385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400" b="1" i="0" lang="en-US">
                <a:solidFill>
                  <a:srgbClr val="9FDCFF"/>
                </a:solidFill>
                <a:latin typeface="Open Sans"/>
              </a:rPr>
              <a:t>Pickup latency · Wiring errors · Completion time</a:t>
            </a:r>
          </a:p>
        </p:txBody>
      </p:sp>
      <p:sp>
        <p:nvSpPr>
          <p:cNvPr id="320" name="Rounded Rectangle 319"/>
          <p:cNvSpPr/>
          <p:nvPr/>
        </p:nvSpPr>
        <p:spPr>
          <a:xfrm>
            <a:off x="10152000" y="31464000"/>
            <a:ext cx="9972000" cy="6048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10548000" y="31860000"/>
            <a:ext cx="9972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i="0" lang="en-US">
                <a:solidFill>
                  <a:srgbClr val="FFFFFF"/>
                </a:solidFill>
                <a:latin typeface="Orbitron"/>
              </a:rPr>
              <a:t>UNDER THE HOOD — MEASUREMENT PIPELINE</a:t>
            </a:r>
          </a:p>
        </p:txBody>
      </p:sp>
      <p:sp>
        <p:nvSpPr>
          <p:cNvPr id="322" name="Rounded Rectangle 321"/>
          <p:cNvSpPr/>
          <p:nvPr/>
        </p:nvSpPr>
        <p:spPr>
          <a:xfrm>
            <a:off x="10764000" y="32508000"/>
            <a:ext cx="8964000" cy="792000"/>
          </a:xfrm>
          <a:prstGeom prst="roundRect">
            <a:avLst>
              <a:gd name="adj" fmla="val 18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TextBox 322"/>
          <p:cNvSpPr txBox="1"/>
          <p:nvPr/>
        </p:nvSpPr>
        <p:spPr>
          <a:xfrm>
            <a:off x="11016000" y="32706000"/>
            <a:ext cx="84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9FDCFF"/>
                </a:solidFill>
                <a:latin typeface="Consolas"/>
              </a:rPr>
              <a:t>TaskStation</a:t>
            </a:r>
            <a:r>
              <a:rPr sz="1650" b="0" i="0" lang="en-US">
                <a:solidFill>
                  <a:srgbClr val="8DA3C9"/>
                </a:solidFill>
                <a:latin typeface="Open Sans"/>
              </a:rPr>
              <a:t>   spawns the task</a:t>
            </a:r>
          </a:p>
        </p:txBody>
      </p:sp>
      <p:sp>
        <p:nvSpPr>
          <p:cNvPr id="324" name="Rounded Rectangle 323"/>
          <p:cNvSpPr/>
          <p:nvPr/>
        </p:nvSpPr>
        <p:spPr>
          <a:xfrm>
            <a:off x="10764000" y="33444000"/>
            <a:ext cx="8964000" cy="792000"/>
          </a:xfrm>
          <a:prstGeom prst="roundRect">
            <a:avLst>
              <a:gd name="adj" fmla="val 18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11016000" y="33642000"/>
            <a:ext cx="84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9FDCFF"/>
                </a:solidFill>
                <a:latin typeface="Consolas"/>
              </a:rPr>
              <a:t>CognitiveTaskBase</a:t>
            </a:r>
            <a:r>
              <a:rPr sz="1650" b="0" i="0" lang="en-US">
                <a:solidFill>
                  <a:srgbClr val="8DA3C9"/>
                </a:solidFill>
                <a:latin typeface="Open Sans"/>
              </a:rPr>
              <a:t>   runs timed trials</a:t>
            </a:r>
          </a:p>
        </p:txBody>
      </p:sp>
      <p:sp>
        <p:nvSpPr>
          <p:cNvPr id="326" name="Rounded Rectangle 325"/>
          <p:cNvSpPr/>
          <p:nvPr/>
        </p:nvSpPr>
        <p:spPr>
          <a:xfrm>
            <a:off x="10764000" y="34380000"/>
            <a:ext cx="8964000" cy="792000"/>
          </a:xfrm>
          <a:prstGeom prst="roundRect">
            <a:avLst>
              <a:gd name="adj" fmla="val 18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11016000" y="34578000"/>
            <a:ext cx="84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9FDCFF"/>
                </a:solidFill>
                <a:latin typeface="Consolas"/>
              </a:rPr>
              <a:t>AssessmentResults</a:t>
            </a:r>
            <a:r>
              <a:rPr sz="1650" b="0" i="0" lang="en-US">
                <a:solidFill>
                  <a:srgbClr val="8DA3C9"/>
                </a:solidFill>
                <a:latin typeface="Open Sans"/>
              </a:rPr>
              <a:t>   collects metrics</a:t>
            </a:r>
          </a:p>
        </p:txBody>
      </p:sp>
      <p:sp>
        <p:nvSpPr>
          <p:cNvPr id="328" name="Rounded Rectangle 327"/>
          <p:cNvSpPr/>
          <p:nvPr/>
        </p:nvSpPr>
        <p:spPr>
          <a:xfrm>
            <a:off x="10764000" y="35316000"/>
            <a:ext cx="8964000" cy="792000"/>
          </a:xfrm>
          <a:prstGeom prst="roundRect">
            <a:avLst>
              <a:gd name="adj" fmla="val 18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TextBox 328"/>
          <p:cNvSpPr txBox="1"/>
          <p:nvPr/>
        </p:nvSpPr>
        <p:spPr>
          <a:xfrm>
            <a:off x="11016000" y="35514000"/>
            <a:ext cx="84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9FDCFF"/>
                </a:solidFill>
                <a:latin typeface="Consolas"/>
              </a:rPr>
              <a:t>SessionManager</a:t>
            </a:r>
            <a:r>
              <a:rPr sz="1650" b="0" i="0" lang="en-US">
                <a:solidFill>
                  <a:srgbClr val="8DA3C9"/>
                </a:solidFill>
                <a:latin typeface="Open Sans"/>
              </a:rPr>
              <a:t>   logs every event</a:t>
            </a:r>
          </a:p>
        </p:txBody>
      </p:sp>
      <p:sp>
        <p:nvSpPr>
          <p:cNvPr id="330" name="Rounded Rectangle 329"/>
          <p:cNvSpPr/>
          <p:nvPr/>
        </p:nvSpPr>
        <p:spPr>
          <a:xfrm>
            <a:off x="10764000" y="36252000"/>
            <a:ext cx="8964000" cy="792000"/>
          </a:xfrm>
          <a:prstGeom prst="roundRect">
            <a:avLst>
              <a:gd name="adj" fmla="val 18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11016000" y="36450000"/>
            <a:ext cx="84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9FDCFF"/>
                </a:solidFill>
                <a:latin typeface="Consolas"/>
              </a:rPr>
              <a:t>Exporters</a:t>
            </a:r>
            <a:r>
              <a:rPr sz="1650" b="0" i="0" lang="en-US">
                <a:solidFill>
                  <a:srgbClr val="8DA3C9"/>
                </a:solidFill>
                <a:latin typeface="Open Sans"/>
              </a:rPr>
              <a:t>   HTML · CSV · raw log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10548000" y="32580000"/>
            <a:ext cx="43200" cy="4464000"/>
          </a:xfrm>
          <a:prstGeom prst="rect">
            <a:avLst/>
          </a:prstGeom>
          <a:solidFill>
            <a:srgbClr val="FF9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ounded Rectangle 332"/>
          <p:cNvSpPr/>
          <p:nvPr/>
        </p:nvSpPr>
        <p:spPr>
          <a:xfrm>
            <a:off x="20484000" y="7200000"/>
            <a:ext cx="9000000" cy="5760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20880000" y="75960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06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TECHNOLOGIES &amp; TOOLS</a:t>
            </a:r>
          </a:p>
        </p:txBody>
      </p:sp>
      <p:sp>
        <p:nvSpPr>
          <p:cNvPr id="335" name="Rounded Rectangle 334"/>
          <p:cNvSpPr/>
          <p:nvPr/>
        </p:nvSpPr>
        <p:spPr>
          <a:xfrm>
            <a:off x="20880000" y="8244000"/>
            <a:ext cx="8208000" cy="498857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ounded Rectangle 335"/>
          <p:cNvSpPr/>
          <p:nvPr/>
        </p:nvSpPr>
        <p:spPr>
          <a:xfrm>
            <a:off x="21060000" y="8371028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21456000" y="8295428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FFFFFF"/>
                </a:solidFill>
                <a:latin typeface="Open Sans"/>
              </a:rPr>
              <a:t>Unity 6 · URP</a:t>
            </a:r>
            <a:r>
              <a:rPr sz="1600" b="0" i="0" lang="en-US">
                <a:solidFill>
                  <a:srgbClr val="8DA3C9"/>
                </a:solidFill>
                <a:latin typeface="Open Sans"/>
              </a:rPr>
              <a:t>  — 3D engine &amp; rendering pipeline</a:t>
            </a:r>
          </a:p>
        </p:txBody>
      </p:sp>
      <p:sp>
        <p:nvSpPr>
          <p:cNvPr id="338" name="Rounded Rectangle 337"/>
          <p:cNvSpPr/>
          <p:nvPr/>
        </p:nvSpPr>
        <p:spPr>
          <a:xfrm>
            <a:off x="20880000" y="8868857"/>
            <a:ext cx="8208000" cy="498857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ounded Rectangle 338"/>
          <p:cNvSpPr/>
          <p:nvPr/>
        </p:nvSpPr>
        <p:spPr>
          <a:xfrm>
            <a:off x="21060000" y="8995885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B1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21456000" y="8920285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FFFFFF"/>
                </a:solidFill>
                <a:latin typeface="Open Sans"/>
              </a:rPr>
              <a:t>C#</a:t>
            </a:r>
            <a:r>
              <a:rPr sz="1600" b="0" i="0" lang="en-US">
                <a:solidFill>
                  <a:srgbClr val="8DA3C9"/>
                </a:solidFill>
                <a:latin typeface="Open Sans"/>
              </a:rPr>
              <a:t>  — gameplay &amp; assessment logic</a:t>
            </a:r>
          </a:p>
        </p:txBody>
      </p:sp>
      <p:sp>
        <p:nvSpPr>
          <p:cNvPr id="341" name="Rounded Rectangle 340"/>
          <p:cNvSpPr/>
          <p:nvPr/>
        </p:nvSpPr>
        <p:spPr>
          <a:xfrm>
            <a:off x="20880000" y="9493714"/>
            <a:ext cx="8208000" cy="498857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ounded Rectangle 341"/>
          <p:cNvSpPr/>
          <p:nvPr/>
        </p:nvSpPr>
        <p:spPr>
          <a:xfrm>
            <a:off x="21060000" y="9620742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5EE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TextBox 342"/>
          <p:cNvSpPr txBox="1"/>
          <p:nvPr/>
        </p:nvSpPr>
        <p:spPr>
          <a:xfrm>
            <a:off x="21456000" y="9545142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FFFFFF"/>
                </a:solidFill>
                <a:latin typeface="Open Sans"/>
              </a:rPr>
              <a:t>Unity Input System</a:t>
            </a:r>
            <a:r>
              <a:rPr sz="1600" b="0" i="0" lang="en-US">
                <a:solidFill>
                  <a:srgbClr val="8DA3C9"/>
                </a:solidFill>
                <a:latin typeface="Open Sans"/>
              </a:rPr>
              <a:t>  — first-person controls</a:t>
            </a:r>
          </a:p>
        </p:txBody>
      </p:sp>
      <p:sp>
        <p:nvSpPr>
          <p:cNvPr id="344" name="Rounded Rectangle 343"/>
          <p:cNvSpPr/>
          <p:nvPr/>
        </p:nvSpPr>
        <p:spPr>
          <a:xfrm>
            <a:off x="20880000" y="10118571"/>
            <a:ext cx="8208000" cy="498857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ounded Rectangle 344"/>
          <p:cNvSpPr/>
          <p:nvPr/>
        </p:nvSpPr>
        <p:spPr>
          <a:xfrm>
            <a:off x="21060000" y="10245600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FF9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21456000" y="10170000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FFFFFF"/>
                </a:solidFill>
                <a:latin typeface="Open Sans"/>
              </a:rPr>
              <a:t>TextMeshPro</a:t>
            </a:r>
            <a:r>
              <a:rPr sz="1600" b="0" i="0" lang="en-US">
                <a:solidFill>
                  <a:srgbClr val="8DA3C9"/>
                </a:solidFill>
                <a:latin typeface="Open Sans"/>
              </a:rPr>
              <a:t>  — HUD &amp; console UI</a:t>
            </a:r>
          </a:p>
        </p:txBody>
      </p:sp>
      <p:sp>
        <p:nvSpPr>
          <p:cNvPr id="347" name="Rounded Rectangle 346"/>
          <p:cNvSpPr/>
          <p:nvPr/>
        </p:nvSpPr>
        <p:spPr>
          <a:xfrm>
            <a:off x="20880000" y="10743428"/>
            <a:ext cx="8208000" cy="498857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ounded Rectangle 347"/>
          <p:cNvSpPr/>
          <p:nvPr/>
        </p:nvSpPr>
        <p:spPr>
          <a:xfrm>
            <a:off x="21060000" y="10870457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21456000" y="10794857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FFFFFF"/>
                </a:solidFill>
                <a:latin typeface="Open Sans"/>
              </a:rPr>
              <a:t>ElevenLabs</a:t>
            </a:r>
            <a:r>
              <a:rPr sz="1600" b="0" i="0" lang="en-US">
                <a:solidFill>
                  <a:srgbClr val="8DA3C9"/>
                </a:solidFill>
                <a:latin typeface="Open Sans"/>
              </a:rPr>
              <a:t>  — AI mission voice-overs</a:t>
            </a:r>
          </a:p>
        </p:txBody>
      </p:sp>
      <p:sp>
        <p:nvSpPr>
          <p:cNvPr id="350" name="Rounded Rectangle 349"/>
          <p:cNvSpPr/>
          <p:nvPr/>
        </p:nvSpPr>
        <p:spPr>
          <a:xfrm>
            <a:off x="20880000" y="11368285"/>
            <a:ext cx="8208000" cy="498857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ounded Rectangle 350"/>
          <p:cNvSpPr/>
          <p:nvPr/>
        </p:nvSpPr>
        <p:spPr>
          <a:xfrm>
            <a:off x="21060000" y="11495314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B1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21456000" y="11419714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FFFFFF"/>
                </a:solidFill>
                <a:latin typeface="Open Sans"/>
              </a:rPr>
              <a:t>Meshy AI</a:t>
            </a:r>
            <a:r>
              <a:rPr sz="1600" b="0" i="0" lang="en-US">
                <a:solidFill>
                  <a:srgbClr val="8DA3C9"/>
                </a:solidFill>
                <a:latin typeface="Open Sans"/>
              </a:rPr>
              <a:t>  — 3D station props &amp; consoles</a:t>
            </a:r>
          </a:p>
        </p:txBody>
      </p:sp>
      <p:sp>
        <p:nvSpPr>
          <p:cNvPr id="353" name="Rounded Rectangle 352"/>
          <p:cNvSpPr/>
          <p:nvPr/>
        </p:nvSpPr>
        <p:spPr>
          <a:xfrm>
            <a:off x="20880000" y="11993142"/>
            <a:ext cx="8208000" cy="498857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ounded Rectangle 353"/>
          <p:cNvSpPr/>
          <p:nvPr/>
        </p:nvSpPr>
        <p:spPr>
          <a:xfrm>
            <a:off x="21060000" y="12120171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5EE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21456000" y="12044571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FFFFFF"/>
                </a:solidFill>
                <a:latin typeface="Open Sans"/>
              </a:rPr>
              <a:t>Git · GitHub</a:t>
            </a:r>
            <a:r>
              <a:rPr sz="1600" b="0" i="0" lang="en-US">
                <a:solidFill>
                  <a:srgbClr val="8DA3C9"/>
                </a:solidFill>
                <a:latin typeface="Open Sans"/>
              </a:rPr>
              <a:t>  — version control &amp; delivery</a:t>
            </a:r>
          </a:p>
        </p:txBody>
      </p:sp>
      <p:sp>
        <p:nvSpPr>
          <p:cNvPr id="356" name="Rounded Rectangle 355"/>
          <p:cNvSpPr/>
          <p:nvPr/>
        </p:nvSpPr>
        <p:spPr>
          <a:xfrm>
            <a:off x="20484000" y="13327200"/>
            <a:ext cx="9000000" cy="5328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20880000" y="137232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07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TESTING &amp; EVALUATION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20880000" y="14371200"/>
            <a:ext cx="8208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Quick-test mode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the full pipeline exercised in 30-second missions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Deterministic seeds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reproducible trial sequences for debugging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Assessor console verified mid-mission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F11 freeze, F12 live report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Locale-safe CSV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opens clean in Excel, R and Python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Pilot playtests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+ peer-examiner demo ahead of the exhibition</a:t>
            </a:r>
          </a:p>
        </p:txBody>
      </p:sp>
      <p:sp>
        <p:nvSpPr>
          <p:cNvPr id="359" name="Rounded Rectangle 358"/>
          <p:cNvSpPr/>
          <p:nvPr/>
        </p:nvSpPr>
        <p:spPr>
          <a:xfrm>
            <a:off x="20484000" y="19022400"/>
            <a:ext cx="9000000" cy="7020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20880000" y="194184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08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CHALLENGES &amp; INSIGHTS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20880000" y="20066400"/>
            <a:ext cx="8208000" cy="45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600" b="1" i="0" lang="en-US">
                <a:solidFill>
                  <a:srgbClr val="FF9B42"/>
                </a:solidFill>
                <a:latin typeface="Orbitron"/>
              </a:rPr>
              <a:t>01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Fun vs. validity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free-roam play, yet strict stimulus timing inside every console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600" b="1" i="0" lang="en-US">
                <a:solidFill>
                  <a:srgbClr val="FF9B42"/>
                </a:solidFill>
                <a:latin typeface="Orbitron"/>
              </a:rPr>
              <a:t>02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Invisible measurement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world-space consoles and voice guidance keep the “test” out of sight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600" b="1" i="0" lang="en-US">
                <a:solidFill>
                  <a:srgbClr val="FF9B42"/>
                </a:solidFill>
                <a:latin typeface="Orbitron"/>
              </a:rPr>
              <a:t>03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Many paradigms, one core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a shared task framework: a new task is one script, metrics flow automatically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600" b="1" i="0" lang="en-US">
                <a:solidFill>
                  <a:srgbClr val="FF9B42"/>
                </a:solidFill>
                <a:latin typeface="Orbitron"/>
              </a:rPr>
              <a:t>04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AI asset pipeline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AI-generated 3D models needed URP material and scale rework</a:t>
            </a:r>
          </a:p>
        </p:txBody>
      </p:sp>
      <p:sp>
        <p:nvSpPr>
          <p:cNvPr id="362" name="Rounded Rectangle 361"/>
          <p:cNvSpPr/>
          <p:nvPr/>
        </p:nvSpPr>
        <p:spPr>
          <a:xfrm>
            <a:off x="20880000" y="24602400"/>
            <a:ext cx="8208000" cy="1044000"/>
          </a:xfrm>
          <a:prstGeom prst="roundRect">
            <a:avLst>
              <a:gd name="adj" fmla="val 10000"/>
            </a:avLst>
          </a:prstGeom>
          <a:solidFill>
            <a:srgbClr val="102A44"/>
          </a:solidFill>
          <a:ln w="1905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21096000" y="24746400"/>
            <a:ext cx="7776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0" i="1" lang="en-US">
                <a:solidFill>
                  <a:srgbClr val="9FDCFF"/>
                </a:solidFill>
                <a:latin typeface="Open Sans"/>
              </a:rPr>
              <a:t>Players forget they are being measured — and strict timing is exactly what keeps the data meaningful.</a:t>
            </a:r>
          </a:p>
        </p:txBody>
      </p:sp>
      <p:sp>
        <p:nvSpPr>
          <p:cNvPr id="364" name="Rounded Rectangle 363"/>
          <p:cNvSpPr/>
          <p:nvPr/>
        </p:nvSpPr>
        <p:spPr>
          <a:xfrm>
            <a:off x="20484000" y="26409599"/>
            <a:ext cx="9000000" cy="4968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TextBox 364"/>
          <p:cNvSpPr txBox="1"/>
          <p:nvPr/>
        </p:nvSpPr>
        <p:spPr>
          <a:xfrm>
            <a:off x="20880000" y="26805599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09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PROJECT REVIEW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20880000" y="27453599"/>
            <a:ext cx="8208000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5EE6A8"/>
                </a:solidFill>
                <a:latin typeface="Open Sans"/>
              </a:rPr>
              <a:t>✔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Goals met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all four cognitive domains playable end-to-end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5EE6A8"/>
                </a:solidFill>
                <a:latin typeface="Open Sans"/>
              </a:rPr>
              <a:t>✔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~26 metrics per session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exported: HTML + CSV + raw event log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5EE6A8"/>
                </a:solidFill>
                <a:latin typeface="Open Sans"/>
              </a:rPr>
              <a:t>✔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Demo-ready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stable 10-minute missions with assessor tools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FF9B42"/>
                </a:solidFill>
                <a:latin typeface="Open Sans"/>
              </a:rPr>
              <a:t>↻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In hindsight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build the measurement core first, playtest earlier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900" b="1" i="0" lang="en-US">
                <a:solidFill>
                  <a:srgbClr val="4FD8FF"/>
                </a:solidFill>
                <a:latin typeface="Open Sans"/>
              </a:rPr>
              <a:t>→ 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Next</a:t>
            </a:r>
            <a:r>
              <a:rPr sz="1900" b="0" i="0" lang="en-US">
                <a:solidFill>
                  <a:srgbClr val="C2D2EF"/>
                </a:solidFill>
                <a:latin typeface="Open Sans"/>
              </a:rPr>
              <a:t> — validation study against standard BRIEF-A scores</a:t>
            </a:r>
          </a:p>
        </p:txBody>
      </p:sp>
      <p:sp>
        <p:nvSpPr>
          <p:cNvPr id="367" name="Rounded Rectangle 366"/>
          <p:cNvSpPr/>
          <p:nvPr/>
        </p:nvSpPr>
        <p:spPr>
          <a:xfrm>
            <a:off x="20484000" y="31744800"/>
            <a:ext cx="9000000" cy="3312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ounded Rectangle 367"/>
          <p:cNvSpPr/>
          <p:nvPr/>
        </p:nvSpPr>
        <p:spPr>
          <a:xfrm>
            <a:off x="20448000" y="31708800"/>
            <a:ext cx="9072000" cy="3384000"/>
          </a:xfrm>
          <a:prstGeom prst="roundRect">
            <a:avLst>
              <a:gd name="adj" fmla="val 6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ounded Rectangle 368"/>
          <p:cNvSpPr/>
          <p:nvPr/>
        </p:nvSpPr>
        <p:spPr>
          <a:xfrm>
            <a:off x="20505600" y="31766400"/>
            <a:ext cx="8956800" cy="3268800"/>
          </a:xfrm>
          <a:prstGeom prst="roundRect">
            <a:avLst>
              <a:gd name="adj" fmla="val 6000"/>
            </a:avLst>
          </a:prstGeom>
          <a:solidFill>
            <a:srgbClr val="0B1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20880000" y="321408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10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KEY TAKEAWAY</a:t>
            </a:r>
          </a:p>
        </p:txBody>
      </p:sp>
      <p:sp>
        <p:nvSpPr>
          <p:cNvPr id="371" name="TextBox 370"/>
          <p:cNvSpPr txBox="1"/>
          <p:nvPr/>
        </p:nvSpPr>
        <p:spPr>
          <a:xfrm>
            <a:off x="20880000" y="32788800"/>
            <a:ext cx="8208000" cy="18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2200" b="0" i="0" lang="en-US">
                <a:solidFill>
                  <a:srgbClr val="E8F0FF"/>
                </a:solidFill>
                <a:latin typeface="Open Sans"/>
              </a:rPr>
              <a:t>Assessment doesn't have to feel like a test. A </a:t>
            </a:r>
            <a:r>
              <a:rPr sz="2200" b="1" i="0" lang="en-US">
                <a:solidFill>
                  <a:srgbClr val="FF9B42"/>
                </a:solidFill>
                <a:latin typeface="Open Sans"/>
              </a:rPr>
              <a:t>10-minute space mission</a:t>
            </a:r>
            <a:r>
              <a:rPr sz="2200" b="0" i="0" lang="en-US">
                <a:solidFill>
                  <a:srgbClr val="E8F0FF"/>
                </a:solidFill>
                <a:latin typeface="Open Sans"/>
              </a:rPr>
              <a:t> can quietly produce a </a:t>
            </a:r>
            <a:r>
              <a:rPr sz="2200" b="1" i="0" lang="en-US">
                <a:solidFill>
                  <a:srgbClr val="4FD8FF"/>
                </a:solidFill>
                <a:latin typeface="Open Sans"/>
              </a:rPr>
              <a:t>full executive-function profile</a:t>
            </a:r>
            <a:r>
              <a:rPr sz="2200" b="0" i="0" lang="en-US">
                <a:solidFill>
                  <a:srgbClr val="E8F0FF"/>
                </a:solidFill>
                <a:latin typeface="Open Sans"/>
              </a:rPr>
              <a:t> — engagement and measurement in the same loop.</a:t>
            </a:r>
          </a:p>
        </p:txBody>
      </p:sp>
      <p:sp>
        <p:nvSpPr>
          <p:cNvPr id="372" name="Rounded Rectangle 371"/>
          <p:cNvSpPr/>
          <p:nvPr/>
        </p:nvSpPr>
        <p:spPr>
          <a:xfrm>
            <a:off x="20484000" y="35424000"/>
            <a:ext cx="9000000" cy="2088000"/>
          </a:xfrm>
          <a:prstGeom prst="roundRect">
            <a:avLst>
              <a:gd name="adj" fmla="val 45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ounded Rectangle 372"/>
          <p:cNvSpPr/>
          <p:nvPr/>
        </p:nvSpPr>
        <p:spPr>
          <a:xfrm>
            <a:off x="20736000" y="35640000"/>
            <a:ext cx="1728000" cy="172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4" name="Picture 373" descr="qr_githu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844000" y="35748000"/>
            <a:ext cx="1512000" cy="1512000"/>
          </a:xfrm>
          <a:prstGeom prst="rect">
            <a:avLst/>
          </a:prstGeom>
        </p:spPr>
      </p:pic>
      <p:sp>
        <p:nvSpPr>
          <p:cNvPr id="375" name="TextBox 374"/>
          <p:cNvSpPr txBox="1"/>
          <p:nvPr/>
        </p:nvSpPr>
        <p:spPr>
          <a:xfrm>
            <a:off x="22680000" y="35784000"/>
            <a:ext cx="64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800" b="1" i="0" lang="en-US">
                <a:solidFill>
                  <a:srgbClr val="FFFFFF"/>
                </a:solidFill>
                <a:latin typeface="Orbitron"/>
              </a:rPr>
              <a:t>FULL CODE &amp; DOCS</a:t>
            </a:r>
          </a:p>
        </p:txBody>
      </p:sp>
      <p:sp>
        <p:nvSpPr>
          <p:cNvPr id="376" name="TextBox 375"/>
          <p:cNvSpPr txBox="1"/>
          <p:nvPr/>
        </p:nvSpPr>
        <p:spPr>
          <a:xfrm>
            <a:off x="22680000" y="36216000"/>
            <a:ext cx="64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600" b="1" i="0" lang="en-US">
                <a:solidFill>
                  <a:srgbClr val="9FDCFF"/>
                </a:solidFill>
                <a:latin typeface="Open Sans"/>
              </a:rPr>
              <a:t>github.com/lidorbenhamo26/Final-Project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22680000" y="36576000"/>
            <a:ext cx="64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 lang="en-US">
                <a:solidFill>
                  <a:srgbClr val="8DA3C9"/>
                </a:solidFill>
                <a:latin typeface="Open Sans"/>
              </a:rPr>
              <a:t>Unity project · project book · demo video</a:t>
            </a:r>
          </a:p>
        </p:txBody>
      </p:sp>
      <p:sp>
        <p:nvSpPr>
          <p:cNvPr id="378" name="Rounded Rectangle 377"/>
          <p:cNvSpPr/>
          <p:nvPr/>
        </p:nvSpPr>
        <p:spPr>
          <a:xfrm>
            <a:off x="792000" y="38016000"/>
            <a:ext cx="28692000" cy="2448000"/>
          </a:xfrm>
          <a:prstGeom prst="roundRect">
            <a:avLst>
              <a:gd name="adj" fmla="val 8000"/>
            </a:avLst>
          </a:prstGeom>
          <a:solidFill>
            <a:srgbClr val="0E1B38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1440000" y="38376000"/>
            <a:ext cx="5400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4400" b="1" i="0" lang="en-US">
                <a:solidFill>
                  <a:srgbClr val="4FD8FF"/>
                </a:solidFill>
                <a:latin typeface="Orbitron"/>
              </a:rPr>
              <a:t>4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1440000" y="39456000"/>
            <a:ext cx="54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600" b="1" i="0" lang="en-US">
                <a:solidFill>
                  <a:srgbClr val="8DA3C9"/>
                </a:solidFill>
                <a:latin typeface="Open Sans"/>
              </a:rPr>
              <a:t>COGNITIVE STATIONS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6840000" y="38376000"/>
            <a:ext cx="5400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4400" b="1" i="0" lang="en-US">
                <a:solidFill>
                  <a:srgbClr val="FF9B42"/>
                </a:solidFill>
                <a:latin typeface="Orbitron"/>
              </a:rPr>
              <a:t>10 MIN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6840000" y="39456000"/>
            <a:ext cx="54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600" b="1" i="0" lang="en-US">
                <a:solidFill>
                  <a:srgbClr val="8DA3C9"/>
                </a:solidFill>
                <a:latin typeface="Open Sans"/>
              </a:rPr>
              <a:t>ONE FULL MISSION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6768000" y="38448000"/>
            <a:ext cx="18000" cy="1584000"/>
          </a:xfrm>
          <a:prstGeom prst="rect">
            <a:avLst/>
          </a:prstGeom>
          <a:solidFill>
            <a:srgbClr val="3E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12240000" y="38376000"/>
            <a:ext cx="5400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4400" b="1" i="0" lang="en-US">
                <a:solidFill>
                  <a:srgbClr val="B18CFF"/>
                </a:solidFill>
                <a:latin typeface="Orbitron"/>
              </a:rPr>
              <a:t>~26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12240000" y="39456000"/>
            <a:ext cx="54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600" b="1" i="0" lang="en-US">
                <a:solidFill>
                  <a:srgbClr val="8DA3C9"/>
                </a:solidFill>
                <a:latin typeface="Open Sans"/>
              </a:rPr>
              <a:t>METRICS PER SESSION</a:t>
            </a:r>
          </a:p>
        </p:txBody>
      </p:sp>
      <p:sp>
        <p:nvSpPr>
          <p:cNvPr id="386" name="Rectangle 385"/>
          <p:cNvSpPr/>
          <p:nvPr/>
        </p:nvSpPr>
        <p:spPr>
          <a:xfrm>
            <a:off x="12168000" y="38448000"/>
            <a:ext cx="18000" cy="1584000"/>
          </a:xfrm>
          <a:prstGeom prst="rect">
            <a:avLst/>
          </a:prstGeom>
          <a:solidFill>
            <a:srgbClr val="3E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TextBox 386"/>
          <p:cNvSpPr txBox="1"/>
          <p:nvPr/>
        </p:nvSpPr>
        <p:spPr>
          <a:xfrm>
            <a:off x="17640000" y="38376000"/>
            <a:ext cx="5400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4400" b="1" i="0" lang="en-US">
                <a:solidFill>
                  <a:srgbClr val="5EE6A8"/>
                </a:solidFill>
                <a:latin typeface="Orbitron"/>
              </a:rPr>
              <a:t>3</a:t>
            </a:r>
          </a:p>
        </p:txBody>
      </p:sp>
      <p:sp>
        <p:nvSpPr>
          <p:cNvPr id="388" name="TextBox 387"/>
          <p:cNvSpPr txBox="1"/>
          <p:nvPr/>
        </p:nvSpPr>
        <p:spPr>
          <a:xfrm>
            <a:off x="17640000" y="39456000"/>
            <a:ext cx="54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600" b="1" i="0" lang="en-US">
                <a:solidFill>
                  <a:srgbClr val="8DA3C9"/>
                </a:solidFill>
                <a:latin typeface="Open Sans"/>
              </a:rPr>
              <a:t>EXPORT ARTIFACTS</a:t>
            </a:r>
          </a:p>
        </p:txBody>
      </p:sp>
      <p:sp>
        <p:nvSpPr>
          <p:cNvPr id="389" name="Rectangle 388"/>
          <p:cNvSpPr/>
          <p:nvPr/>
        </p:nvSpPr>
        <p:spPr>
          <a:xfrm>
            <a:off x="17568000" y="38448000"/>
            <a:ext cx="18000" cy="1584000"/>
          </a:xfrm>
          <a:prstGeom prst="rect">
            <a:avLst/>
          </a:prstGeom>
          <a:solidFill>
            <a:srgbClr val="3E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0" name="Picture 389" descr="char_wav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712000" y="37512000"/>
            <a:ext cx="1642464" cy="2880000"/>
          </a:xfrm>
          <a:prstGeom prst="rect">
            <a:avLst/>
          </a:prstGeom>
        </p:spPr>
      </p:pic>
      <p:sp>
        <p:nvSpPr>
          <p:cNvPr id="391" name="Rounded Rectangle 390"/>
          <p:cNvSpPr/>
          <p:nvPr/>
        </p:nvSpPr>
        <p:spPr>
          <a:xfrm>
            <a:off x="23328000" y="38232000"/>
            <a:ext cx="3168000" cy="540000"/>
          </a:xfrm>
          <a:prstGeom prst="roundRect">
            <a:avLst>
              <a:gd name="adj" fmla="val 50000"/>
            </a:avLst>
          </a:prstGeom>
          <a:solidFill>
            <a:srgbClr val="102A44"/>
          </a:solidFill>
          <a:ln w="8890">
            <a:solidFill>
              <a:srgbClr val="9FD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23328000" y="38354400"/>
            <a:ext cx="3168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600" b="1" i="0" lang="en-US">
                <a:solidFill>
                  <a:srgbClr val="9FDCFF"/>
                </a:solidFill>
                <a:latin typeface="Open Sans"/>
              </a:rPr>
              <a:t>Ready for launch!</a:t>
            </a:r>
          </a:p>
        </p:txBody>
      </p:sp>
      <p:sp>
        <p:nvSpPr>
          <p:cNvPr id="393" name="Rectangle 392"/>
          <p:cNvSpPr/>
          <p:nvPr/>
        </p:nvSpPr>
        <p:spPr>
          <a:xfrm>
            <a:off x="0" y="42048000"/>
            <a:ext cx="30276000" cy="756000"/>
          </a:xfrm>
          <a:prstGeom prst="rect">
            <a:avLst/>
          </a:prstGeom>
          <a:solidFill>
            <a:srgbClr val="050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0" y="42048000"/>
            <a:ext cx="30276000" cy="28800"/>
          </a:xfrm>
          <a:prstGeom prst="rect">
            <a:avLst/>
          </a:prstGeom>
          <a:solidFill>
            <a:srgbClr val="3E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TextBox 394"/>
          <p:cNvSpPr txBox="1"/>
          <p:nvPr/>
        </p:nvSpPr>
        <p:spPr>
          <a:xfrm>
            <a:off x="0" y="42246000"/>
            <a:ext cx="3027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600" b="1" i="0" lang="en-US">
                <a:solidFill>
                  <a:srgbClr val="C2D2EF"/>
                </a:solidFill>
                <a:latin typeface="Open Sans"/>
              </a:rPr>
              <a:t>Braude College of Engineering, Karmiel</a:t>
            </a:r>
            <a:r>
              <a:rPr sz="1600" b="0" i="0" lang="en-US">
                <a:solidFill>
                  <a:srgbClr val="8DA3C9"/>
                </a:solidFill>
                <a:latin typeface="Open Sans"/>
              </a:rPr>
              <a:t>   ◆   Department of Software Engineering &amp; Information Systems   ◆   Capstone Project 61999 — Phase B   ◆   </a:t>
            </a:r>
            <a:r>
              <a:rPr sz="1600" b="1" i="0" lang="en-US">
                <a:solidFill>
                  <a:srgbClr val="C2D2EF"/>
                </a:solidFill>
                <a:latin typeface="Open Sans"/>
              </a:rPr>
              <a:t>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