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440000" y="648000"/>
            <a:ext cx="6048000" cy="594000"/>
          </a:xfrm>
          <a:prstGeom prst="roundRect">
            <a:avLst>
              <a:gd name="adj" fmla="val 500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440000" y="777600"/>
            <a:ext cx="604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04000" y="648000"/>
            <a:ext cx="3780000" cy="594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04000" y="777600"/>
            <a:ext cx="37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56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 </a:t>
            </a:r>
            <a:r>
              <a:rPr sz="3700" b="1" i="0" lang="en-US">
                <a:solidFill>
                  <a:srgbClr val="FF9B42"/>
                </a:solidFill>
                <a:latin typeface="Open Sans"/>
              </a:rPr>
              <a:t>FOR ADHD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92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4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4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4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6012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0" i="0" lang="en-US">
                <a:solidFill>
                  <a:srgbClr val="DFE9FB"/>
                </a:solidFill>
                <a:latin typeface="Open Sans"/>
              </a:rPr>
              <a:t>Advisor: </a:t>
            </a:r>
            <a:r>
              <a:rPr sz="25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500" b="0" i="0" lang="en-US">
                <a:solidFill>
                  <a:srgbClr val="DFE9FB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792000" y="7200000"/>
            <a:ext cx="9000000" cy="66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1188000" y="75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88000" y="8280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500" b="0" i="0" lang="en-US">
                <a:solidFill>
                  <a:srgbClr val="DFE9FB"/>
                </a:solidFill>
                <a:latin typeface="Open Sans"/>
              </a:rPr>
              <a:t>Executive-function assessment still relies on </a:t>
            </a:r>
            <a:r>
              <a:rPr sz="25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500" b="0" i="0" lang="en-US">
                <a:solidFill>
                  <a:srgbClr val="DFE9FB"/>
                </a:solidFill>
                <a:latin typeface="Open Sans"/>
              </a:rPr>
              <a:t> and traditional lab-style tests: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188000" y="943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scores may reflect motivation, not true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, especially for young users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no objective behavioral data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1188000" y="12276000"/>
            <a:ext cx="8208000" cy="1152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404000" y="12420000"/>
            <a:ext cx="7776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The need: </a:t>
            </a:r>
            <a:r>
              <a:rPr sz="2300" b="1" i="0" lang="en-US">
                <a:solidFill>
                  <a:srgbClr val="FFD9B3"/>
                </a:solidFill>
                <a:latin typeface="Open Sans"/>
              </a:rPr>
              <a:t>measurement that is objective, repeatable — and actually fun to take.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792000" y="13980000"/>
            <a:ext cx="9000000" cy="104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188000" y="1437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188000" y="15024000"/>
            <a:ext cx="820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500" b="1" i="0" lang="en-US">
                <a:solidFill>
                  <a:srgbClr val="FFFFFF"/>
                </a:solidFill>
                <a:latin typeface="Open Sans"/>
              </a:rPr>
              <a:t>Mission Focus turns assessment into a 10-minute spaceship mission.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88000" y="16032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E8F0FF"/>
                </a:solidFill>
                <a:latin typeface="Open Sans"/>
              </a:rPr>
              <a:t>Instead of asking the participant to describe behavior after the fact, the game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observes behavior while it happens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.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711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More engaging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player completes a mission, not a dry test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Objective measurement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reactions, errors, choices and timing are logged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More realistic behavior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player handles tasks, distractions and priorities inside one dynamic environment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Assessor-ready output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the session becomes an executive-function profile + CSV</a:t>
            </a:r>
          </a:p>
        </p:txBody>
      </p:sp>
      <p:sp>
        <p:nvSpPr>
          <p:cNvPr id="244" name="Rounded Rectangle 243"/>
          <p:cNvSpPr/>
          <p:nvPr/>
        </p:nvSpPr>
        <p:spPr>
          <a:xfrm>
            <a:off x="1188000" y="22764000"/>
            <a:ext cx="8208000" cy="1224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404000" y="22908000"/>
            <a:ext cx="7776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4FD8FF"/>
                </a:solidFill>
                <a:latin typeface="Open Sans"/>
              </a:rPr>
              <a:t>Why it works: </a:t>
            </a:r>
            <a:r>
              <a:rPr sz="2150" b="1" i="0" lang="en-US">
                <a:solidFill>
                  <a:srgbClr val="E8F0FF"/>
                </a:solidFill>
                <a:latin typeface="Open Sans"/>
              </a:rPr>
              <a:t>the player feels inside a mission, while the system quietly turns behavior into measurable data.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792000" y="24540000"/>
            <a:ext cx="9000000" cy="59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188000" y="2493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CORE CAPABILITIES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88000" y="25656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Playable 10-minute mission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game-based,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Measures key executive functions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attention, memory, inhibition &amp; planning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Logs behavior automatically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reactions, errors, choices and timing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Generates assessor outputs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HTML report + CSV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Keeps data local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— privacy by design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792000" y="30600000"/>
            <a:ext cx="9000000" cy="81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1188000" y="309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HOW IT WORKS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1476000" y="324000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188000" y="317520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1188000" y="318600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2052000" y="317160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2052000" y="321300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Basic details are entered before the mission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1476000" y="336888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188000" y="330408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188000" y="331488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2052000" y="330048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2052000" y="334188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The player learns movement and station controls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476000" y="349776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188000" y="343296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1188000" y="344376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052000" y="342936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10-Minute Mission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052000" y="347076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Tasks appear across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4 stations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while the player chooses priorities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1476000" y="36266400"/>
            <a:ext cx="36000" cy="712799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188000" y="356184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1188000" y="357264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052000" y="355824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Background Logging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052000" y="359964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DFE9FB"/>
                </a:solidFill>
                <a:latin typeface="Open Sans"/>
              </a:rPr>
              <a:t>Reactions, errors, choices and timing are recorded silently</a:t>
            </a:r>
          </a:p>
        </p:txBody>
      </p:sp>
      <p:sp>
        <p:nvSpPr>
          <p:cNvPr id="271" name="Oval 270"/>
          <p:cNvSpPr/>
          <p:nvPr/>
        </p:nvSpPr>
        <p:spPr>
          <a:xfrm>
            <a:off x="1188000" y="36907200"/>
            <a:ext cx="612000" cy="612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188000" y="37015200"/>
            <a:ext cx="6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052000" y="36871200"/>
            <a:ext cx="73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052000" y="37285200"/>
            <a:ext cx="7344000" cy="92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pen Sans"/>
              </a:rPr>
              <a:t>Executive-function profile + CSV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, generated instantly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10152000" y="7200000"/>
            <a:ext cx="9972000" cy="315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10548000" y="7596000"/>
            <a:ext cx="9972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800" b="1" i="0" lang="en-US">
                <a:solidFill>
                  <a:srgbClr val="FFFFFF"/>
                </a:solidFill>
                <a:latin typeface="Orbitron"/>
              </a:rPr>
              <a:t>PLAYABLE COGNITIVE TASKS</a:t>
            </a:r>
          </a:p>
        </p:txBody>
      </p:sp>
      <p:pic>
        <p:nvPicPr>
          <p:cNvPr id="277" name="Picture 276" descr="shot_radar.png"/>
          <p:cNvPicPr>
            <a:picLocks noChangeAspect="1"/>
          </p:cNvPicPr>
          <p:nvPr/>
        </p:nvPicPr>
        <p:blipFill>
          <a:blip r:embed="rId3"/>
          <a:srcRect l="7564" r="7564"/>
          <a:stretch>
            <a:fillRect/>
          </a:stretch>
        </p:blipFill>
        <p:spPr>
          <a:xfrm>
            <a:off x="10548000" y="8316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78" name="TextBox 277"/>
          <p:cNvSpPr txBox="1"/>
          <p:nvPr/>
        </p:nvSpPr>
        <p:spPr>
          <a:xfrm>
            <a:off x="10548000" y="14454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RADAR SCAN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SUSTAINED ATTENTION · INHIBITION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0548000" y="14958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Hits · False alarms · d′ sensitivity</a:t>
            </a:r>
          </a:p>
        </p:txBody>
      </p:sp>
      <p:pic>
        <p:nvPicPr>
          <p:cNvPr id="280" name="Picture 279" descr="shot_station.png"/>
          <p:cNvPicPr>
            <a:picLocks noChangeAspect="1"/>
          </p:cNvPicPr>
          <p:nvPr/>
        </p:nvPicPr>
        <p:blipFill>
          <a:blip r:embed="rId4"/>
          <a:srcRect l="7711" r="7711"/>
          <a:stretch>
            <a:fillRect/>
          </a:stretch>
        </p:blipFill>
        <p:spPr>
          <a:xfrm>
            <a:off x="10548000" y="15894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1" name="TextBox 280"/>
          <p:cNvSpPr txBox="1"/>
          <p:nvPr/>
        </p:nvSpPr>
        <p:spPr>
          <a:xfrm>
            <a:off x="10548000" y="22032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CODE RECALL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WORKING MEMORY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10548000" y="22536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Recall accuracy · Typos · Timeout</a:t>
            </a:r>
          </a:p>
        </p:txBody>
      </p:sp>
      <p:pic>
        <p:nvPicPr>
          <p:cNvPr id="283" name="Picture 282" descr="shot_stroop_clean.png"/>
          <p:cNvPicPr>
            <a:picLocks noChangeAspect="1"/>
          </p:cNvPicPr>
          <p:nvPr/>
        </p:nvPicPr>
        <p:blipFill>
          <a:blip r:embed="rId5"/>
          <a:srcRect t="5595" b="5595"/>
          <a:stretch>
            <a:fillRect/>
          </a:stretch>
        </p:blipFill>
        <p:spPr>
          <a:xfrm>
            <a:off x="10548000" y="23472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4" name="TextBox 283"/>
          <p:cNvSpPr txBox="1"/>
          <p:nvPr/>
        </p:nvSpPr>
        <p:spPr>
          <a:xfrm>
            <a:off x="10548000" y="29610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STROOP CONSOLE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INHIBITION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548000" y="30114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RT mean/SD · Commissions · Post-error slowing</a:t>
            </a:r>
          </a:p>
        </p:txBody>
      </p:sp>
      <p:pic>
        <p:nvPicPr>
          <p:cNvPr id="286" name="Picture 285" descr="shot_wires.png"/>
          <p:cNvPicPr>
            <a:picLocks noChangeAspect="1"/>
          </p:cNvPicPr>
          <p:nvPr/>
        </p:nvPicPr>
        <p:blipFill>
          <a:blip r:embed="rId6"/>
          <a:srcRect l="7469" r="7469"/>
          <a:stretch>
            <a:fillRect/>
          </a:stretch>
        </p:blipFill>
        <p:spPr>
          <a:xfrm>
            <a:off x="10548000" y="31050000"/>
            <a:ext cx="9180000" cy="6030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7" name="TextBox 286"/>
          <p:cNvSpPr txBox="1"/>
          <p:nvPr/>
        </p:nvSpPr>
        <p:spPr>
          <a:xfrm>
            <a:off x="10548000" y="37188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POWER CELL RUN</a:t>
            </a:r>
            <a:r>
              <a:rPr sz="1800" b="1" i="0" lang="en-US">
                <a:solidFill>
                  <a:srgbClr val="9FDCFF"/>
                </a:solidFill>
                <a:latin typeface="Open Sans"/>
              </a:rPr>
              <a:t>   PLANNING · ORGANIZATION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0548000" y="37692000"/>
            <a:ext cx="918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2050" b="1" i="0" lang="en-US">
                <a:solidFill>
                  <a:srgbClr val="FFFF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0484000" y="7200000"/>
            <a:ext cx="9000000" cy="828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20880000" y="7596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TECH STACK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20880000" y="8316000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ounded Rectangle 291"/>
          <p:cNvSpPr/>
          <p:nvPr/>
        </p:nvSpPr>
        <p:spPr>
          <a:xfrm>
            <a:off x="21060000" y="8769600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21492000" y="86832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Unity 6 + URP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3D spaceship mission</a:t>
            </a:r>
          </a:p>
        </p:txBody>
      </p:sp>
      <p:sp>
        <p:nvSpPr>
          <p:cNvPr id="294" name="Rounded Rectangle 293"/>
          <p:cNvSpPr/>
          <p:nvPr/>
        </p:nvSpPr>
        <p:spPr>
          <a:xfrm>
            <a:off x="20880000" y="9698400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ounded Rectangle 294"/>
          <p:cNvSpPr/>
          <p:nvPr/>
        </p:nvSpPr>
        <p:spPr>
          <a:xfrm>
            <a:off x="21060000" y="101519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1492000" y="100655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gameplay, tasks &amp; data logging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0880000" y="110807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ounded Rectangle 297"/>
          <p:cNvSpPr/>
          <p:nvPr/>
        </p:nvSpPr>
        <p:spPr>
          <a:xfrm>
            <a:off x="21060000" y="115343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21492000" y="114479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HTML + CSV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assessor report outputs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0880000" y="124631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ounded Rectangle 300"/>
          <p:cNvSpPr/>
          <p:nvPr/>
        </p:nvSpPr>
        <p:spPr>
          <a:xfrm>
            <a:off x="21060000" y="129167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21492000" y="128303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GitHub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version control &amp; collaboration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20880000" y="13845599"/>
            <a:ext cx="8208000" cy="11664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ounded Rectangle 303"/>
          <p:cNvSpPr/>
          <p:nvPr/>
        </p:nvSpPr>
        <p:spPr>
          <a:xfrm>
            <a:off x="21060000" y="14299199"/>
            <a:ext cx="259200" cy="2592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21492000" y="14212799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50" b="1" i="0" lang="en-US">
                <a:solidFill>
                  <a:srgbClr val="FFFFFF"/>
                </a:solidFill>
                <a:latin typeface="Open Sans"/>
              </a:rPr>
              <a:t>AI Tools</a:t>
            </a:r>
            <a:r>
              <a:rPr sz="2100" b="0" i="0" lang="en-US">
                <a:solidFill>
                  <a:srgbClr val="DFE9FB"/>
                </a:solidFill>
                <a:latin typeface="Open Sans"/>
              </a:rPr>
              <a:t>  — voice-over and 3D asset support</a:t>
            </a:r>
          </a:p>
        </p:txBody>
      </p:sp>
      <p:sp>
        <p:nvSpPr>
          <p:cNvPr id="306" name="Rounded Rectangle 305"/>
          <p:cNvSpPr/>
          <p:nvPr/>
        </p:nvSpPr>
        <p:spPr>
          <a:xfrm>
            <a:off x="20484000" y="15912000"/>
            <a:ext cx="9000000" cy="75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20880000" y="16308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DESIGN CHALLENGES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20880000" y="17028000"/>
            <a:ext cx="8208000" cy="59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Fun vs. valid data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the mission feels playful, while console tasks stay precisely timed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the player focuses on the game while behavior is logged silently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Modular task design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new cognitive tasks can be added without rebuilding the system</a:t>
            </a:r>
          </a:p>
          <a:p>
            <a:pPr algn="l">
              <a:lnSpc>
                <a:spcPct val="124000"/>
              </a:lnSpc>
              <a:spcAft>
                <a:spcPts val="900"/>
              </a:spcAft>
            </a:pPr>
            <a:r>
              <a:rPr sz="18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2300" b="1" i="0" lang="en-US">
                <a:solidFill>
                  <a:srgbClr val="FFFFFF"/>
                </a:solidFill>
                <a:latin typeface="Open Sans"/>
              </a:rPr>
              <a:t>3D asset integration</a:t>
            </a:r>
            <a:r>
              <a:rPr sz="2300" b="0" i="0" lang="en-US">
                <a:solidFill>
                  <a:srgbClr val="DFE9FB"/>
                </a:solidFill>
                <a:latin typeface="Open Sans"/>
              </a:rPr>
              <a:t> — AI-generated props needed Unity cleanup and adaptation</a:t>
            </a:r>
          </a:p>
        </p:txBody>
      </p:sp>
      <p:sp>
        <p:nvSpPr>
          <p:cNvPr id="309" name="Rounded Rectangle 308"/>
          <p:cNvSpPr/>
          <p:nvPr/>
        </p:nvSpPr>
        <p:spPr>
          <a:xfrm>
            <a:off x="20484000" y="23904000"/>
            <a:ext cx="9000000" cy="1062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20880000" y="24300000"/>
            <a:ext cx="90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3100" b="1" i="0" lang="en-US">
                <a:solidFill>
                  <a:srgbClr val="FFFFFF"/>
                </a:solidFill>
                <a:latin typeface="Orbitron"/>
              </a:rPr>
              <a:t>THE ASSESSOR REPORT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0880000" y="24984000"/>
            <a:ext cx="82080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50" b="0" i="0" lang="en-US">
                <a:solidFill>
                  <a:srgbClr val="E8F0FF"/>
                </a:solidFill>
                <a:latin typeface="Open Sans"/>
              </a:rPr>
              <a:t>Every mission ends with a </a:t>
            </a:r>
            <a:r>
              <a:rPr sz="2250" b="1" i="0" lang="en-US">
                <a:solidFill>
                  <a:srgbClr val="FFFFFF"/>
                </a:solidFill>
                <a:latin typeface="Open Sans"/>
              </a:rPr>
              <a:t>clear, auto-generated profile</a:t>
            </a:r>
            <a:r>
              <a:rPr sz="2250" b="0" i="0" lang="en-US">
                <a:solidFill>
                  <a:srgbClr val="E8F0FF"/>
                </a:solidFill>
                <a:latin typeface="Open Sans"/>
              </a:rPr>
              <a:t> — pass/fail per cognitive domain, plus a CSV with </a:t>
            </a:r>
            <a:r>
              <a:rPr sz="2250" b="1" i="0" lang="en-US">
                <a:solidFill>
                  <a:srgbClr val="FFFFFF"/>
                </a:solidFill>
                <a:latin typeface="Open Sans"/>
              </a:rPr>
              <a:t>~26 raw metrics</a:t>
            </a:r>
            <a:r>
              <a:rPr sz="2250" b="0" i="0" lang="en-US">
                <a:solidFill>
                  <a:srgbClr val="E8F0FF"/>
                </a:solidFill>
                <a:latin typeface="Open Sans"/>
              </a:rPr>
              <a:t> for research.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20880000" y="26460000"/>
            <a:ext cx="8208000" cy="7092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21096000" y="26676000"/>
            <a:ext cx="568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0F172A"/>
                </a:solidFill>
                <a:latin typeface="Open Sans"/>
              </a:rPr>
              <a:t>EXECUTIVE FUNCTION REPORT</a:t>
            </a:r>
          </a:p>
        </p:txBody>
      </p:sp>
      <p:sp>
        <p:nvSpPr>
          <p:cNvPr id="314" name="Rounded Rectangle 313"/>
          <p:cNvSpPr/>
          <p:nvPr/>
        </p:nvSpPr>
        <p:spPr>
          <a:xfrm>
            <a:off x="26856000" y="26640000"/>
            <a:ext cx="2016000" cy="3780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26856000" y="26719200"/>
            <a:ext cx="2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FFFFFF"/>
                </a:solidFill>
                <a:latin typeface="Open Sans"/>
              </a:rPr>
              <a:t>AUTO-GENERATED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21096000" y="27126000"/>
            <a:ext cx="7776000" cy="18000"/>
          </a:xfrm>
          <a:prstGeom prst="rect">
            <a:avLst/>
          </a:prstGeom>
          <a:solidFill>
            <a:srgbClr val="D2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ounded Rectangle 316"/>
          <p:cNvSpPr/>
          <p:nvPr/>
        </p:nvSpPr>
        <p:spPr>
          <a:xfrm>
            <a:off x="21096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21096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0F172A"/>
                </a:solidFill>
                <a:latin typeface="Open Sans"/>
              </a:rPr>
              <a:t>6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1096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TASKS</a:t>
            </a:r>
          </a:p>
        </p:txBody>
      </p:sp>
      <p:sp>
        <p:nvSpPr>
          <p:cNvPr id="320" name="Rounded Rectangle 319"/>
          <p:cNvSpPr/>
          <p:nvPr/>
        </p:nvSpPr>
        <p:spPr>
          <a:xfrm>
            <a:off x="23748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23748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16A34A"/>
                </a:solidFill>
                <a:latin typeface="Open Sans"/>
              </a:rPr>
              <a:t>5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23748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PASSED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6400000" y="27270000"/>
            <a:ext cx="2472000" cy="86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26400000" y="27360000"/>
            <a:ext cx="2472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3000" b="1" i="0" lang="en-US">
                <a:solidFill>
                  <a:srgbClr val="0F172A"/>
                </a:solidFill>
                <a:latin typeface="Open Sans"/>
              </a:rPr>
              <a:t>83%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26400000" y="27846000"/>
            <a:ext cx="2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64748B"/>
                </a:solidFill>
                <a:latin typeface="Open Sans"/>
              </a:rPr>
              <a:t>ACCURACY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21096000" y="28314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1096000" y="28314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21294000" y="28404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INHIBIT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21294000" y="28800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Stroop console · 100% accuracy · RT 1563 ms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27864000" y="28719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7864000" y="28773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32" name="Rounded Rectangle 331"/>
          <p:cNvSpPr/>
          <p:nvPr/>
        </p:nvSpPr>
        <p:spPr>
          <a:xfrm>
            <a:off x="21096000" y="29610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1096000" y="29610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21294000" y="29700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WORKING MEMORY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21294000" y="30096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Code recall · 0 wrong keys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27864000" y="30015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7864000" y="30069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38" name="Rounded Rectangle 337"/>
          <p:cNvSpPr/>
          <p:nvPr/>
        </p:nvSpPr>
        <p:spPr>
          <a:xfrm>
            <a:off x="21096000" y="30906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1096000" y="30906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21294000" y="30996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TASK MONITOR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1294000" y="31392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Radar scan · d′ 3.17 · 0 false alarms</a:t>
            </a:r>
          </a:p>
        </p:txBody>
      </p:sp>
      <p:sp>
        <p:nvSpPr>
          <p:cNvPr id="342" name="Rounded Rectangle 341"/>
          <p:cNvSpPr/>
          <p:nvPr/>
        </p:nvSpPr>
        <p:spPr>
          <a:xfrm>
            <a:off x="27864000" y="31311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27864000" y="31365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44" name="Rounded Rectangle 343"/>
          <p:cNvSpPr/>
          <p:nvPr/>
        </p:nvSpPr>
        <p:spPr>
          <a:xfrm>
            <a:off x="21096000" y="32202000"/>
            <a:ext cx="7776000" cy="113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2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1096000" y="32202000"/>
            <a:ext cx="64800" cy="113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1294000" y="32292000"/>
            <a:ext cx="633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0F172A"/>
                </a:solidFill>
                <a:latin typeface="Open Sans"/>
              </a:rPr>
              <a:t>PLAN / ORGANIZE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21294000" y="32688000"/>
            <a:ext cx="633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475569"/>
                </a:solidFill>
                <a:latin typeface="Open Sans"/>
              </a:rPr>
              <a:t>Power cell run · delivered on time</a:t>
            </a:r>
          </a:p>
        </p:txBody>
      </p:sp>
      <p:sp>
        <p:nvSpPr>
          <p:cNvPr id="348" name="Rounded Rectangle 347"/>
          <p:cNvSpPr/>
          <p:nvPr/>
        </p:nvSpPr>
        <p:spPr>
          <a:xfrm>
            <a:off x="27864000" y="32607000"/>
            <a:ext cx="828000" cy="3240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7864000" y="32661000"/>
            <a:ext cx="82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450" b="1" i="0" lang="en-US">
                <a:solidFill>
                  <a:srgbClr val="FFFFFF"/>
                </a:solidFill>
                <a:latin typeface="Open Sans"/>
              </a:rPr>
              <a:t>PASS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20880000" y="33696000"/>
            <a:ext cx="8208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50" b="1" i="0" lang="en-US">
                <a:solidFill>
                  <a:srgbClr val="FFFFFF"/>
                </a:solidFill>
                <a:latin typeface="Open Sans"/>
              </a:rPr>
              <a:t>Sample from a real session</a:t>
            </a:r>
            <a:r>
              <a:rPr sz="1850" b="0" i="0" lang="en-US">
                <a:solidFill>
                  <a:srgbClr val="DFE9FB"/>
                </a:solidFill>
                <a:latin typeface="Open Sans"/>
              </a:rPr>
              <a:t> — the full HTML report opens in any browser.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20484000" y="34956000"/>
            <a:ext cx="9000000" cy="3744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ounded Rectangle 351"/>
          <p:cNvSpPr/>
          <p:nvPr/>
        </p:nvSpPr>
        <p:spPr>
          <a:xfrm>
            <a:off x="20736000" y="35352000"/>
            <a:ext cx="2952000" cy="295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3" name="Picture 352" descr="qr_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80000" y="35496000"/>
            <a:ext cx="2664000" cy="2664000"/>
          </a:xfrm>
          <a:prstGeom prst="rect">
            <a:avLst/>
          </a:prstGeom>
        </p:spPr>
      </p:pic>
      <p:sp>
        <p:nvSpPr>
          <p:cNvPr id="354" name="TextBox 353"/>
          <p:cNvSpPr txBox="1"/>
          <p:nvPr/>
        </p:nvSpPr>
        <p:spPr>
          <a:xfrm>
            <a:off x="23976000" y="35388000"/>
            <a:ext cx="514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23976000" y="35928000"/>
            <a:ext cx="5148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50" b="1" i="0" lang="en-US">
                <a:solidFill>
                  <a:srgbClr val="FFFFFF"/>
                </a:solidFill>
                <a:latin typeface="Open Sans"/>
              </a:rPr>
              <a:t>github.com/ lidorbenhamo26/ Final-Project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3976000" y="37332000"/>
            <a:ext cx="514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0" lang="en-US">
                <a:solidFill>
                  <a:srgbClr val="DFE9FB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57" name="Rounded Rectangle 356"/>
          <p:cNvSpPr/>
          <p:nvPr/>
        </p:nvSpPr>
        <p:spPr>
          <a:xfrm>
            <a:off x="756000" y="39024000"/>
            <a:ext cx="28764000" cy="2376000"/>
          </a:xfrm>
          <a:prstGeom prst="roundRect">
            <a:avLst>
              <a:gd name="adj" fmla="val 9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ounded Rectangle 357"/>
          <p:cNvSpPr/>
          <p:nvPr/>
        </p:nvSpPr>
        <p:spPr>
          <a:xfrm>
            <a:off x="799200" y="39067200"/>
            <a:ext cx="28677600" cy="2289600"/>
          </a:xfrm>
          <a:prstGeom prst="roundRect">
            <a:avLst>
              <a:gd name="adj" fmla="val 9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792000" y="39348000"/>
            <a:ext cx="252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5300" b="1" i="0" lang="en-US">
                <a:solidFill>
                  <a:srgbClr val="FFFFFF"/>
                </a:solidFill>
                <a:latin typeface="Orbitron"/>
              </a:rPr>
              <a:t>Not a test — </a:t>
            </a:r>
            <a:r>
              <a:rPr sz="5300" b="1" i="0" lang="en-US">
                <a:solidFill>
                  <a:srgbClr val="4FD8FF"/>
                </a:solidFill>
                <a:latin typeface="Orbitron"/>
              </a:rPr>
              <a:t>a mission that measures.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792000" y="40572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DFE9FB"/>
                </a:solidFill>
                <a:latin typeface="Open Sans"/>
              </a:rPr>
              <a:t>A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10-minute space mission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produces an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executive-function profile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while keeping the player engaged.</a:t>
            </a:r>
          </a:p>
        </p:txBody>
      </p:sp>
      <p:sp>
        <p:nvSpPr>
          <p:cNvPr id="361" name="Rounded Rectangle 360"/>
          <p:cNvSpPr/>
          <p:nvPr/>
        </p:nvSpPr>
        <p:spPr>
          <a:xfrm>
            <a:off x="24048000" y="39564000"/>
            <a:ext cx="3024000" cy="504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24048000" y="39679200"/>
            <a:ext cx="302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5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pic>
        <p:nvPicPr>
          <p:cNvPr id="363" name="Picture 362" descr="char_wa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44000" y="39204000"/>
            <a:ext cx="1190787" cy="2088000"/>
          </a:xfrm>
          <a:prstGeom prst="rect">
            <a:avLst/>
          </a:prstGeom>
        </p:spPr>
      </p:pic>
      <p:sp>
        <p:nvSpPr>
          <p:cNvPr id="364" name="Rectangle 363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FFFFFF"/>
                </a:solidFill>
                <a:latin typeface="Open Sans"/>
              </a:rPr>
              <a:t>Braude College of Engineering, Karmiel</a:t>
            </a:r>
            <a:r>
              <a:rPr sz="1750" b="0" i="0" lang="en-US">
                <a:solidFill>
                  <a:srgbClr val="DFE9FB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750" b="1" i="0" lang="en-US">
                <a:solidFill>
                  <a:srgbClr val="FFFFFF"/>
                </a:solidFill>
                <a:latin typeface="Open Sans"/>
              </a:rPr>
              <a:t>2026</a:t>
            </a:r>
          </a:p>
        </p:txBody>
      </p:sp>
      <p:pic>
        <p:nvPicPr>
          <p:cNvPr id="367" name="Picture 366" descr="logo_g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64000" y="2016000"/>
            <a:ext cx="5148337" cy="4968000"/>
          </a:xfrm>
          <a:prstGeom prst="rect">
            <a:avLst/>
          </a:prstGeom>
        </p:spPr>
      </p:pic>
      <p:pic>
        <p:nvPicPr>
          <p:cNvPr id="368" name="Picture 367" descr="char_her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088000" y="2520000"/>
            <a:ext cx="2051033" cy="403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