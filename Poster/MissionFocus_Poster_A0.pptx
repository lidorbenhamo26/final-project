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060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1882" y="13913173"/>
            <a:ext cx="28427" cy="2842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313382" y="15559948"/>
            <a:ext cx="21892" cy="218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85956" y="41576533"/>
            <a:ext cx="29783" cy="297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27258" y="37614686"/>
            <a:ext cx="17383" cy="173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4502" y="17986063"/>
            <a:ext cx="31806" cy="3180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4227" y="8742686"/>
            <a:ext cx="21275" cy="212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6929" y="38458291"/>
            <a:ext cx="16190" cy="1619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4664" y="12561952"/>
            <a:ext cx="24098" cy="240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3325" y="8637428"/>
            <a:ext cx="26670" cy="26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57860" y="3335047"/>
            <a:ext cx="14974" cy="14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433318" y="4903140"/>
            <a:ext cx="32206" cy="3220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85609" y="41197467"/>
            <a:ext cx="19871" cy="198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542280" y="37381118"/>
            <a:ext cx="24653" cy="246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24345" y="7754960"/>
            <a:ext cx="23944" cy="2394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5310" y="4105393"/>
            <a:ext cx="22928" cy="229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54270" y="38396859"/>
            <a:ext cx="29181" cy="2918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15263" y="6024942"/>
            <a:ext cx="26634" cy="266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60417" y="9275164"/>
            <a:ext cx="12733" cy="12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008" y="8572951"/>
            <a:ext cx="25599" cy="255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22931" y="41287255"/>
            <a:ext cx="15589" cy="155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5960" y="41087768"/>
            <a:ext cx="29310" cy="2931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361734" y="3537956"/>
            <a:ext cx="20411" cy="2041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644315" y="14596077"/>
            <a:ext cx="22391" cy="223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5126" y="1228316"/>
            <a:ext cx="13662" cy="136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914166" y="18851681"/>
            <a:ext cx="20280" cy="2028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28875" y="22167820"/>
            <a:ext cx="24342" cy="2434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9077" y="11710251"/>
            <a:ext cx="23681" cy="2368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150597" y="27441047"/>
            <a:ext cx="26449" cy="264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2359" y="16428111"/>
            <a:ext cx="14365" cy="143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080" y="24942614"/>
            <a:ext cx="31488" cy="31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18481" y="4694968"/>
            <a:ext cx="28900" cy="289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16347" y="9420476"/>
            <a:ext cx="22683" cy="226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16516" y="20028245"/>
            <a:ext cx="22561" cy="225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532186" y="28038640"/>
            <a:ext cx="30769" cy="3076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3693" y="36609038"/>
            <a:ext cx="17865" cy="178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48825" y="40186480"/>
            <a:ext cx="18812" cy="188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07133" y="32749444"/>
            <a:ext cx="29998" cy="299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45459" y="34974899"/>
            <a:ext cx="19240" cy="19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4806" y="17682098"/>
            <a:ext cx="19734" cy="1973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49978" y="12306580"/>
            <a:ext cx="12623" cy="126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382412" y="27959112"/>
            <a:ext cx="12720" cy="1272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63205" y="27888714"/>
            <a:ext cx="22565" cy="2256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308844" y="4873931"/>
            <a:ext cx="19565" cy="195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428" y="37982807"/>
            <a:ext cx="14216" cy="14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297545" y="24643948"/>
            <a:ext cx="21835" cy="2183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228966" y="13300999"/>
            <a:ext cx="19008" cy="19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38079" y="24821788"/>
            <a:ext cx="13209" cy="132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53197" y="36595379"/>
            <a:ext cx="22485" cy="224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18714" y="27137719"/>
            <a:ext cx="22655" cy="226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7812" y="24802952"/>
            <a:ext cx="23993" cy="239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76338" y="4830410"/>
            <a:ext cx="31898" cy="3189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27929" y="23183080"/>
            <a:ext cx="13995" cy="13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080129" y="5237769"/>
            <a:ext cx="24045" cy="240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420343" y="28171996"/>
            <a:ext cx="26875" cy="268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513711" y="8834893"/>
            <a:ext cx="29107" cy="2910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887152" y="10445649"/>
            <a:ext cx="17309" cy="1730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701990" y="26848152"/>
            <a:ext cx="18154" cy="1815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875962" y="42419656"/>
            <a:ext cx="24267" cy="2426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448023" y="3391995"/>
            <a:ext cx="25551" cy="2555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5365" y="33132776"/>
            <a:ext cx="30249" cy="3024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291286" y="8018740"/>
            <a:ext cx="13733" cy="13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459009" y="38563519"/>
            <a:ext cx="18432" cy="1843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123077" y="20964836"/>
            <a:ext cx="14251" cy="142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4511638" y="93506"/>
            <a:ext cx="23693" cy="236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6680513" y="27745922"/>
            <a:ext cx="25716" cy="257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89570" y="13989478"/>
            <a:ext cx="26965" cy="269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6832425" y="1794073"/>
            <a:ext cx="29969" cy="29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68921" y="2252048"/>
            <a:ext cx="24883" cy="248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452287" y="18762751"/>
            <a:ext cx="13167" cy="131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170027" y="4230945"/>
            <a:ext cx="29282" cy="292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211885" y="20539936"/>
            <a:ext cx="30246" cy="3024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235429" y="32833803"/>
            <a:ext cx="22488" cy="22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2177" y="5558818"/>
            <a:ext cx="30389" cy="303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9299620" y="32167106"/>
            <a:ext cx="23304" cy="23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346007" y="7515024"/>
            <a:ext cx="28752" cy="287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32997" y="16683541"/>
            <a:ext cx="14091" cy="140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300972" y="10422411"/>
            <a:ext cx="27830" cy="2783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75636" y="13894710"/>
            <a:ext cx="17815" cy="1781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211138" y="13540514"/>
            <a:ext cx="26145" cy="2614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033665" y="26429869"/>
            <a:ext cx="31705" cy="3170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114604" y="6960480"/>
            <a:ext cx="28202" cy="282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465534" y="14716393"/>
            <a:ext cx="25571" cy="255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87456" y="33765913"/>
            <a:ext cx="26237" cy="2623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29695" y="21578382"/>
            <a:ext cx="23503" cy="235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6351" y="20660134"/>
            <a:ext cx="14890" cy="148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157561" y="20643319"/>
            <a:ext cx="31843" cy="318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6229025" y="10504663"/>
            <a:ext cx="23155" cy="231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7016" y="5574661"/>
            <a:ext cx="31899" cy="318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668702" y="15222297"/>
            <a:ext cx="17394" cy="173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506220" y="10047410"/>
            <a:ext cx="29003" cy="290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8223633" y="4831679"/>
            <a:ext cx="22432" cy="224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349733" y="31474204"/>
            <a:ext cx="15768" cy="157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41114" y="2588636"/>
            <a:ext cx="17268" cy="172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0712662" y="23034097"/>
            <a:ext cx="20686" cy="2068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8765927" y="4945753"/>
            <a:ext cx="17129" cy="1712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699013" y="20720704"/>
            <a:ext cx="24743" cy="24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524902" y="17347122"/>
            <a:ext cx="20920" cy="20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469586" y="35012352"/>
            <a:ext cx="18682" cy="186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9574876" y="29910726"/>
            <a:ext cx="23100" cy="23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31595" y="28734624"/>
            <a:ext cx="26810" cy="268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709425" y="25398456"/>
            <a:ext cx="13671" cy="136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565591" y="26491189"/>
            <a:ext cx="24140" cy="2414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284907" y="33909512"/>
            <a:ext cx="18205" cy="182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90508" y="26546349"/>
            <a:ext cx="19669" cy="1966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538141" y="3507770"/>
            <a:ext cx="21923" cy="219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31964" y="40858950"/>
            <a:ext cx="17925" cy="1792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023160" y="19728640"/>
            <a:ext cx="29460" cy="294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0017" y="31046396"/>
            <a:ext cx="26506" cy="2650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743866" y="27169148"/>
            <a:ext cx="16613" cy="1661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5793408" y="41052821"/>
            <a:ext cx="23278" cy="232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4418384" y="4192335"/>
            <a:ext cx="24976" cy="2497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034972" y="11124516"/>
            <a:ext cx="15180" cy="1518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062846" y="1783078"/>
            <a:ext cx="30824" cy="3082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10929" y="25132936"/>
            <a:ext cx="27512" cy="2751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04848" y="28662771"/>
            <a:ext cx="25484" cy="254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159398" y="29598314"/>
            <a:ext cx="27623" cy="2762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59437" y="39517535"/>
            <a:ext cx="27143" cy="2714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9739150" y="4017154"/>
            <a:ext cx="20551" cy="205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98609" y="33368809"/>
            <a:ext cx="17203" cy="172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088845" y="17109041"/>
            <a:ext cx="24415" cy="2441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198486" y="21478379"/>
            <a:ext cx="13220" cy="132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049330" y="37318941"/>
            <a:ext cx="22656" cy="226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960151" y="9560490"/>
            <a:ext cx="22261" cy="222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7031403" y="8319502"/>
            <a:ext cx="32158" cy="3215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0019598" y="4827053"/>
            <a:ext cx="22597" cy="2259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838941" y="42372265"/>
            <a:ext cx="28129" cy="2812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54382" y="26487346"/>
            <a:ext cx="23121" cy="2312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4815309" y="11618016"/>
            <a:ext cx="14631" cy="1463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082201" y="37693710"/>
            <a:ext cx="12819" cy="128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906803" y="19509492"/>
            <a:ext cx="20089" cy="20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075550" y="33785413"/>
            <a:ext cx="26153" cy="261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59296" y="42153139"/>
            <a:ext cx="27249" cy="272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3397163" y="40856148"/>
            <a:ext cx="26953" cy="269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087894" y="5814493"/>
            <a:ext cx="21705" cy="217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9210957" y="39487967"/>
            <a:ext cx="16025" cy="1602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946922" y="16644712"/>
            <a:ext cx="14711" cy="1471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184861" y="32836796"/>
            <a:ext cx="31922" cy="319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4550" y="34532744"/>
            <a:ext cx="28693" cy="286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62837" y="20209077"/>
            <a:ext cx="26482" cy="26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0143006" y="4722334"/>
            <a:ext cx="17933" cy="179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5848" y="12247763"/>
            <a:ext cx="19805" cy="198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998013" y="2737329"/>
            <a:ext cx="18940" cy="189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825954" y="27870509"/>
            <a:ext cx="13172" cy="1317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740809" y="42465433"/>
            <a:ext cx="18375" cy="183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26697" y="9591212"/>
            <a:ext cx="17163" cy="1716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329950" y="8375409"/>
            <a:ext cx="24023" cy="2402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565208" y="30963033"/>
            <a:ext cx="22216" cy="22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725115" y="21181036"/>
            <a:ext cx="12872" cy="1287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4182725" y="6076591"/>
            <a:ext cx="13759" cy="1375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057204" y="17051470"/>
            <a:ext cx="20814" cy="20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978965" y="34065288"/>
            <a:ext cx="30339" cy="3033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0550191" y="28240222"/>
            <a:ext cx="30459" cy="3045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656216" y="28685004"/>
            <a:ext cx="19371" cy="1937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870909" y="27020913"/>
            <a:ext cx="25144" cy="2514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318012" y="2692393"/>
            <a:ext cx="13356" cy="1335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068342" y="21415337"/>
            <a:ext cx="32252" cy="322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437775" y="25917421"/>
            <a:ext cx="23416" cy="234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733518" y="15692947"/>
            <a:ext cx="27649" cy="2764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4994554" y="41134122"/>
            <a:ext cx="22548" cy="225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493844" y="35428279"/>
            <a:ext cx="25477" cy="2547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6731533" y="39834052"/>
            <a:ext cx="17300" cy="1730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241580" y="41126402"/>
            <a:ext cx="31005" cy="310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319657" y="8561976"/>
            <a:ext cx="12803" cy="128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7666389" y="4081734"/>
            <a:ext cx="12678" cy="126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6405865" y="28812436"/>
            <a:ext cx="32056" cy="320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712419" y="2261651"/>
            <a:ext cx="16297" cy="1629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2869133" y="8717889"/>
            <a:ext cx="13337" cy="133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906747" y="26325165"/>
            <a:ext cx="23730" cy="2373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24970" y="3336572"/>
            <a:ext cx="12901" cy="129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334275" y="28587140"/>
            <a:ext cx="15861" cy="158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687676" y="41535803"/>
            <a:ext cx="29552" cy="2955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577016" y="730350"/>
            <a:ext cx="31555" cy="315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430880" y="24504051"/>
            <a:ext cx="26223" cy="262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5534453" y="6670610"/>
            <a:ext cx="26161" cy="261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994501" y="10518577"/>
            <a:ext cx="19291" cy="192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395780" y="12174245"/>
            <a:ext cx="19499" cy="19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010828" y="9389910"/>
            <a:ext cx="12674" cy="1267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7244" y="2761437"/>
            <a:ext cx="22984" cy="2298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554830" y="1181629"/>
            <a:ext cx="20234" cy="202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4066401" y="28590930"/>
            <a:ext cx="20865" cy="208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5675300" y="13949691"/>
            <a:ext cx="21991" cy="219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934379" y="26499645"/>
            <a:ext cx="28255" cy="2825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78662" y="18471123"/>
            <a:ext cx="16374" cy="163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9823108" y="8306275"/>
            <a:ext cx="31748" cy="3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911802" y="11605439"/>
            <a:ext cx="17696" cy="1769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28131" y="41629384"/>
            <a:ext cx="24292" cy="242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88339" y="26476523"/>
            <a:ext cx="23975" cy="2397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154630" y="42250453"/>
            <a:ext cx="19958" cy="199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93819" y="21188031"/>
            <a:ext cx="26716" cy="2671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782150" y="26428788"/>
            <a:ext cx="30537" cy="30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97135" y="18583468"/>
            <a:ext cx="21248" cy="2124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6000936" y="9474479"/>
            <a:ext cx="23592" cy="235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804081" y="30099823"/>
            <a:ext cx="29728" cy="2972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3012459" y="38439927"/>
            <a:ext cx="20254" cy="2025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5413797" y="6329959"/>
            <a:ext cx="13009" cy="130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447902" y="36182608"/>
            <a:ext cx="12943" cy="1294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731219" y="39927955"/>
            <a:ext cx="20090" cy="200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5326389" y="9490650"/>
            <a:ext cx="23987" cy="2398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407268" y="32035158"/>
            <a:ext cx="26537" cy="26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110952" y="23707269"/>
            <a:ext cx="29158" cy="2915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196956" y="4856603"/>
            <a:ext cx="26141" cy="261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888949" y="40982967"/>
            <a:ext cx="14373" cy="14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936917" y="4697817"/>
            <a:ext cx="15728" cy="157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19412" y="38235567"/>
            <a:ext cx="20001" cy="200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2477865" y="8684490"/>
            <a:ext cx="15814" cy="15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172336" y="2564889"/>
            <a:ext cx="30974" cy="30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015655" y="35393574"/>
            <a:ext cx="19527" cy="1952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37858" y="19974467"/>
            <a:ext cx="18703" cy="187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158387" y="29753884"/>
            <a:ext cx="24475" cy="244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4935671" y="29709244"/>
            <a:ext cx="25670" cy="25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8432970" y="16737011"/>
            <a:ext cx="31349" cy="313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6405482" y="25290893"/>
            <a:ext cx="28545" cy="285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0347040" y="2663702"/>
            <a:ext cx="32285" cy="3228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205039" y="36291214"/>
            <a:ext cx="17453" cy="1745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1217162" y="2362819"/>
            <a:ext cx="29283" cy="292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434043" y="868546"/>
            <a:ext cx="19439" cy="194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01173" y="20614619"/>
            <a:ext cx="30300" cy="303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2071318" y="18451553"/>
            <a:ext cx="32238" cy="3223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926441" y="39377309"/>
            <a:ext cx="21748" cy="2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7723982" y="24356171"/>
            <a:ext cx="30399" cy="303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792000" y="576000"/>
            <a:ext cx="3456000" cy="1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braud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756000"/>
            <a:ext cx="3257963" cy="1080000"/>
          </a:xfrm>
          <a:prstGeom prst="rect">
            <a:avLst/>
          </a:prstGeom>
        </p:spPr>
      </p:pic>
      <p:sp>
        <p:nvSpPr>
          <p:cNvPr id="225" name="Rounded Rectangle 224"/>
          <p:cNvSpPr/>
          <p:nvPr/>
        </p:nvSpPr>
        <p:spPr>
          <a:xfrm>
            <a:off x="19728000" y="648000"/>
            <a:ext cx="5832000" cy="558000"/>
          </a:xfrm>
          <a:prstGeom prst="roundRect">
            <a:avLst>
              <a:gd name="adj" fmla="val 500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728000" y="770400"/>
            <a:ext cx="58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rbitron"/>
              </a:rPr>
              <a:t>CAPSTONE PROJECT — PHASE B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25776000" y="648000"/>
            <a:ext cx="3708000" cy="558000"/>
          </a:xfrm>
          <a:prstGeom prst="roundRect">
            <a:avLst>
              <a:gd name="adj" fmla="val 5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5776000" y="770400"/>
            <a:ext cx="370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06121F"/>
                </a:solidFill>
                <a:latin typeface="Orbitron"/>
              </a:rPr>
              <a:t>TEAM 26-1-D-17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2000" y="2304000"/>
            <a:ext cx="2160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800" b="1" i="0" lang="en-US">
                <a:solidFill>
                  <a:srgbClr val="FFFFFF"/>
                </a:solidFill>
                <a:latin typeface="Orbitron"/>
              </a:rPr>
              <a:t>MISSION </a:t>
            </a:r>
            <a:r>
              <a:rPr sz="12800" b="1" i="0" lang="en-US">
                <a:solidFill>
                  <a:srgbClr val="4FD8FF"/>
                </a:solidFill>
                <a:latin typeface="Orbitron"/>
              </a:rPr>
              <a:t>FOCUS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92000" y="4320000"/>
            <a:ext cx="216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700" b="1" i="0" lang="en-US">
                <a:solidFill>
                  <a:srgbClr val="9FDCFF"/>
                </a:solidFill>
                <a:latin typeface="Open Sans"/>
              </a:rPr>
              <a:t>A SPACE-STATION COGNITIVE ASSESSMENT GAME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2000" y="5256000"/>
            <a:ext cx="216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300" b="1" i="0" lang="en-US">
                <a:solidFill>
                  <a:srgbClr val="E8F0FF"/>
                </a:solidFill>
                <a:latin typeface="Open Sans"/>
              </a:rPr>
              <a:t>Lidor Ben Hamo </a:t>
            </a:r>
            <a:r>
              <a:rPr sz="3300" b="1" i="0" lang="en-US">
                <a:solidFill>
                  <a:srgbClr val="FF9B42"/>
                </a:solidFill>
                <a:latin typeface="Open Sans"/>
              </a:rPr>
              <a:t>&amp; </a:t>
            </a:r>
            <a:r>
              <a:rPr sz="3300" b="1" i="0" lang="en-US">
                <a:solidFill>
                  <a:srgbClr val="E8F0FF"/>
                </a:solidFill>
                <a:latin typeface="Open Sans"/>
              </a:rPr>
              <a:t>Yahli Rapaport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92000" y="5940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C2D2EF"/>
                </a:solidFill>
                <a:latin typeface="Open Sans"/>
              </a:rPr>
              <a:t>Advisor: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Dr. Moshe Sulamy</a:t>
            </a:r>
            <a:r>
              <a:rPr sz="2400" b="0" i="0" lang="en-US">
                <a:solidFill>
                  <a:srgbClr val="C2D2EF"/>
                </a:solidFill>
                <a:latin typeface="Open Sans"/>
              </a:rPr>
              <a:t>   ·   Department of Software Engineering &amp; Information Systems</a:t>
            </a:r>
          </a:p>
        </p:txBody>
      </p:sp>
      <p:sp>
        <p:nvSpPr>
          <p:cNvPr id="233" name="Oval 232"/>
          <p:cNvSpPr/>
          <p:nvPr/>
        </p:nvSpPr>
        <p:spPr>
          <a:xfrm>
            <a:off x="23328000" y="1008000"/>
            <a:ext cx="4968000" cy="4968000"/>
          </a:xfrm>
          <a:prstGeom prst="ellipse">
            <a:avLst/>
          </a:prstGeom>
          <a:solidFill>
            <a:srgbClr val="0B1E3E"/>
          </a:solidFill>
          <a:ln w="2540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4" name="Picture 233" descr="char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2000" y="1440000"/>
            <a:ext cx="2710294" cy="5328000"/>
          </a:xfrm>
          <a:prstGeom prst="rect">
            <a:avLst/>
          </a:prstGeom>
        </p:spPr>
      </p:pic>
      <p:sp>
        <p:nvSpPr>
          <p:cNvPr id="235" name="Rounded Rectangle 234"/>
          <p:cNvSpPr/>
          <p:nvPr/>
        </p:nvSpPr>
        <p:spPr>
          <a:xfrm>
            <a:off x="792000" y="7200000"/>
            <a:ext cx="9000000" cy="568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188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01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BACKGROUND &amp; NEED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188000" y="8208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C2D2EF"/>
                </a:solidFill>
                <a:latin typeface="Open Sans"/>
              </a:rPr>
              <a:t>Executive-function assessment still leans on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questionnaires (BRIEF-A)</a:t>
            </a:r>
            <a:r>
              <a:rPr sz="2100" b="0" i="0" lang="en-US">
                <a:solidFill>
                  <a:srgbClr val="C2D2EF"/>
                </a:solidFill>
                <a:latin typeface="Open Sans"/>
              </a:rPr>
              <a:t> and dry lab drills: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188000" y="9108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Stressful &amp; repetitive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scores drop with motivation, not ability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Low engagement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, especially for children and young adults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Subjective ratings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little objective, trial-level data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188000" y="11520000"/>
            <a:ext cx="8208000" cy="972000"/>
          </a:xfrm>
          <a:prstGeom prst="roundRect">
            <a:avLst>
              <a:gd name="adj" fmla="val 12000"/>
            </a:avLst>
          </a:prstGeom>
          <a:solidFill>
            <a:srgbClr val="33241A"/>
          </a:solidFill>
          <a:ln w="1905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404000" y="11646000"/>
            <a:ext cx="77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D9B3"/>
                </a:solidFill>
                <a:latin typeface="Open Sans"/>
              </a:rPr>
              <a:t>The need: measurement that is objective, repeatable — and actually fun to take.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792000" y="13451999"/>
            <a:ext cx="9000000" cy="5472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188000" y="13847999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02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THE SOLUTION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188000" y="14459999"/>
            <a:ext cx="820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pen Sans"/>
              </a:rPr>
              <a:t>Mission Focus</a:t>
            </a:r>
            <a:r>
              <a:rPr sz="2100" b="0" i="0" lang="en-US">
                <a:solidFill>
                  <a:srgbClr val="C2D2EF"/>
                </a:solidFill>
                <a:latin typeface="Open Sans"/>
              </a:rPr>
              <a:t> turns assessment into a 10-minute space mission: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188000" y="14999999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A first-person astronaut keeps a failing station alive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Every repair console is a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cognitive paradigm in disguise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Every reaction is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silently logged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no test anxiety, no clipboards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One click: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assessor-ready HTML report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+ analysis-ready CSV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792000" y="19487999"/>
            <a:ext cx="9000000" cy="666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188000" y="19883999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03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MAIN REQUIREMENTS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188000" y="20531999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Playable 10-min mission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tutorial + voice guidance, not a quiz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Measure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attention, working memory, inhibition, planning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and response accuracy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Per-trial logging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: reaction time, accuracy, omissions, false alarms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Assessor tools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: freeze (F11) and live report overlay (F12)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Export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HTML report + per-task CSV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per participant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Local-only data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privacy by design, no network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792000" y="26711999"/>
            <a:ext cx="9000000" cy="1080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1188000" y="27107999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MISSION SNAPSHOTS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1188000" y="27683999"/>
            <a:ext cx="3960000" cy="4086000"/>
          </a:xfrm>
          <a:prstGeom prst="roundRect">
            <a:avLst>
              <a:gd name="adj" fmla="val 6000"/>
            </a:avLst>
          </a:prstGeom>
          <a:solidFill>
            <a:srgbClr val="09142C"/>
          </a:solidFill>
          <a:ln w="17780">
            <a:solidFill>
              <a:srgbClr val="9FD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1188000" y="29546999"/>
            <a:ext cx="39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 i="0" lang="en-US">
                <a:solidFill>
                  <a:srgbClr val="9FDCFF"/>
                </a:solidFill>
                <a:latin typeface="Orbitron"/>
              </a:rPr>
              <a:t>SCREENSHOT SLOT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1188000" y="31841999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 lang="en-US">
                <a:solidFill>
                  <a:srgbClr val="8DA3C9"/>
                </a:solidFill>
                <a:latin typeface="Open Sans"/>
              </a:rPr>
              <a:t>Radar Scan console — in-mission task UI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5436000" y="27683999"/>
            <a:ext cx="3960000" cy="4086000"/>
          </a:xfrm>
          <a:prstGeom prst="roundRect">
            <a:avLst>
              <a:gd name="adj" fmla="val 6000"/>
            </a:avLst>
          </a:prstGeom>
          <a:solidFill>
            <a:srgbClr val="09142C"/>
          </a:solidFill>
          <a:ln w="17780">
            <a:solidFill>
              <a:srgbClr val="9FD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36000" y="29546999"/>
            <a:ext cx="39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 i="0" lang="en-US">
                <a:solidFill>
                  <a:srgbClr val="9FDCFF"/>
                </a:solidFill>
                <a:latin typeface="Orbitron"/>
              </a:rPr>
              <a:t>SCREENSHOT SLOT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5436000" y="31841999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 lang="en-US">
                <a:solidFill>
                  <a:srgbClr val="8DA3C9"/>
                </a:solidFill>
                <a:latin typeface="Open Sans"/>
              </a:rPr>
              <a:t>Aboard the station — free roam</a:t>
            </a:r>
          </a:p>
        </p:txBody>
      </p:sp>
      <p:sp>
        <p:nvSpPr>
          <p:cNvPr id="256" name="Rounded Rectangle 255"/>
          <p:cNvSpPr/>
          <p:nvPr/>
        </p:nvSpPr>
        <p:spPr>
          <a:xfrm>
            <a:off x="1188000" y="32273999"/>
            <a:ext cx="3960000" cy="4086000"/>
          </a:xfrm>
          <a:prstGeom prst="roundRect">
            <a:avLst>
              <a:gd name="adj" fmla="val 6000"/>
            </a:avLst>
          </a:prstGeom>
          <a:solidFill>
            <a:srgbClr val="09142C"/>
          </a:solidFill>
          <a:ln w="17780">
            <a:solidFill>
              <a:srgbClr val="9FD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1188000" y="34136999"/>
            <a:ext cx="39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 i="0" lang="en-US">
                <a:solidFill>
                  <a:srgbClr val="9FDCFF"/>
                </a:solidFill>
                <a:latin typeface="Orbitron"/>
              </a:rPr>
              <a:t>SCREENSHOT SLOT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188000" y="36431999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 lang="en-US">
                <a:solidFill>
                  <a:srgbClr val="8DA3C9"/>
                </a:solidFill>
                <a:latin typeface="Open Sans"/>
              </a:rPr>
              <a:t>Assessor HTML report — EF profile</a:t>
            </a:r>
          </a:p>
        </p:txBody>
      </p:sp>
      <p:pic>
        <p:nvPicPr>
          <p:cNvPr id="259" name="Picture 258" descr="char_helmet_off.png"/>
          <p:cNvPicPr>
            <a:picLocks noChangeAspect="1"/>
          </p:cNvPicPr>
          <p:nvPr/>
        </p:nvPicPr>
        <p:blipFill>
          <a:blip r:embed="rId4"/>
          <a:srcRect l="22742" r="22742"/>
          <a:stretch>
            <a:fillRect/>
          </a:stretch>
        </p:blipFill>
        <p:spPr>
          <a:xfrm>
            <a:off x="5436000" y="32273999"/>
            <a:ext cx="3960000" cy="4086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60" name="TextBox 259"/>
          <p:cNvSpPr txBox="1"/>
          <p:nvPr/>
        </p:nvSpPr>
        <p:spPr>
          <a:xfrm>
            <a:off x="5436000" y="36431999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 lang="en-US">
                <a:solidFill>
                  <a:srgbClr val="8DA3C9"/>
                </a:solidFill>
                <a:latin typeface="Open Sans"/>
              </a:rPr>
              <a:t>Your astronaut — playable character</a:t>
            </a:r>
          </a:p>
        </p:txBody>
      </p:sp>
      <p:sp>
        <p:nvSpPr>
          <p:cNvPr id="261" name="Rounded Rectangle 260"/>
          <p:cNvSpPr/>
          <p:nvPr/>
        </p:nvSpPr>
        <p:spPr>
          <a:xfrm>
            <a:off x="10152000" y="7200000"/>
            <a:ext cx="9972000" cy="1098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48000" y="7596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04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SYSTEM FLOW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10872000" y="90360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0548000" y="83160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10548000" y="84312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1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11484000" y="82800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Participant Onboarding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11484000" y="86940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ID, age and session details collected on a station terminal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872000" y="109008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0548000" y="101808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548000" y="102960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2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1484000" y="101448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Interactive Tutorial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1484000" y="105588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Movement &amp; console training — skippable for returning participants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10872000" y="127656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0548000" y="120456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10548000" y="121608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3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1484000" y="120096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The Mission — 10 minutes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11484000" y="124236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Tasks spawn at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4 stations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every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15–25 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, up to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3 concurrent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10872000" y="146304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0548000" y="139104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10548000" y="14025599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1484000" y="138744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Silent Telemetry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1484000" y="142884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Every trial logged: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reaction time, result, omissions, false alarms</a:t>
            </a:r>
          </a:p>
        </p:txBody>
      </p:sp>
      <p:sp>
        <p:nvSpPr>
          <p:cNvPr id="283" name="Oval 282"/>
          <p:cNvSpPr/>
          <p:nvPr/>
        </p:nvSpPr>
        <p:spPr>
          <a:xfrm>
            <a:off x="10548000" y="157752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10548000" y="158904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5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1484000" y="157392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Assessor Report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1484000" y="161532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9FDCFF"/>
                </a:solidFill>
                <a:latin typeface="Open Sans"/>
              </a:rPr>
              <a:t>HTML profile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by domain +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Task-Summary CSV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+ raw event log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10152000" y="18882000"/>
            <a:ext cx="9972000" cy="1188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10548000" y="19278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05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COGNITIVE TASKS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10548000" y="1992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0836000" y="2017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RADAR SCAN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0836000" y="2055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NAVIGATION STATION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10836000" y="20880000"/>
            <a:ext cx="28944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0836000" y="20955600"/>
            <a:ext cx="28944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4FD8FF"/>
                </a:solidFill>
                <a:latin typeface="Open Sans"/>
              </a:rPr>
              <a:t>ATTENTION · TASK-MONITOR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836000" y="2140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Spot rare asteroid contacts among streams of debris —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40 rapid trials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, 1-second window.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0836000" y="2446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Hits · False alarms · d′ sensitivity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5300000" y="1992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5588000" y="2017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CODE RECALL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5588000" y="2055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ENGINE STATION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15588000" y="20880000"/>
            <a:ext cx="17784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B1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5588000" y="20955600"/>
            <a:ext cx="17784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B18CFF"/>
                </a:solidFill>
                <a:latin typeface="Open Sans"/>
              </a:rPr>
              <a:t>WORKING MEMORY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15588000" y="2140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Memorize a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4-digit reactor code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, hold it while crossing the station, recall it on a keypad.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15588000" y="2446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Recall accuracy · Typos · Timeout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10548000" y="2523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10836000" y="2548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STROOP CONSOLE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0836000" y="2586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COMMS STATION</a:t>
            </a:r>
          </a:p>
        </p:txBody>
      </p:sp>
      <p:sp>
        <p:nvSpPr>
          <p:cNvPr id="306" name="Rounded Rectangle 305"/>
          <p:cNvSpPr/>
          <p:nvPr/>
        </p:nvSpPr>
        <p:spPr>
          <a:xfrm>
            <a:off x="10836000" y="26190000"/>
            <a:ext cx="13320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10836000" y="26265600"/>
            <a:ext cx="133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FF9B42"/>
                </a:solidFill>
                <a:latin typeface="Open Sans"/>
              </a:rPr>
              <a:t>INHIBITION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0836000" y="2671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Word and ink color disagree — answer by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color or meaning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as the rule flips. Plus a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Go/No-Go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variant.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10836000" y="2977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RT mean/SD · Commissions · Post-error slowing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15300000" y="2523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15588000" y="2548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POWER CELL RUN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5588000" y="2586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LIFE-SUPPORT STATION</a:t>
            </a:r>
          </a:p>
        </p:txBody>
      </p:sp>
      <p:sp>
        <p:nvSpPr>
          <p:cNvPr id="313" name="Rounded Rectangle 312"/>
          <p:cNvSpPr/>
          <p:nvPr/>
        </p:nvSpPr>
        <p:spPr>
          <a:xfrm>
            <a:off x="15588000" y="26190000"/>
            <a:ext cx="18900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5EE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15588000" y="26265600"/>
            <a:ext cx="189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5EE6A8"/>
                </a:solidFill>
                <a:latin typeface="Open Sans"/>
              </a:rPr>
              <a:t>PLAN · ORGANIZE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5588000" y="2671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Fetch a power cell, route it across the station and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re-wire the socket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before power drains —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100 s budget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.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5588000" y="2977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Pickup latency · Wiring errors · Completion time</a:t>
            </a:r>
          </a:p>
        </p:txBody>
      </p:sp>
      <p:sp>
        <p:nvSpPr>
          <p:cNvPr id="317" name="Rounded Rectangle 316"/>
          <p:cNvSpPr/>
          <p:nvPr/>
        </p:nvSpPr>
        <p:spPr>
          <a:xfrm>
            <a:off x="10152000" y="31464000"/>
            <a:ext cx="9972000" cy="604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10548000" y="31860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rbitron"/>
              </a:rPr>
              <a:t>UNDER THE HOOD — MEASUREMENT PIPELINE</a:t>
            </a:r>
          </a:p>
        </p:txBody>
      </p:sp>
      <p:sp>
        <p:nvSpPr>
          <p:cNvPr id="319" name="Rounded Rectangle 318"/>
          <p:cNvSpPr/>
          <p:nvPr/>
        </p:nvSpPr>
        <p:spPr>
          <a:xfrm>
            <a:off x="10764000" y="32508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11016000" y="32706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TaskStation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spawns the task</a:t>
            </a:r>
          </a:p>
        </p:txBody>
      </p:sp>
      <p:sp>
        <p:nvSpPr>
          <p:cNvPr id="321" name="Rounded Rectangle 320"/>
          <p:cNvSpPr/>
          <p:nvPr/>
        </p:nvSpPr>
        <p:spPr>
          <a:xfrm>
            <a:off x="10764000" y="33444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11016000" y="33642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CognitiveTaskBase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runs timed trials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10764000" y="34380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11016000" y="34578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AssessmentResults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collects metrics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10764000" y="35316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1016000" y="35514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SessionManager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logs every event</a:t>
            </a:r>
          </a:p>
        </p:txBody>
      </p:sp>
      <p:sp>
        <p:nvSpPr>
          <p:cNvPr id="327" name="Rounded Rectangle 326"/>
          <p:cNvSpPr/>
          <p:nvPr/>
        </p:nvSpPr>
        <p:spPr>
          <a:xfrm>
            <a:off x="10764000" y="36252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1016000" y="36450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Exporters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HTML · CSV · raw log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10548000" y="32580000"/>
            <a:ext cx="43200" cy="4464000"/>
          </a:xfrm>
          <a:prstGeom prst="rect">
            <a:avLst/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ounded Rectangle 329"/>
          <p:cNvSpPr/>
          <p:nvPr/>
        </p:nvSpPr>
        <p:spPr>
          <a:xfrm>
            <a:off x="20484000" y="7200000"/>
            <a:ext cx="9000000" cy="6192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0880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06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TECHNOLOGIES &amp; TOOLS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20880000" y="8244000"/>
            <a:ext cx="8208000" cy="560571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ounded Rectangle 332"/>
          <p:cNvSpPr/>
          <p:nvPr/>
        </p:nvSpPr>
        <p:spPr>
          <a:xfrm>
            <a:off x="21060000" y="8401885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21456000" y="8326285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Unity 6 · URP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3D engine &amp; rendering pipeline</a:t>
            </a:r>
          </a:p>
        </p:txBody>
      </p:sp>
      <p:sp>
        <p:nvSpPr>
          <p:cNvPr id="335" name="Rounded Rectangle 334"/>
          <p:cNvSpPr/>
          <p:nvPr/>
        </p:nvSpPr>
        <p:spPr>
          <a:xfrm>
            <a:off x="20880000" y="8930571"/>
            <a:ext cx="8208000" cy="560571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ounded Rectangle 335"/>
          <p:cNvSpPr/>
          <p:nvPr/>
        </p:nvSpPr>
        <p:spPr>
          <a:xfrm>
            <a:off x="21060000" y="9088457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B1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1456000" y="9012857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C#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gameplay &amp; assessment logic</a:t>
            </a:r>
          </a:p>
        </p:txBody>
      </p:sp>
      <p:sp>
        <p:nvSpPr>
          <p:cNvPr id="338" name="Rounded Rectangle 337"/>
          <p:cNvSpPr/>
          <p:nvPr/>
        </p:nvSpPr>
        <p:spPr>
          <a:xfrm>
            <a:off x="20880000" y="9617142"/>
            <a:ext cx="8208000" cy="560571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ounded Rectangle 338"/>
          <p:cNvSpPr/>
          <p:nvPr/>
        </p:nvSpPr>
        <p:spPr>
          <a:xfrm>
            <a:off x="21060000" y="9775028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21456000" y="9699428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Unity Input System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first-person controls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20880000" y="10303714"/>
            <a:ext cx="8208000" cy="560571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21060000" y="10461599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21456000" y="10385999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TextMeshPro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HUD &amp; console UI</a:t>
            </a:r>
          </a:p>
        </p:txBody>
      </p:sp>
      <p:sp>
        <p:nvSpPr>
          <p:cNvPr id="344" name="Rounded Rectangle 343"/>
          <p:cNvSpPr/>
          <p:nvPr/>
        </p:nvSpPr>
        <p:spPr>
          <a:xfrm>
            <a:off x="20880000" y="10990285"/>
            <a:ext cx="8208000" cy="560571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ounded Rectangle 344"/>
          <p:cNvSpPr/>
          <p:nvPr/>
        </p:nvSpPr>
        <p:spPr>
          <a:xfrm>
            <a:off x="21060000" y="11148171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1456000" y="11072571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ElevenLabs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AI mission voice-overs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20880000" y="11676857"/>
            <a:ext cx="8208000" cy="560571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ounded Rectangle 347"/>
          <p:cNvSpPr/>
          <p:nvPr/>
        </p:nvSpPr>
        <p:spPr>
          <a:xfrm>
            <a:off x="21060000" y="11834742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B1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21456000" y="11759142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Meshy AI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3D station props &amp; consoles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20880000" y="12363428"/>
            <a:ext cx="8208000" cy="560571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ounded Rectangle 350"/>
          <p:cNvSpPr/>
          <p:nvPr/>
        </p:nvSpPr>
        <p:spPr>
          <a:xfrm>
            <a:off x="21060000" y="12521314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21456000" y="12445714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Git · GitHub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version control &amp; delivery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20484000" y="13680000"/>
            <a:ext cx="9000000" cy="568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20880000" y="1407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07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TESTING &amp; EVALUATION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0880000" y="14724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Quick-test mode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the full pipeline exercised in 30-second missions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Deterministic seeds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reproducible trial sequences for debugging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Assessor console verified mid-mission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F11 freeze, F12 live report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Locale-safe CSV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opens clean in Excel, R and Python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Pilot playtests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+ peer-examiner demo ahead of the exhibition</a:t>
            </a:r>
          </a:p>
        </p:txBody>
      </p:sp>
      <p:sp>
        <p:nvSpPr>
          <p:cNvPr id="356" name="Rounded Rectangle 355"/>
          <p:cNvSpPr/>
          <p:nvPr/>
        </p:nvSpPr>
        <p:spPr>
          <a:xfrm>
            <a:off x="20484000" y="19656000"/>
            <a:ext cx="9000000" cy="738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20880000" y="20052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08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CHALLENGES &amp; INSIGHTS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20880000" y="20700000"/>
            <a:ext cx="8208000" cy="48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01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Fun vs. validity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free-roam play, yet strict stimulus timing inside every console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02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Invisible measurement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world-space consoles and voice guidance keep the “test” out of sight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03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Many paradigms, one core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 shared task framework: a new task is one script, metrics flow automatically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04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AI asset pipeline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AI-generated 3D models needed URP material and scale rework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20880000" y="25596000"/>
            <a:ext cx="8208000" cy="1044000"/>
          </a:xfrm>
          <a:prstGeom prst="roundRect">
            <a:avLst>
              <a:gd name="adj" fmla="val 10000"/>
            </a:avLst>
          </a:prstGeom>
          <a:solidFill>
            <a:srgbClr val="102A44"/>
          </a:solidFill>
          <a:ln w="1905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1096000" y="25740000"/>
            <a:ext cx="7776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1" lang="en-US">
                <a:solidFill>
                  <a:srgbClr val="9FDCFF"/>
                </a:solidFill>
                <a:latin typeface="Open Sans"/>
              </a:rPr>
              <a:t>Players forget they are being measured — and strict timing is exactly what keeps the data meaningful.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20484000" y="27324000"/>
            <a:ext cx="9000000" cy="532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20880000" y="27720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09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PROJECT REVIEW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20880000" y="28368000"/>
            <a:ext cx="8208000" cy="38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Goals met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all four cognitive domains playable end-to-end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~26 metrics per session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exported: HTML + CSV + raw event log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Demo-ready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stable 10-minute missions with assessor tools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FF9B42"/>
                </a:solidFill>
                <a:latin typeface="Open Sans"/>
              </a:rPr>
              <a:t>↻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In hindsight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build the measurement core first, playtest earlier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→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Next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validation study against standard BRIEF-A scores</a:t>
            </a:r>
          </a:p>
        </p:txBody>
      </p:sp>
      <p:sp>
        <p:nvSpPr>
          <p:cNvPr id="364" name="Rounded Rectangle 363"/>
          <p:cNvSpPr/>
          <p:nvPr/>
        </p:nvSpPr>
        <p:spPr>
          <a:xfrm>
            <a:off x="20484000" y="32940000"/>
            <a:ext cx="9000000" cy="342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20448000" y="32904000"/>
            <a:ext cx="9072000" cy="3492000"/>
          </a:xfrm>
          <a:prstGeom prst="roundRect">
            <a:avLst>
              <a:gd name="adj" fmla="val 6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20505600" y="32961600"/>
            <a:ext cx="8956800" cy="3376800"/>
          </a:xfrm>
          <a:prstGeom prst="roundRect">
            <a:avLst>
              <a:gd name="adj" fmla="val 6000"/>
            </a:avLst>
          </a:prstGeom>
          <a:solidFill>
            <a:srgbClr val="0B1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20880000" y="3333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10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KEY TAKEAWAY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0880000" y="33984000"/>
            <a:ext cx="8208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E8F0FF"/>
                </a:solidFill>
                <a:latin typeface="Open Sans"/>
              </a:rPr>
              <a:t>Assessment doesn't have to feel like a test. A </a:t>
            </a:r>
            <a:r>
              <a:rPr sz="2200" b="1" i="0" lang="en-US">
                <a:solidFill>
                  <a:srgbClr val="FF9B42"/>
                </a:solidFill>
                <a:latin typeface="Open Sans"/>
              </a:rPr>
              <a:t>10-minute space mission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can quietly produce a </a:t>
            </a:r>
            <a:r>
              <a:rPr sz="2200" b="1" i="0" lang="en-US">
                <a:solidFill>
                  <a:srgbClr val="4FD8FF"/>
                </a:solidFill>
                <a:latin typeface="Open Sans"/>
              </a:rPr>
              <a:t>full executive-function profile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engagement and measurement in the same loop.</a:t>
            </a:r>
          </a:p>
        </p:txBody>
      </p:sp>
      <p:sp>
        <p:nvSpPr>
          <p:cNvPr id="369" name="Rounded Rectangle 368"/>
          <p:cNvSpPr/>
          <p:nvPr/>
        </p:nvSpPr>
        <p:spPr>
          <a:xfrm>
            <a:off x="20484000" y="36648000"/>
            <a:ext cx="9000000" cy="2232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20736000" y="36864000"/>
            <a:ext cx="1728000" cy="172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1" name="Picture 370" descr="qr_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44000" y="36972000"/>
            <a:ext cx="1512000" cy="1512000"/>
          </a:xfrm>
          <a:prstGeom prst="rect">
            <a:avLst/>
          </a:prstGeom>
        </p:spPr>
      </p:pic>
      <p:sp>
        <p:nvSpPr>
          <p:cNvPr id="372" name="TextBox 371"/>
          <p:cNvSpPr txBox="1"/>
          <p:nvPr/>
        </p:nvSpPr>
        <p:spPr>
          <a:xfrm>
            <a:off x="22680000" y="37008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FFFFFF"/>
                </a:solidFill>
                <a:latin typeface="Orbitron"/>
              </a:rPr>
              <a:t>FULL CODE &amp; DOCS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22680000" y="37440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pen Sans"/>
              </a:rPr>
              <a:t>github.com/lidorbenhamo26/Final-Project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22680000" y="37800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 lang="en-US">
                <a:solidFill>
                  <a:srgbClr val="8DA3C9"/>
                </a:solidFill>
                <a:latin typeface="Open Sans"/>
              </a:rPr>
              <a:t>Unity project · project book · demo video</a:t>
            </a:r>
          </a:p>
        </p:txBody>
      </p:sp>
      <p:sp>
        <p:nvSpPr>
          <p:cNvPr id="375" name="Rounded Rectangle 374"/>
          <p:cNvSpPr/>
          <p:nvPr/>
        </p:nvSpPr>
        <p:spPr>
          <a:xfrm>
            <a:off x="792000" y="38016000"/>
            <a:ext cx="28692000" cy="2448000"/>
          </a:xfrm>
          <a:prstGeom prst="roundRect">
            <a:avLst>
              <a:gd name="adj" fmla="val 80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14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4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COGNITIVE STATIONS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68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FF9B42"/>
                </a:solidFill>
                <a:latin typeface="Orbitron"/>
              </a:rPr>
              <a:t>10 MIN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68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ONE FULL MISSION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67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122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B18CFF"/>
                </a:solidFill>
                <a:latin typeface="Orbitron"/>
              </a:rPr>
              <a:t>~26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22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METRICS PER SESSION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21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76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5EE6A8"/>
                </a:solidFill>
                <a:latin typeface="Orbitron"/>
              </a:rPr>
              <a:t>3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76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EXPORT ARTIFACTS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175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7" name="Picture 386" descr="char_wa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12000" y="37512000"/>
            <a:ext cx="1642464" cy="2880000"/>
          </a:xfrm>
          <a:prstGeom prst="rect">
            <a:avLst/>
          </a:prstGeom>
        </p:spPr>
      </p:pic>
      <p:sp>
        <p:nvSpPr>
          <p:cNvPr id="388" name="Rounded Rectangle 387"/>
          <p:cNvSpPr/>
          <p:nvPr/>
        </p:nvSpPr>
        <p:spPr>
          <a:xfrm>
            <a:off x="23328000" y="38232000"/>
            <a:ext cx="3168000" cy="540000"/>
          </a:xfrm>
          <a:prstGeom prst="roundRect">
            <a:avLst>
              <a:gd name="adj" fmla="val 50000"/>
            </a:avLst>
          </a:prstGeom>
          <a:solidFill>
            <a:srgbClr val="102A44"/>
          </a:solidFill>
          <a:ln w="8890">
            <a:solidFill>
              <a:srgbClr val="9F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23328000" y="38354400"/>
            <a:ext cx="3168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pen Sans"/>
              </a:rPr>
              <a:t>Ready for launch!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0" y="42048000"/>
            <a:ext cx="30276000" cy="756000"/>
          </a:xfrm>
          <a:prstGeom prst="rect">
            <a:avLst/>
          </a:prstGeom>
          <a:solidFill>
            <a:srgbClr val="050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0" y="42048000"/>
            <a:ext cx="30276000" cy="288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0" y="42246000"/>
            <a:ext cx="3027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C2D2EF"/>
                </a:solidFill>
                <a:latin typeface="Open Sans"/>
              </a:rPr>
              <a:t>Braude College of Engineering, Karmiel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 ◆   Department of Software Engineering &amp; Information Systems   ◆   Capstone Project 61999 — Phase B   ◆   </a:t>
            </a:r>
            <a:r>
              <a:rPr sz="1600" b="1" i="0" lang="en-US">
                <a:solidFill>
                  <a:srgbClr val="C2D2EF"/>
                </a:solidFill>
                <a:latin typeface="Open Sans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